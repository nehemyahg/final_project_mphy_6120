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7" r:id="rId7"/>
    <p:sldId id="266"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77586"/>
  </p:normalViewPr>
  <p:slideViewPr>
    <p:cSldViewPr snapToGrid="0" snapToObjects="1">
      <p:cViewPr>
        <p:scale>
          <a:sx n="108" d="100"/>
          <a:sy n="108" d="100"/>
        </p:scale>
        <p:origin x="664"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6736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the model as a support tool for classifying brain tumor MRI slices into glioma, meningioma, and pituitary tumor. Emphasize this is a review board presentation, not a claim for autonomous diagnosis.</a:t>
            </a:r>
          </a:p>
          <a:p>
            <a:endParaRPr lang="en-US" dirty="0"/>
          </a:p>
          <a:p>
            <a:r>
              <a:rPr lang="en-US" sz="1200" kern="1200" dirty="0">
                <a:solidFill>
                  <a:schemeClr val="tx1"/>
                </a:solidFill>
                <a:effectLst/>
                <a:latin typeface="+mn-lt"/>
                <a:ea typeface="+mn-ea"/>
                <a:cs typeface="+mn-cs"/>
              </a:rPr>
              <a:t>Final Project – MPHY 6120 AI in Medicine</a:t>
            </a:r>
          </a:p>
          <a:p>
            <a:r>
              <a:rPr lang="en-US" sz="1200" kern="1200" dirty="0">
                <a:solidFill>
                  <a:schemeClr val="tx1"/>
                </a:solidFill>
                <a:effectLst/>
                <a:latin typeface="+mn-lt"/>
                <a:ea typeface="+mn-ea"/>
                <a:cs typeface="+mn-cs"/>
              </a:rPr>
              <a:t>Nehemyah Green, Ledi Anggara, Trent Levy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min</a:t>
            </a:r>
          </a:p>
          <a:p>
            <a:endParaRPr lang="en-US" dirty="0"/>
          </a:p>
          <a:p>
            <a:r>
              <a:rPr lang="en-US" dirty="0"/>
              <a:t>Problem slide. Keep it clinical. Explain that the issue is not only whether AI can classify images, but whether it can do it in a way that is consistent, transparent, and safe enough to be useful in workflow.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263238"/>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63238"/>
                </a:solidFill>
              </a:rPr>
              <a:t>Clinical framing: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63238"/>
                </a:solidFill>
              </a:rPr>
              <a:t>The safest intended use is decision support: the model can suggest a tumor class and show visual evidence, while the final decision remains with the clinician.</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1" dirty="0">
                <a:solidFill>
                  <a:srgbClr val="2F6F9F"/>
                </a:solidFill>
              </a:rPr>
              <a:t>1.5 MIN</a:t>
            </a:r>
          </a:p>
          <a:p>
            <a:pPr marL="171450" indent="-171450">
              <a:buFontTx/>
              <a:buChar char="-"/>
            </a:pPr>
            <a:endParaRPr lang="en-US" sz="1200" b="1" dirty="0">
              <a:solidFill>
                <a:srgbClr val="2F6F9F"/>
              </a:solidFill>
            </a:endParaRPr>
          </a:p>
          <a:p>
            <a:pPr marL="171450" indent="-171450">
              <a:buFontTx/>
              <a:buChar char="-"/>
            </a:pPr>
            <a:r>
              <a:rPr lang="en-US" dirty="0"/>
              <a:t>Data slide. Mention that the dataset appears balanced across classes, which makes overall accuracy easier to interpret. Explain augmentation simply: small image changes used during training so the model does not memorize exact images.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a:t>
            </a:r>
          </a:p>
          <a:p>
            <a:endParaRPr lang="en-US" dirty="0"/>
          </a:p>
          <a:p>
            <a:r>
              <a:rPr lang="en-US" dirty="0"/>
              <a:t>Technical approach. Explain transfer learning in plain language: starting from a model that already knows general image patterns, then adapting it to brain MRI tumor classes. Point to training curves: loss decreases and accuracy increases without major divergence.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slide. State the key numbers clearly: 902 correct out of 909 on the test set. Do not oversell. Emphasize that excellent internal performance does not automatically mean the model is ready for independent clinical deployment.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E6BEE-07DD-E773-3C74-C7258C1D18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1956B-E0F5-2303-6ACB-216982F07A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5DFABE-3627-AAAF-14CD-73AC6BF3970B}"/>
              </a:ext>
            </a:extLst>
          </p:cNvPr>
          <p:cNvSpPr>
            <a:spLocks noGrp="1"/>
          </p:cNvSpPr>
          <p:nvPr>
            <p:ph type="body" idx="1"/>
          </p:nvPr>
        </p:nvSpPr>
        <p:spPr/>
        <p:txBody>
          <a:bodyPr/>
          <a:lstStyle/>
          <a:p>
            <a:r>
              <a:rPr lang="en-US" dirty="0"/>
              <a:t>Interpretability slide. Explain that heatmaps are not proof that the model reasons like a physician. They are quality checks. The strongest limitation here is that there were no tumor masks, so localization could not be quantitatively verified.</a:t>
            </a:r>
          </a:p>
          <a:p>
            <a:endParaRPr lang="en-US" dirty="0"/>
          </a:p>
          <a:p>
            <a:r>
              <a:rPr lang="en-US" dirty="0"/>
              <a:t>What looks good:</a:t>
            </a:r>
            <a:br>
              <a:rPr lang="en-US" dirty="0"/>
            </a:br>
            <a:r>
              <a:rPr lang="en-US" sz="1200" dirty="0">
                <a:solidFill>
                  <a:srgbClr val="263238"/>
                </a:solidFill>
              </a:rPr>
              <a:t>Occlusion maps often localize around tumor-relevant regions.</a:t>
            </a:r>
            <a:endParaRPr lang="en-US" sz="1200" dirty="0">
              <a:solidFill>
                <a:schemeClr val="tx1"/>
              </a:solidFill>
            </a:endParaRPr>
          </a:p>
          <a:p>
            <a:r>
              <a:rPr lang="en-US" sz="1200" dirty="0">
                <a:solidFill>
                  <a:srgbClr val="263238"/>
                </a:solidFill>
              </a:rPr>
              <a:t>Multiple visual tools provide cross-checking.</a:t>
            </a:r>
          </a:p>
          <a:p>
            <a:endParaRPr lang="en-US" sz="1200" dirty="0">
              <a:solidFill>
                <a:srgbClr val="263238"/>
              </a:solidFill>
            </a:endParaRPr>
          </a:p>
          <a:p>
            <a:r>
              <a:rPr lang="en-US" sz="1200" dirty="0">
                <a:solidFill>
                  <a:srgbClr val="263238"/>
                </a:solidFill>
              </a:rPr>
              <a:t>What need caution:</a:t>
            </a:r>
          </a:p>
          <a:p>
            <a:r>
              <a:rPr lang="en-US" sz="1200" dirty="0">
                <a:solidFill>
                  <a:srgbClr val="263238"/>
                </a:solidFill>
              </a:rPr>
              <a:t>Early-layer Grad-CAM can be diffuse and may include non-tumor anatomy.</a:t>
            </a:r>
            <a:endParaRPr lang="en-US" sz="1200" dirty="0">
              <a:solidFill>
                <a:schemeClr val="tx1"/>
              </a:solidFill>
            </a:endParaRPr>
          </a:p>
          <a:p>
            <a:r>
              <a:rPr lang="en-US" sz="1200" dirty="0">
                <a:solidFill>
                  <a:srgbClr val="263238"/>
                </a:solidFill>
              </a:rPr>
              <a:t>No ground-truth masks were available, so Dice/</a:t>
            </a:r>
            <a:r>
              <a:rPr lang="en-US" sz="1200" dirty="0" err="1">
                <a:solidFill>
                  <a:srgbClr val="263238"/>
                </a:solidFill>
              </a:rPr>
              <a:t>IoU</a:t>
            </a:r>
            <a:r>
              <a:rPr lang="en-US" sz="1200" dirty="0">
                <a:solidFill>
                  <a:srgbClr val="263238"/>
                </a:solidFill>
              </a:rPr>
              <a:t> could not be validated.</a:t>
            </a:r>
            <a:endParaRPr lang="en-US" sz="1200" dirty="0"/>
          </a:p>
          <a:p>
            <a:endParaRPr lang="en-US" sz="1200" dirty="0"/>
          </a:p>
          <a:p>
            <a:endParaRPr lang="en-US" dirty="0"/>
          </a:p>
        </p:txBody>
      </p:sp>
      <p:sp>
        <p:nvSpPr>
          <p:cNvPr id="4" name="Slide Number Placeholder 3">
            <a:extLst>
              <a:ext uri="{FF2B5EF4-FFF2-40B4-BE49-F238E27FC236}">
                <a16:creationId xmlns:a16="http://schemas.microsoft.com/office/drawing/2014/main" id="{7FA371D5-2342-4404-F365-B81C2F00065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77293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958AF-BA08-422B-50CA-BB8B89138E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8B9D1-24DD-8432-A348-749A2AFA6A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5920A8-2BE6-BA47-0526-982C8905AB3C}"/>
              </a:ext>
            </a:extLst>
          </p:cNvPr>
          <p:cNvSpPr>
            <a:spLocks noGrp="1"/>
          </p:cNvSpPr>
          <p:nvPr>
            <p:ph type="body" idx="1"/>
          </p:nvPr>
        </p:nvSpPr>
        <p:spPr/>
        <p:txBody>
          <a:bodyPr/>
          <a:lstStyle/>
          <a:p>
            <a:r>
              <a:rPr lang="en-US" dirty="0"/>
              <a:t>Interpretability slide. Explain that heatmaps are not proof that the model reasons like a physician. They are quality checks. The strongest limitation here is that there were no tumor masks, so localization could not be quantitatively verified.</a:t>
            </a:r>
          </a:p>
          <a:p>
            <a:endParaRPr lang="en-US" dirty="0"/>
          </a:p>
          <a:p>
            <a:r>
              <a:rPr lang="en-US" dirty="0"/>
              <a:t>What looks good:</a:t>
            </a:r>
            <a:br>
              <a:rPr lang="en-US" dirty="0"/>
            </a:br>
            <a:r>
              <a:rPr lang="en-US" sz="1200" dirty="0">
                <a:solidFill>
                  <a:srgbClr val="263238"/>
                </a:solidFill>
              </a:rPr>
              <a:t>Occlusion maps often localize around tumor-relevant regions.</a:t>
            </a:r>
            <a:endParaRPr lang="en-US" sz="1200" dirty="0">
              <a:solidFill>
                <a:schemeClr val="tx1"/>
              </a:solidFill>
            </a:endParaRPr>
          </a:p>
          <a:p>
            <a:r>
              <a:rPr lang="en-US" sz="1200" dirty="0">
                <a:solidFill>
                  <a:srgbClr val="263238"/>
                </a:solidFill>
              </a:rPr>
              <a:t>Multiple visual tools provide cross-checking.</a:t>
            </a:r>
          </a:p>
          <a:p>
            <a:endParaRPr lang="en-US" sz="1200" dirty="0">
              <a:solidFill>
                <a:srgbClr val="263238"/>
              </a:solidFill>
            </a:endParaRPr>
          </a:p>
          <a:p>
            <a:r>
              <a:rPr lang="en-US" sz="1200" dirty="0">
                <a:solidFill>
                  <a:srgbClr val="263238"/>
                </a:solidFill>
              </a:rPr>
              <a:t>What need caution:</a:t>
            </a:r>
          </a:p>
          <a:p>
            <a:r>
              <a:rPr lang="en-US" sz="1200" dirty="0">
                <a:solidFill>
                  <a:srgbClr val="263238"/>
                </a:solidFill>
              </a:rPr>
              <a:t>Early-</a:t>
            </a:r>
            <a:r>
              <a:rPr lang="en-US" sz="1200" dirty="0" err="1">
                <a:solidFill>
                  <a:srgbClr val="263238"/>
                </a:solidFill>
              </a:rPr>
              <a:t>laer</a:t>
            </a:r>
            <a:r>
              <a:rPr lang="en-US" sz="1200" dirty="0">
                <a:solidFill>
                  <a:srgbClr val="263238"/>
                </a:solidFill>
              </a:rPr>
              <a:t> Grad-CAM can be diffuse and may include non-tumor anatomy.</a:t>
            </a:r>
            <a:endParaRPr lang="en-US" sz="1200" dirty="0">
              <a:solidFill>
                <a:schemeClr val="tx1"/>
              </a:solidFill>
            </a:endParaRPr>
          </a:p>
          <a:p>
            <a:r>
              <a:rPr lang="en-US" sz="1200" dirty="0">
                <a:solidFill>
                  <a:srgbClr val="263238"/>
                </a:solidFill>
              </a:rPr>
              <a:t>No ground-truth masks were available, so Dice/</a:t>
            </a:r>
            <a:r>
              <a:rPr lang="en-US" sz="1200" dirty="0" err="1">
                <a:solidFill>
                  <a:srgbClr val="263238"/>
                </a:solidFill>
              </a:rPr>
              <a:t>IoU</a:t>
            </a:r>
            <a:r>
              <a:rPr lang="en-US" sz="1200" dirty="0">
                <a:solidFill>
                  <a:srgbClr val="263238"/>
                </a:solidFill>
              </a:rPr>
              <a:t> could not be validated.</a:t>
            </a:r>
            <a:endParaRPr lang="en-US" sz="1200" dirty="0"/>
          </a:p>
          <a:p>
            <a:endParaRPr lang="en-US" sz="1200" dirty="0"/>
          </a:p>
          <a:p>
            <a:endParaRPr lang="en-US" dirty="0"/>
          </a:p>
        </p:txBody>
      </p:sp>
      <p:sp>
        <p:nvSpPr>
          <p:cNvPr id="4" name="Slide Number Placeholder 3">
            <a:extLst>
              <a:ext uri="{FF2B5EF4-FFF2-40B4-BE49-F238E27FC236}">
                <a16:creationId xmlns:a16="http://schemas.microsoft.com/office/drawing/2014/main" id="{8F51374C-B315-6200-ED41-92A2131DCF3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417975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a:t>
            </a:r>
          </a:p>
          <a:p>
            <a:r>
              <a:rPr lang="en-US" dirty="0"/>
              <a:t>Field guide slide. Focus on governance. A strong model still needs acceptance testing at a new site because scanner protocols, image preprocessing, and patient mix can change. The review board will likely care about when to pause the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a:t>
            </a:r>
          </a:p>
          <a:p>
            <a:r>
              <a:rPr lang="en-US" dirty="0"/>
              <a:t>Limitations slide. Be direct. This model is not ready to be an autonomous diagnostic tool. The most important limitations are single-slice input, missing clinical context, missing external validation, and missing segmentation masks for localization validation.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learned slide. This is your closing argument. The model performs very well, but the mature conclusion is not simply that it works. The conclusion is that the model is promising and that safe implementation depends on validation, monitoring, and clinician oversight.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132238"/>
                </a:solidFill>
              </a:rPr>
              <a:t>Close: promising decision-support model, but deployment should be limited to a monitored, human-in-the-loop workflow.</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and A slide. Invite feedback. You can ask the board which deployment setting they would consider safest and what validation evidence they would require.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1_2_sample_grid.png"/>
          <p:cNvPicPr>
            <a:picLocks noChangeAspect="1"/>
          </p:cNvPicPr>
          <p:nvPr/>
        </p:nvPicPr>
        <p:blipFill>
          <a:blip r:embed="rId3"/>
          <a:srcRect l="8098" r="8098"/>
          <a:stretch/>
        </p:blipFill>
        <p:spPr>
          <a:xfrm>
            <a:off x="6492240" y="0"/>
            <a:ext cx="5696712" cy="6858000"/>
          </a:xfrm>
          <a:prstGeom prst="rect">
            <a:avLst/>
          </a:prstGeom>
        </p:spPr>
      </p:pic>
      <p:sp>
        <p:nvSpPr>
          <p:cNvPr id="3" name="Shape 0"/>
          <p:cNvSpPr/>
          <p:nvPr/>
        </p:nvSpPr>
        <p:spPr>
          <a:xfrm>
            <a:off x="6172200" y="0"/>
            <a:ext cx="6016752" cy="6858000"/>
          </a:xfrm>
          <a:prstGeom prst="rect">
            <a:avLst/>
          </a:prstGeom>
          <a:solidFill>
            <a:srgbClr val="FFFFFF">
              <a:alpha val="85000"/>
            </a:srgbClr>
          </a:solidFill>
          <a:ln w="12700">
            <a:solidFill>
              <a:srgbClr val="333333">
                <a:alpha val="0"/>
              </a:srgbClr>
            </a:solidFill>
            <a:prstDash val="solid"/>
          </a:ln>
        </p:spPr>
        <p:txBody>
          <a:bodyPr/>
          <a:lstStyle/>
          <a:p>
            <a:endParaRPr lang="en-US"/>
          </a:p>
        </p:txBody>
      </p:sp>
      <p:sp>
        <p:nvSpPr>
          <p:cNvPr id="4" name="Shape 1"/>
          <p:cNvSpPr/>
          <p:nvPr/>
        </p:nvSpPr>
        <p:spPr>
          <a:xfrm>
            <a:off x="0" y="0"/>
            <a:ext cx="6446520" cy="6858000"/>
          </a:xfrm>
          <a:prstGeom prst="rect">
            <a:avLst/>
          </a:prstGeom>
          <a:solidFill>
            <a:srgbClr val="132238"/>
          </a:solidFill>
          <a:ln w="12700">
            <a:solidFill>
              <a:srgbClr val="132238"/>
            </a:solidFill>
            <a:prstDash val="solid"/>
          </a:ln>
        </p:spPr>
        <p:txBody>
          <a:bodyPr/>
          <a:lstStyle/>
          <a:p>
            <a:endParaRPr lang="en-US" dirty="0"/>
          </a:p>
        </p:txBody>
      </p:sp>
      <p:sp>
        <p:nvSpPr>
          <p:cNvPr id="5" name="Text 2"/>
          <p:cNvSpPr/>
          <p:nvPr/>
        </p:nvSpPr>
        <p:spPr>
          <a:xfrm>
            <a:off x="594360" y="960120"/>
            <a:ext cx="5303520" cy="1143000"/>
          </a:xfrm>
          <a:prstGeom prst="rect">
            <a:avLst/>
          </a:prstGeom>
          <a:noFill/>
          <a:ln/>
        </p:spPr>
        <p:txBody>
          <a:bodyPr wrap="square" lIns="0" tIns="0" rIns="0" bIns="0" rtlCol="0" anchor="ctr">
            <a:normAutofit/>
          </a:bodyPr>
          <a:lstStyle/>
          <a:p>
            <a:pPr marL="0" indent="0">
              <a:buNone/>
            </a:pPr>
            <a:r>
              <a:rPr lang="en-US" sz="3600" b="1" dirty="0">
                <a:solidFill>
                  <a:srgbClr val="FFFFFF"/>
                </a:solidFill>
              </a:rPr>
              <a:t>Brain Tumor MRI Classification Model</a:t>
            </a:r>
            <a:endParaRPr lang="en-US" sz="3600" dirty="0"/>
          </a:p>
        </p:txBody>
      </p:sp>
      <p:sp>
        <p:nvSpPr>
          <p:cNvPr id="13" name="Text 21">
            <a:extLst>
              <a:ext uri="{FF2B5EF4-FFF2-40B4-BE49-F238E27FC236}">
                <a16:creationId xmlns:a16="http://schemas.microsoft.com/office/drawing/2014/main" id="{36702371-9EAF-D267-8E50-536AB18FA56F}"/>
              </a:ext>
            </a:extLst>
          </p:cNvPr>
          <p:cNvSpPr/>
          <p:nvPr/>
        </p:nvSpPr>
        <p:spPr>
          <a:xfrm>
            <a:off x="594360" y="2103120"/>
            <a:ext cx="5806440" cy="663831"/>
          </a:xfrm>
          <a:prstGeom prst="rect">
            <a:avLst/>
          </a:prstGeom>
          <a:noFill/>
          <a:ln/>
        </p:spPr>
        <p:txBody>
          <a:bodyPr wrap="square" lIns="254" tIns="254" rIns="254" bIns="254" rtlCol="0" anchor="t">
            <a:normAutofit/>
          </a:bodyPr>
          <a:lstStyle/>
          <a:p>
            <a:r>
              <a:rPr lang="en-US" sz="1400" dirty="0">
                <a:solidFill>
                  <a:schemeClr val="bg1"/>
                </a:solidFill>
              </a:rPr>
              <a:t>Final Project – MPHY 6120 AI in Medicine</a:t>
            </a:r>
          </a:p>
          <a:p>
            <a:r>
              <a:rPr lang="en-US" sz="1400" dirty="0">
                <a:solidFill>
                  <a:schemeClr val="bg1"/>
                </a:solidFill>
              </a:rPr>
              <a:t>Nehemyah Green, Ledi Anggara, Trent Levy</a:t>
            </a:r>
          </a:p>
        </p:txBody>
      </p:sp>
      <p:sp>
        <p:nvSpPr>
          <p:cNvPr id="14" name="Text 21">
            <a:extLst>
              <a:ext uri="{FF2B5EF4-FFF2-40B4-BE49-F238E27FC236}">
                <a16:creationId xmlns:a16="http://schemas.microsoft.com/office/drawing/2014/main" id="{2794ABA1-9468-BC83-CE18-5E00CAF96557}"/>
              </a:ext>
            </a:extLst>
          </p:cNvPr>
          <p:cNvSpPr/>
          <p:nvPr/>
        </p:nvSpPr>
        <p:spPr>
          <a:xfrm>
            <a:off x="594360" y="6194169"/>
            <a:ext cx="5806440" cy="663831"/>
          </a:xfrm>
          <a:prstGeom prst="rect">
            <a:avLst/>
          </a:prstGeom>
          <a:noFill/>
          <a:ln/>
        </p:spPr>
        <p:txBody>
          <a:bodyPr wrap="square" lIns="254" tIns="254" rIns="254" bIns="254" rtlCol="0" anchor="t">
            <a:normAutofit/>
          </a:bodyPr>
          <a:lstStyle/>
          <a:p>
            <a:r>
              <a:rPr lang="en-US" sz="1400" dirty="0">
                <a:solidFill>
                  <a:schemeClr val="bg1"/>
                </a:solidFill>
              </a:rPr>
              <a:t>Apr 29,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endParaRPr lang="en-US" sz="1000" dirty="0"/>
          </a:p>
        </p:txBody>
      </p:sp>
      <p:sp>
        <p:nvSpPr>
          <p:cNvPr id="3" name="Text 1"/>
          <p:cNvSpPr/>
          <p:nvPr/>
        </p:nvSpPr>
        <p:spPr>
          <a:xfrm>
            <a:off x="502920" y="759390"/>
            <a:ext cx="6629400" cy="457200"/>
          </a:xfrm>
          <a:prstGeom prst="rect">
            <a:avLst/>
          </a:prstGeom>
          <a:noFill/>
          <a:ln/>
        </p:spPr>
        <p:txBody>
          <a:bodyPr wrap="square" lIns="0" tIns="0" rIns="0" bIns="0" rtlCol="0" anchor="ctr">
            <a:noAutofit/>
          </a:bodyPr>
          <a:lstStyle/>
          <a:p>
            <a:pPr marL="0" indent="0">
              <a:buNone/>
            </a:pPr>
            <a:r>
              <a:rPr lang="en-US" sz="2100" b="1" dirty="0">
                <a:solidFill>
                  <a:srgbClr val="132238"/>
                </a:solidFill>
              </a:rPr>
              <a:t>The Clinical Need</a:t>
            </a:r>
            <a:endParaRPr lang="en-US" sz="2100" dirty="0"/>
          </a:p>
        </p:txBody>
      </p:sp>
      <p:sp>
        <p:nvSpPr>
          <p:cNvPr id="4" name="Text 2"/>
          <p:cNvSpPr/>
          <p:nvPr/>
        </p:nvSpPr>
        <p:spPr>
          <a:xfrm>
            <a:off x="521208" y="1311080"/>
            <a:ext cx="6537960" cy="347472"/>
          </a:xfrm>
          <a:prstGeom prst="rect">
            <a:avLst/>
          </a:prstGeom>
          <a:noFill/>
          <a:ln/>
        </p:spPr>
        <p:txBody>
          <a:bodyPr wrap="square" lIns="0" tIns="0" rIns="0" bIns="0" rtlCol="0" anchor="ctr">
            <a:normAutofit/>
          </a:bodyPr>
          <a:lstStyle/>
          <a:p>
            <a:pPr marL="0" indent="0">
              <a:buNone/>
            </a:pPr>
            <a:r>
              <a:rPr lang="en-US" sz="1250" dirty="0">
                <a:solidFill>
                  <a:srgbClr val="637083"/>
                </a:solidFill>
              </a:rPr>
              <a:t>The tool is designed to support image review, not replace clinical interpretation.</a:t>
            </a:r>
            <a:endParaRPr lang="en-US" sz="1250" dirty="0"/>
          </a:p>
        </p:txBody>
      </p:sp>
      <p:pic>
        <p:nvPicPr>
          <p:cNvPr id="5" name="Image 0" descr="/mnt/data/1_2_sample_grid.png"/>
          <p:cNvPicPr>
            <a:picLocks noChangeAspect="1"/>
          </p:cNvPicPr>
          <p:nvPr/>
        </p:nvPicPr>
        <p:blipFill>
          <a:blip r:embed="rId3"/>
          <a:srcRect t="6491" b="6491"/>
          <a:stretch/>
        </p:blipFill>
        <p:spPr>
          <a:xfrm>
            <a:off x="7315200" y="868680"/>
            <a:ext cx="4343400" cy="3813048"/>
          </a:xfrm>
          <a:prstGeom prst="rect">
            <a:avLst/>
          </a:prstGeom>
        </p:spPr>
      </p:pic>
      <p:sp>
        <p:nvSpPr>
          <p:cNvPr id="6" name="Text 3"/>
          <p:cNvSpPr/>
          <p:nvPr/>
        </p:nvSpPr>
        <p:spPr>
          <a:xfrm>
            <a:off x="7315200" y="4736592"/>
            <a:ext cx="4343400" cy="164592"/>
          </a:xfrm>
          <a:prstGeom prst="rect">
            <a:avLst/>
          </a:prstGeom>
          <a:noFill/>
          <a:ln/>
        </p:spPr>
        <p:txBody>
          <a:bodyPr wrap="square" lIns="0" tIns="0" rIns="0" bIns="0" rtlCol="0" anchor="ctr">
            <a:normAutofit/>
          </a:bodyPr>
          <a:lstStyle/>
          <a:p>
            <a:pPr marL="0" indent="0" algn="ctr">
              <a:buNone/>
            </a:pPr>
            <a:r>
              <a:rPr lang="en-US" sz="750" dirty="0">
                <a:solidFill>
                  <a:srgbClr val="637083"/>
                </a:solidFill>
              </a:rPr>
              <a:t>Representative MRI slices from the training split</a:t>
            </a:r>
            <a:endParaRPr lang="en-US" sz="750" dirty="0"/>
          </a:p>
        </p:txBody>
      </p:sp>
      <p:sp>
        <p:nvSpPr>
          <p:cNvPr id="7" name="Text 4"/>
          <p:cNvSpPr/>
          <p:nvPr/>
        </p:nvSpPr>
        <p:spPr>
          <a:xfrm>
            <a:off x="685800" y="1820094"/>
            <a:ext cx="2377440" cy="320040"/>
          </a:xfrm>
          <a:prstGeom prst="rect">
            <a:avLst/>
          </a:prstGeom>
          <a:noFill/>
          <a:ln/>
        </p:spPr>
        <p:txBody>
          <a:bodyPr wrap="square" lIns="0" tIns="0" rIns="0" bIns="0" rtlCol="0" anchor="ctr"/>
          <a:lstStyle/>
          <a:p>
            <a:pPr marL="0" indent="0">
              <a:buNone/>
            </a:pPr>
            <a:r>
              <a:rPr lang="en-US" sz="1400" b="1" dirty="0">
                <a:solidFill>
                  <a:srgbClr val="2F6F9F"/>
                </a:solidFill>
              </a:rPr>
              <a:t>Clinical need</a:t>
            </a:r>
            <a:endParaRPr lang="en-US" sz="1400" dirty="0"/>
          </a:p>
        </p:txBody>
      </p:sp>
      <p:sp>
        <p:nvSpPr>
          <p:cNvPr id="8" name="Text 5"/>
          <p:cNvSpPr/>
          <p:nvPr/>
        </p:nvSpPr>
        <p:spPr>
          <a:xfrm>
            <a:off x="685800" y="2231574"/>
            <a:ext cx="6080760" cy="2011680"/>
          </a:xfrm>
          <a:prstGeom prst="rect">
            <a:avLst/>
          </a:prstGeom>
          <a:noFill/>
          <a:ln/>
        </p:spPr>
        <p:txBody>
          <a:bodyPr wrap="square" lIns="254" tIns="254" rIns="254" bIns="254" rtlCol="0" anchor="t">
            <a:normAutofit/>
          </a:bodyPr>
          <a:lstStyle/>
          <a:p>
            <a:pPr marL="152400" indent="-152400">
              <a:buSzPct val="100000"/>
              <a:buChar char="•"/>
            </a:pPr>
            <a:r>
              <a:rPr lang="en-US" sz="1400" dirty="0">
                <a:solidFill>
                  <a:srgbClr val="263238"/>
                </a:solidFill>
              </a:rPr>
              <a:t>Glioma, meningioma, and pituitary tumors can require different clinical management.</a:t>
            </a:r>
          </a:p>
          <a:p>
            <a:pPr>
              <a:buSzPct val="100000"/>
            </a:pPr>
            <a:endParaRPr lang="en-US" sz="1400" dirty="0"/>
          </a:p>
          <a:p>
            <a:pPr marL="152400" indent="-152400">
              <a:buSzPct val="100000"/>
              <a:buChar char="•"/>
            </a:pPr>
            <a:r>
              <a:rPr lang="en-US" sz="1400" dirty="0">
                <a:solidFill>
                  <a:srgbClr val="263238"/>
                </a:solidFill>
              </a:rPr>
              <a:t>MRI review depends on expert interpretation and can vary with image quality, slice selection, and reader experience.</a:t>
            </a:r>
          </a:p>
          <a:p>
            <a:pPr>
              <a:buSzPct val="100000"/>
            </a:pPr>
            <a:endParaRPr lang="en-US" sz="1400" dirty="0"/>
          </a:p>
          <a:p>
            <a:pPr marL="152400" indent="-152400">
              <a:buSzPct val="100000"/>
              <a:buChar char="•"/>
            </a:pPr>
            <a:r>
              <a:rPr lang="en-US" sz="1400" dirty="0">
                <a:solidFill>
                  <a:srgbClr val="263238"/>
                </a:solidFill>
              </a:rPr>
              <a:t>A consistent AI second reader may help triage cases, support education, and provide an additional check during review.</a:t>
            </a:r>
            <a:endParaRPr lang="en-US" sz="1400" dirty="0"/>
          </a:p>
        </p:txBody>
      </p:sp>
      <p:sp>
        <p:nvSpPr>
          <p:cNvPr id="12" name="Shape 9"/>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13" name="Text 10"/>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1 of 5 | The Problem</a:t>
            </a:r>
            <a:endParaRPr lang="en-US" sz="750" dirty="0"/>
          </a:p>
        </p:txBody>
      </p:sp>
      <p:sp>
        <p:nvSpPr>
          <p:cNvPr id="14" name="Text 11"/>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sp>
        <p:nvSpPr>
          <p:cNvPr id="15" name="Text 0">
            <a:extLst>
              <a:ext uri="{FF2B5EF4-FFF2-40B4-BE49-F238E27FC236}">
                <a16:creationId xmlns:a16="http://schemas.microsoft.com/office/drawing/2014/main" id="{213F019E-20C6-1BB2-AEEC-A7782C4E59C0}"/>
              </a:ext>
            </a:extLst>
          </p:cNvPr>
          <p:cNvSpPr/>
          <p:nvPr/>
        </p:nvSpPr>
        <p:spPr>
          <a:xfrm>
            <a:off x="502920" y="365759"/>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THE PROBLEM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DATA &amp; APPROACH</a:t>
            </a:r>
            <a:endParaRPr lang="en-US" sz="1000" dirty="0"/>
          </a:p>
        </p:txBody>
      </p:sp>
      <p:sp>
        <p:nvSpPr>
          <p:cNvPr id="3" name="Text 1"/>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500" b="1" dirty="0">
                <a:solidFill>
                  <a:srgbClr val="132238"/>
                </a:solidFill>
              </a:rPr>
              <a:t>Dataset</a:t>
            </a:r>
            <a:endParaRPr lang="en-US" sz="2500" dirty="0"/>
          </a:p>
        </p:txBody>
      </p:sp>
      <p:sp>
        <p:nvSpPr>
          <p:cNvPr id="4" name="Text 2"/>
          <p:cNvSpPr/>
          <p:nvPr/>
        </p:nvSpPr>
        <p:spPr>
          <a:xfrm>
            <a:off x="521208" y="959105"/>
            <a:ext cx="6537960" cy="347472"/>
          </a:xfrm>
          <a:prstGeom prst="rect">
            <a:avLst/>
          </a:prstGeom>
          <a:noFill/>
          <a:ln/>
        </p:spPr>
        <p:txBody>
          <a:bodyPr wrap="square" lIns="0" tIns="0" rIns="0" bIns="0" rtlCol="0" anchor="ctr">
            <a:normAutofit/>
          </a:bodyPr>
          <a:lstStyle/>
          <a:p>
            <a:pPr marL="0" indent="0">
              <a:buNone/>
            </a:pPr>
            <a:r>
              <a:rPr lang="en-US" sz="1250" dirty="0">
                <a:solidFill>
                  <a:srgbClr val="637083"/>
                </a:solidFill>
              </a:rPr>
              <a:t>Single 2D MRI slices were used to build and evaluate a three-class classifier.</a:t>
            </a:r>
            <a:endParaRPr lang="en-US" sz="1250" dirty="0"/>
          </a:p>
        </p:txBody>
      </p:sp>
      <p:pic>
        <p:nvPicPr>
          <p:cNvPr id="5" name="Image 0" descr="/mnt/data/1_2_class_distribution.png"/>
          <p:cNvPicPr>
            <a:picLocks noChangeAspect="1"/>
          </p:cNvPicPr>
          <p:nvPr/>
        </p:nvPicPr>
        <p:blipFill>
          <a:blip r:embed="rId3"/>
          <a:srcRect t="3355" b="3355"/>
          <a:stretch/>
        </p:blipFill>
        <p:spPr>
          <a:xfrm>
            <a:off x="7086600" y="960120"/>
            <a:ext cx="4526280" cy="2075688"/>
          </a:xfrm>
          <a:prstGeom prst="rect">
            <a:avLst/>
          </a:prstGeom>
        </p:spPr>
      </p:pic>
      <p:sp>
        <p:nvSpPr>
          <p:cNvPr id="6" name="Text 3"/>
          <p:cNvSpPr/>
          <p:nvPr/>
        </p:nvSpPr>
        <p:spPr>
          <a:xfrm>
            <a:off x="7086600" y="3090672"/>
            <a:ext cx="4526280" cy="164592"/>
          </a:xfrm>
          <a:prstGeom prst="rect">
            <a:avLst/>
          </a:prstGeom>
          <a:noFill/>
          <a:ln/>
        </p:spPr>
        <p:txBody>
          <a:bodyPr wrap="square" lIns="0" tIns="0" rIns="0" bIns="0" rtlCol="0" anchor="ctr">
            <a:normAutofit/>
          </a:bodyPr>
          <a:lstStyle/>
          <a:p>
            <a:pPr marL="0" indent="0" algn="ctr">
              <a:buNone/>
            </a:pPr>
            <a:r>
              <a:rPr lang="en-US" sz="750" dirty="0">
                <a:solidFill>
                  <a:srgbClr val="637083"/>
                </a:solidFill>
              </a:rPr>
              <a:t>Training split class distribution</a:t>
            </a:r>
            <a:endParaRPr lang="en-US" sz="750" dirty="0"/>
          </a:p>
        </p:txBody>
      </p:sp>
      <p:sp>
        <p:nvSpPr>
          <p:cNvPr id="7" name="Shape 4"/>
          <p:cNvSpPr/>
          <p:nvPr/>
        </p:nvSpPr>
        <p:spPr>
          <a:xfrm>
            <a:off x="685800" y="1325880"/>
            <a:ext cx="1554480" cy="1051560"/>
          </a:xfrm>
          <a:prstGeom prst="roundRect">
            <a:avLst>
              <a:gd name="adj" fmla="val 6957"/>
            </a:avLst>
          </a:prstGeom>
          <a:solidFill>
            <a:srgbClr val="FFFFFF"/>
          </a:solidFill>
          <a:ln w="10160">
            <a:solidFill>
              <a:srgbClr val="D7DEE7"/>
            </a:solidFill>
            <a:prstDash val="solid"/>
          </a:ln>
        </p:spPr>
        <p:txBody>
          <a:bodyPr/>
          <a:lstStyle/>
          <a:p>
            <a:endParaRPr lang="en-US"/>
          </a:p>
        </p:txBody>
      </p:sp>
      <p:sp>
        <p:nvSpPr>
          <p:cNvPr id="8" name="Shape 5"/>
          <p:cNvSpPr/>
          <p:nvPr/>
        </p:nvSpPr>
        <p:spPr>
          <a:xfrm>
            <a:off x="685800" y="1325880"/>
            <a:ext cx="73152" cy="1051560"/>
          </a:xfrm>
          <a:prstGeom prst="rect">
            <a:avLst/>
          </a:prstGeom>
          <a:solidFill>
            <a:srgbClr val="2A9D8F"/>
          </a:solidFill>
          <a:ln w="12700">
            <a:solidFill>
              <a:srgbClr val="2A9D8F"/>
            </a:solidFill>
            <a:prstDash val="solid"/>
          </a:ln>
        </p:spPr>
        <p:txBody>
          <a:bodyPr/>
          <a:lstStyle/>
          <a:p>
            <a:endParaRPr lang="en-US"/>
          </a:p>
        </p:txBody>
      </p:sp>
      <p:sp>
        <p:nvSpPr>
          <p:cNvPr id="9" name="Text 6"/>
          <p:cNvSpPr/>
          <p:nvPr/>
        </p:nvSpPr>
        <p:spPr>
          <a:xfrm>
            <a:off x="868680" y="1472184"/>
            <a:ext cx="123444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4,239</a:t>
            </a:r>
            <a:endParaRPr lang="en-US" sz="2100" dirty="0"/>
          </a:p>
        </p:txBody>
      </p:sp>
      <p:sp>
        <p:nvSpPr>
          <p:cNvPr id="10" name="Text 7"/>
          <p:cNvSpPr/>
          <p:nvPr/>
        </p:nvSpPr>
        <p:spPr>
          <a:xfrm>
            <a:off x="868680" y="1837944"/>
            <a:ext cx="123444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training images</a:t>
            </a:r>
            <a:endParaRPr lang="en-US" sz="950" dirty="0"/>
          </a:p>
        </p:txBody>
      </p:sp>
      <p:sp>
        <p:nvSpPr>
          <p:cNvPr id="11" name="Shape 8"/>
          <p:cNvSpPr/>
          <p:nvPr/>
        </p:nvSpPr>
        <p:spPr>
          <a:xfrm>
            <a:off x="2423160" y="1325880"/>
            <a:ext cx="1554480" cy="1051560"/>
          </a:xfrm>
          <a:prstGeom prst="roundRect">
            <a:avLst>
              <a:gd name="adj" fmla="val 6957"/>
            </a:avLst>
          </a:prstGeom>
          <a:solidFill>
            <a:srgbClr val="FFFFFF"/>
          </a:solidFill>
          <a:ln w="10160">
            <a:solidFill>
              <a:srgbClr val="D7DEE7"/>
            </a:solidFill>
            <a:prstDash val="solid"/>
          </a:ln>
        </p:spPr>
        <p:txBody>
          <a:bodyPr/>
          <a:lstStyle/>
          <a:p>
            <a:endParaRPr lang="en-US"/>
          </a:p>
        </p:txBody>
      </p:sp>
      <p:sp>
        <p:nvSpPr>
          <p:cNvPr id="12" name="Shape 9"/>
          <p:cNvSpPr/>
          <p:nvPr/>
        </p:nvSpPr>
        <p:spPr>
          <a:xfrm>
            <a:off x="2423160" y="1325880"/>
            <a:ext cx="73152" cy="1051560"/>
          </a:xfrm>
          <a:prstGeom prst="rect">
            <a:avLst/>
          </a:prstGeom>
          <a:solidFill>
            <a:srgbClr val="2F6F9F"/>
          </a:solidFill>
          <a:ln w="12700">
            <a:solidFill>
              <a:srgbClr val="2F6F9F"/>
            </a:solidFill>
            <a:prstDash val="solid"/>
          </a:ln>
        </p:spPr>
        <p:txBody>
          <a:bodyPr/>
          <a:lstStyle/>
          <a:p>
            <a:endParaRPr lang="en-US"/>
          </a:p>
        </p:txBody>
      </p:sp>
      <p:sp>
        <p:nvSpPr>
          <p:cNvPr id="13" name="Text 10"/>
          <p:cNvSpPr/>
          <p:nvPr/>
        </p:nvSpPr>
        <p:spPr>
          <a:xfrm>
            <a:off x="2606040" y="1472184"/>
            <a:ext cx="123444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908</a:t>
            </a:r>
            <a:endParaRPr lang="en-US" sz="2100" dirty="0"/>
          </a:p>
        </p:txBody>
      </p:sp>
      <p:sp>
        <p:nvSpPr>
          <p:cNvPr id="14" name="Text 11"/>
          <p:cNvSpPr/>
          <p:nvPr/>
        </p:nvSpPr>
        <p:spPr>
          <a:xfrm>
            <a:off x="2606040" y="1837944"/>
            <a:ext cx="123444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validation images</a:t>
            </a:r>
            <a:endParaRPr lang="en-US" sz="950" dirty="0"/>
          </a:p>
        </p:txBody>
      </p:sp>
      <p:sp>
        <p:nvSpPr>
          <p:cNvPr id="15" name="Shape 12"/>
          <p:cNvSpPr/>
          <p:nvPr/>
        </p:nvSpPr>
        <p:spPr>
          <a:xfrm>
            <a:off x="4160520" y="1325880"/>
            <a:ext cx="1554480" cy="1051560"/>
          </a:xfrm>
          <a:prstGeom prst="roundRect">
            <a:avLst>
              <a:gd name="adj" fmla="val 6957"/>
            </a:avLst>
          </a:prstGeom>
          <a:solidFill>
            <a:srgbClr val="FFFFFF"/>
          </a:solidFill>
          <a:ln w="10160">
            <a:solidFill>
              <a:srgbClr val="D7DEE7"/>
            </a:solidFill>
            <a:prstDash val="solid"/>
          </a:ln>
        </p:spPr>
        <p:txBody>
          <a:bodyPr/>
          <a:lstStyle/>
          <a:p>
            <a:endParaRPr lang="en-US"/>
          </a:p>
        </p:txBody>
      </p:sp>
      <p:sp>
        <p:nvSpPr>
          <p:cNvPr id="16" name="Shape 13"/>
          <p:cNvSpPr/>
          <p:nvPr/>
        </p:nvSpPr>
        <p:spPr>
          <a:xfrm>
            <a:off x="4160520" y="1325880"/>
            <a:ext cx="73152" cy="1051560"/>
          </a:xfrm>
          <a:prstGeom prst="rect">
            <a:avLst/>
          </a:prstGeom>
          <a:solidFill>
            <a:srgbClr val="F4A261"/>
          </a:solidFill>
          <a:ln w="12700">
            <a:solidFill>
              <a:srgbClr val="F4A261"/>
            </a:solidFill>
            <a:prstDash val="solid"/>
          </a:ln>
        </p:spPr>
        <p:txBody>
          <a:bodyPr/>
          <a:lstStyle/>
          <a:p>
            <a:endParaRPr lang="en-US"/>
          </a:p>
        </p:txBody>
      </p:sp>
      <p:sp>
        <p:nvSpPr>
          <p:cNvPr id="17" name="Text 14"/>
          <p:cNvSpPr/>
          <p:nvPr/>
        </p:nvSpPr>
        <p:spPr>
          <a:xfrm>
            <a:off x="4343400" y="1472184"/>
            <a:ext cx="123444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909</a:t>
            </a:r>
            <a:endParaRPr lang="en-US" sz="2100" dirty="0"/>
          </a:p>
        </p:txBody>
      </p:sp>
      <p:sp>
        <p:nvSpPr>
          <p:cNvPr id="18" name="Text 15"/>
          <p:cNvSpPr/>
          <p:nvPr/>
        </p:nvSpPr>
        <p:spPr>
          <a:xfrm>
            <a:off x="4343400" y="1837944"/>
            <a:ext cx="123444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test images</a:t>
            </a:r>
            <a:endParaRPr lang="en-US" sz="950" dirty="0"/>
          </a:p>
        </p:txBody>
      </p:sp>
      <p:sp>
        <p:nvSpPr>
          <p:cNvPr id="19" name="Shape 16"/>
          <p:cNvSpPr/>
          <p:nvPr/>
        </p:nvSpPr>
        <p:spPr>
          <a:xfrm>
            <a:off x="5897880" y="1325880"/>
            <a:ext cx="914400" cy="1051560"/>
          </a:xfrm>
          <a:prstGeom prst="roundRect">
            <a:avLst>
              <a:gd name="adj" fmla="val 8000"/>
            </a:avLst>
          </a:prstGeom>
          <a:solidFill>
            <a:srgbClr val="FFFFFF"/>
          </a:solidFill>
          <a:ln w="10160">
            <a:solidFill>
              <a:srgbClr val="D7DEE7"/>
            </a:solidFill>
            <a:prstDash val="solid"/>
          </a:ln>
        </p:spPr>
        <p:txBody>
          <a:bodyPr/>
          <a:lstStyle/>
          <a:p>
            <a:endParaRPr lang="en-US"/>
          </a:p>
        </p:txBody>
      </p:sp>
      <p:sp>
        <p:nvSpPr>
          <p:cNvPr id="20" name="Shape 17"/>
          <p:cNvSpPr/>
          <p:nvPr/>
        </p:nvSpPr>
        <p:spPr>
          <a:xfrm>
            <a:off x="5897880" y="1325880"/>
            <a:ext cx="73152" cy="1051560"/>
          </a:xfrm>
          <a:prstGeom prst="rect">
            <a:avLst/>
          </a:prstGeom>
          <a:solidFill>
            <a:srgbClr val="D1495B"/>
          </a:solidFill>
          <a:ln w="12700">
            <a:solidFill>
              <a:srgbClr val="D1495B"/>
            </a:solidFill>
            <a:prstDash val="solid"/>
          </a:ln>
        </p:spPr>
        <p:txBody>
          <a:bodyPr/>
          <a:lstStyle/>
          <a:p>
            <a:endParaRPr lang="en-US"/>
          </a:p>
        </p:txBody>
      </p:sp>
      <p:sp>
        <p:nvSpPr>
          <p:cNvPr id="21" name="Text 18"/>
          <p:cNvSpPr/>
          <p:nvPr/>
        </p:nvSpPr>
        <p:spPr>
          <a:xfrm>
            <a:off x="6080760" y="1472184"/>
            <a:ext cx="59436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3</a:t>
            </a:r>
            <a:endParaRPr lang="en-US" sz="2100" dirty="0"/>
          </a:p>
        </p:txBody>
      </p:sp>
      <p:sp>
        <p:nvSpPr>
          <p:cNvPr id="22" name="Text 19"/>
          <p:cNvSpPr/>
          <p:nvPr/>
        </p:nvSpPr>
        <p:spPr>
          <a:xfrm>
            <a:off x="6080760" y="1837944"/>
            <a:ext cx="59436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classes</a:t>
            </a:r>
            <a:endParaRPr lang="en-US" sz="950" dirty="0"/>
          </a:p>
        </p:txBody>
      </p:sp>
      <p:sp>
        <p:nvSpPr>
          <p:cNvPr id="23" name="Text 20"/>
          <p:cNvSpPr/>
          <p:nvPr/>
        </p:nvSpPr>
        <p:spPr>
          <a:xfrm>
            <a:off x="685800" y="2788920"/>
            <a:ext cx="2011680" cy="320040"/>
          </a:xfrm>
          <a:prstGeom prst="rect">
            <a:avLst/>
          </a:prstGeom>
          <a:noFill/>
          <a:ln/>
        </p:spPr>
        <p:txBody>
          <a:bodyPr wrap="square" lIns="0" tIns="0" rIns="0" bIns="0" rtlCol="0" anchor="ctr"/>
          <a:lstStyle/>
          <a:p>
            <a:pPr marL="0" indent="0">
              <a:buNone/>
            </a:pPr>
            <a:r>
              <a:rPr lang="en-US" sz="1400" b="1" dirty="0">
                <a:solidFill>
                  <a:srgbClr val="2F6F9F"/>
                </a:solidFill>
              </a:rPr>
              <a:t>Data decisions</a:t>
            </a:r>
            <a:endParaRPr lang="en-US" sz="1400" dirty="0"/>
          </a:p>
        </p:txBody>
      </p:sp>
      <p:sp>
        <p:nvSpPr>
          <p:cNvPr id="24" name="Text 21"/>
          <p:cNvSpPr/>
          <p:nvPr/>
        </p:nvSpPr>
        <p:spPr>
          <a:xfrm>
            <a:off x="685800" y="3200400"/>
            <a:ext cx="5806440" cy="2240280"/>
          </a:xfrm>
          <a:prstGeom prst="rect">
            <a:avLst/>
          </a:prstGeom>
          <a:noFill/>
          <a:ln/>
        </p:spPr>
        <p:txBody>
          <a:bodyPr wrap="square" lIns="254" tIns="254" rIns="254" bIns="254" rtlCol="0" anchor="t">
            <a:normAutofit/>
          </a:bodyPr>
          <a:lstStyle/>
          <a:p>
            <a:pPr marL="152400" indent="-152400">
              <a:buSzPct val="100000"/>
              <a:buChar char="•"/>
            </a:pPr>
            <a:r>
              <a:rPr lang="en-US" sz="1400" dirty="0">
                <a:solidFill>
                  <a:srgbClr val="263238"/>
                </a:solidFill>
              </a:rPr>
              <a:t>Classes: glioma, meningioma, and pituitary tumor.</a:t>
            </a:r>
          </a:p>
          <a:p>
            <a:pPr marL="152400" indent="-152400">
              <a:buSzPct val="100000"/>
              <a:buChar char="•"/>
            </a:pPr>
            <a:endParaRPr lang="en-US" sz="1400" dirty="0"/>
          </a:p>
          <a:p>
            <a:pPr marL="152400" indent="-152400">
              <a:buSzPct val="100000"/>
              <a:buChar char="•"/>
            </a:pPr>
            <a:r>
              <a:rPr lang="en-US" sz="1400" dirty="0">
                <a:solidFill>
                  <a:srgbClr val="263238"/>
                </a:solidFill>
              </a:rPr>
              <a:t>Images were normalized and resized for model input.</a:t>
            </a:r>
          </a:p>
          <a:p>
            <a:pPr marL="152400" indent="-152400">
              <a:buSzPct val="100000"/>
              <a:buChar char="•"/>
            </a:pPr>
            <a:endParaRPr lang="en-US" sz="1400" dirty="0"/>
          </a:p>
          <a:p>
            <a:pPr marL="152400" indent="-152400">
              <a:buSzPct val="100000"/>
              <a:buChar char="•"/>
            </a:pPr>
            <a:r>
              <a:rPr lang="en-US" sz="1400" dirty="0">
                <a:solidFill>
                  <a:srgbClr val="263238"/>
                </a:solidFill>
              </a:rPr>
              <a:t>Augmentation was used to reduce overfitting and teach the model to ignore small acquisition differences.</a:t>
            </a:r>
          </a:p>
          <a:p>
            <a:pPr marL="152400" indent="-152400">
              <a:buSzPct val="100000"/>
              <a:buChar char="•"/>
            </a:pPr>
            <a:endParaRPr lang="en-US" sz="1400" dirty="0"/>
          </a:p>
          <a:p>
            <a:pPr marL="152400" indent="-152400">
              <a:buSzPct val="100000"/>
              <a:buChar char="•"/>
            </a:pPr>
            <a:r>
              <a:rPr lang="en-US" sz="1400" dirty="0">
                <a:solidFill>
                  <a:srgbClr val="263238"/>
                </a:solidFill>
              </a:rPr>
              <a:t>Evaluation was performed on a held-out test set.</a:t>
            </a:r>
            <a:endParaRPr lang="en-US" sz="1400" dirty="0"/>
          </a:p>
        </p:txBody>
      </p:sp>
      <p:pic>
        <p:nvPicPr>
          <p:cNvPr id="25" name="Image 1" descr="/mnt/data/1_3_augmentation.png"/>
          <p:cNvPicPr>
            <a:picLocks noChangeAspect="1"/>
          </p:cNvPicPr>
          <p:nvPr/>
        </p:nvPicPr>
        <p:blipFill>
          <a:blip r:embed="rId4"/>
          <a:srcRect l="7041" r="7041"/>
          <a:stretch/>
        </p:blipFill>
        <p:spPr>
          <a:xfrm>
            <a:off x="7086600" y="3611880"/>
            <a:ext cx="4526280" cy="1252728"/>
          </a:xfrm>
          <a:prstGeom prst="rect">
            <a:avLst/>
          </a:prstGeom>
        </p:spPr>
      </p:pic>
      <p:sp>
        <p:nvSpPr>
          <p:cNvPr id="26" name="Text 22"/>
          <p:cNvSpPr/>
          <p:nvPr/>
        </p:nvSpPr>
        <p:spPr>
          <a:xfrm>
            <a:off x="7086600" y="4919472"/>
            <a:ext cx="4526280" cy="164592"/>
          </a:xfrm>
          <a:prstGeom prst="rect">
            <a:avLst/>
          </a:prstGeom>
          <a:noFill/>
          <a:ln/>
        </p:spPr>
        <p:txBody>
          <a:bodyPr wrap="square" lIns="0" tIns="0" rIns="0" bIns="0" rtlCol="0" anchor="ctr">
            <a:normAutofit/>
          </a:bodyPr>
          <a:lstStyle/>
          <a:p>
            <a:pPr marL="0" indent="0" algn="ctr">
              <a:buNone/>
            </a:pPr>
            <a:r>
              <a:rPr lang="en-US" sz="750" dirty="0">
                <a:solidFill>
                  <a:srgbClr val="637083"/>
                </a:solidFill>
              </a:rPr>
              <a:t>Examples of augmentation applied to training images</a:t>
            </a:r>
            <a:endParaRPr lang="en-US" sz="750" dirty="0"/>
          </a:p>
        </p:txBody>
      </p:sp>
      <p:sp>
        <p:nvSpPr>
          <p:cNvPr id="27" name="Shape 23"/>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28" name="Text 24"/>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2 of 5 | Data &amp; Approach</a:t>
            </a:r>
            <a:endParaRPr lang="en-US" sz="750" dirty="0"/>
          </a:p>
        </p:txBody>
      </p:sp>
      <p:sp>
        <p:nvSpPr>
          <p:cNvPr id="29" name="Text 25"/>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DATA &amp; APPROACH</a:t>
            </a:r>
            <a:endParaRPr lang="en-US" sz="1000" dirty="0"/>
          </a:p>
        </p:txBody>
      </p:sp>
      <p:sp>
        <p:nvSpPr>
          <p:cNvPr id="3" name="Text 1"/>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100" b="1" dirty="0">
                <a:solidFill>
                  <a:srgbClr val="132238"/>
                </a:solidFill>
              </a:rPr>
              <a:t>The Model - ResNet18 transfer learning classifier</a:t>
            </a:r>
            <a:endParaRPr lang="en-US" sz="2100" dirty="0"/>
          </a:p>
        </p:txBody>
      </p:sp>
      <p:sp>
        <p:nvSpPr>
          <p:cNvPr id="4" name="Text 2"/>
          <p:cNvSpPr/>
          <p:nvPr/>
        </p:nvSpPr>
        <p:spPr>
          <a:xfrm>
            <a:off x="521207" y="1060703"/>
            <a:ext cx="7679363" cy="411479"/>
          </a:xfrm>
          <a:prstGeom prst="rect">
            <a:avLst/>
          </a:prstGeom>
          <a:noFill/>
          <a:ln/>
        </p:spPr>
        <p:txBody>
          <a:bodyPr wrap="square" lIns="0" tIns="0" rIns="0" bIns="0" rtlCol="0" anchor="ctr">
            <a:normAutofit/>
          </a:bodyPr>
          <a:lstStyle/>
          <a:p>
            <a:pPr marL="0" indent="0">
              <a:buNone/>
            </a:pPr>
            <a:r>
              <a:rPr lang="en-US" sz="1250" dirty="0">
                <a:solidFill>
                  <a:srgbClr val="637083"/>
                </a:solidFill>
              </a:rPr>
              <a:t>Technical choices were kept practical: pretrained CNN, limited training time, and multiple explanation checks.</a:t>
            </a:r>
            <a:endParaRPr lang="en-US" sz="1250" dirty="0"/>
          </a:p>
        </p:txBody>
      </p:sp>
      <p:sp>
        <p:nvSpPr>
          <p:cNvPr id="5" name="Shape 3"/>
          <p:cNvSpPr/>
          <p:nvPr/>
        </p:nvSpPr>
        <p:spPr>
          <a:xfrm>
            <a:off x="777240" y="1417320"/>
            <a:ext cx="1920240" cy="960120"/>
          </a:xfrm>
          <a:prstGeom prst="roundRect">
            <a:avLst>
              <a:gd name="adj" fmla="val 7619"/>
            </a:avLst>
          </a:prstGeom>
          <a:solidFill>
            <a:srgbClr val="FFFFFF"/>
          </a:solidFill>
          <a:ln w="12700">
            <a:solidFill>
              <a:srgbClr val="D7DEE7"/>
            </a:solidFill>
            <a:prstDash val="solid"/>
          </a:ln>
        </p:spPr>
        <p:txBody>
          <a:bodyPr/>
          <a:lstStyle/>
          <a:p>
            <a:endParaRPr lang="en-US"/>
          </a:p>
        </p:txBody>
      </p:sp>
      <p:sp>
        <p:nvSpPr>
          <p:cNvPr id="6" name="Text 4"/>
          <p:cNvSpPr/>
          <p:nvPr/>
        </p:nvSpPr>
        <p:spPr>
          <a:xfrm>
            <a:off x="960120" y="1691640"/>
            <a:ext cx="1554480" cy="228600"/>
          </a:xfrm>
          <a:prstGeom prst="rect">
            <a:avLst/>
          </a:prstGeom>
          <a:noFill/>
          <a:ln/>
        </p:spPr>
        <p:txBody>
          <a:bodyPr wrap="square" lIns="0" tIns="0" rIns="0" bIns="0" rtlCol="0" anchor="ctr"/>
          <a:lstStyle/>
          <a:p>
            <a:pPr marL="0" indent="0" algn="ctr">
              <a:buNone/>
            </a:pPr>
            <a:r>
              <a:rPr lang="en-US" sz="1500" b="1" dirty="0">
                <a:solidFill>
                  <a:srgbClr val="132238"/>
                </a:solidFill>
              </a:rPr>
              <a:t>MRI slice</a:t>
            </a:r>
            <a:endParaRPr lang="en-US" sz="1500" dirty="0"/>
          </a:p>
        </p:txBody>
      </p:sp>
      <p:sp>
        <p:nvSpPr>
          <p:cNvPr id="7" name="Shape 5"/>
          <p:cNvSpPr/>
          <p:nvPr/>
        </p:nvSpPr>
        <p:spPr>
          <a:xfrm>
            <a:off x="2697480" y="1901952"/>
            <a:ext cx="731520" cy="0"/>
          </a:xfrm>
          <a:prstGeom prst="line">
            <a:avLst/>
          </a:prstGeom>
          <a:noFill/>
          <a:ln w="25400">
            <a:solidFill>
              <a:srgbClr val="2F6F9F"/>
            </a:solidFill>
            <a:prstDash val="solid"/>
            <a:headEnd type="none"/>
            <a:tailEnd type="triangle"/>
          </a:ln>
        </p:spPr>
        <p:txBody>
          <a:bodyPr/>
          <a:lstStyle/>
          <a:p>
            <a:endParaRPr lang="en-US"/>
          </a:p>
        </p:txBody>
      </p:sp>
      <p:sp>
        <p:nvSpPr>
          <p:cNvPr id="8" name="Shape 6"/>
          <p:cNvSpPr/>
          <p:nvPr/>
        </p:nvSpPr>
        <p:spPr>
          <a:xfrm>
            <a:off x="3429000" y="1417320"/>
            <a:ext cx="1965960" cy="960120"/>
          </a:xfrm>
          <a:prstGeom prst="roundRect">
            <a:avLst>
              <a:gd name="adj" fmla="val 7619"/>
            </a:avLst>
          </a:prstGeom>
          <a:solidFill>
            <a:srgbClr val="FFFFFF"/>
          </a:solidFill>
          <a:ln w="12700">
            <a:solidFill>
              <a:srgbClr val="D7DEE7"/>
            </a:solidFill>
            <a:prstDash val="solid"/>
          </a:ln>
        </p:spPr>
        <p:txBody>
          <a:bodyPr/>
          <a:lstStyle/>
          <a:p>
            <a:endParaRPr lang="en-US"/>
          </a:p>
        </p:txBody>
      </p:sp>
      <p:sp>
        <p:nvSpPr>
          <p:cNvPr id="9" name="Text 7"/>
          <p:cNvSpPr/>
          <p:nvPr/>
        </p:nvSpPr>
        <p:spPr>
          <a:xfrm>
            <a:off x="3611880" y="1685688"/>
            <a:ext cx="1600200" cy="411480"/>
          </a:xfrm>
          <a:prstGeom prst="rect">
            <a:avLst/>
          </a:prstGeom>
          <a:noFill/>
          <a:ln/>
        </p:spPr>
        <p:txBody>
          <a:bodyPr wrap="square" lIns="0" tIns="0" rIns="0" bIns="0" rtlCol="0" anchor="ctr">
            <a:normAutofit/>
          </a:bodyPr>
          <a:lstStyle/>
          <a:p>
            <a:pPr marL="0" indent="0" algn="ctr">
              <a:buNone/>
            </a:pPr>
            <a:r>
              <a:rPr lang="en-US" sz="1300" b="1" dirty="0">
                <a:solidFill>
                  <a:srgbClr val="132238"/>
                </a:solidFill>
              </a:rPr>
              <a:t>Preprocess + augment</a:t>
            </a:r>
            <a:endParaRPr lang="en-US" sz="1300" dirty="0"/>
          </a:p>
        </p:txBody>
      </p:sp>
      <p:sp>
        <p:nvSpPr>
          <p:cNvPr id="10" name="Shape 8"/>
          <p:cNvSpPr/>
          <p:nvPr/>
        </p:nvSpPr>
        <p:spPr>
          <a:xfrm>
            <a:off x="5394960" y="1901952"/>
            <a:ext cx="731520" cy="0"/>
          </a:xfrm>
          <a:prstGeom prst="line">
            <a:avLst/>
          </a:prstGeom>
          <a:noFill/>
          <a:ln w="25400">
            <a:solidFill>
              <a:srgbClr val="2F6F9F"/>
            </a:solidFill>
            <a:prstDash val="solid"/>
            <a:tailEnd type="triangle"/>
          </a:ln>
        </p:spPr>
        <p:txBody>
          <a:bodyPr/>
          <a:lstStyle/>
          <a:p>
            <a:endParaRPr lang="en-US"/>
          </a:p>
        </p:txBody>
      </p:sp>
      <p:sp>
        <p:nvSpPr>
          <p:cNvPr id="11" name="Shape 9"/>
          <p:cNvSpPr/>
          <p:nvPr/>
        </p:nvSpPr>
        <p:spPr>
          <a:xfrm>
            <a:off x="6126480" y="1417320"/>
            <a:ext cx="1965960" cy="960120"/>
          </a:xfrm>
          <a:prstGeom prst="roundRect">
            <a:avLst>
              <a:gd name="adj" fmla="val 7619"/>
            </a:avLst>
          </a:prstGeom>
          <a:solidFill>
            <a:srgbClr val="FFFFFF"/>
          </a:solidFill>
          <a:ln w="12700">
            <a:solidFill>
              <a:srgbClr val="D7DEE7"/>
            </a:solidFill>
            <a:prstDash val="solid"/>
          </a:ln>
        </p:spPr>
        <p:txBody>
          <a:bodyPr/>
          <a:lstStyle/>
          <a:p>
            <a:endParaRPr lang="en-US"/>
          </a:p>
        </p:txBody>
      </p:sp>
      <p:sp>
        <p:nvSpPr>
          <p:cNvPr id="12" name="Text 10"/>
          <p:cNvSpPr/>
          <p:nvPr/>
        </p:nvSpPr>
        <p:spPr>
          <a:xfrm>
            <a:off x="6309360" y="1627632"/>
            <a:ext cx="1600200" cy="411480"/>
          </a:xfrm>
          <a:prstGeom prst="rect">
            <a:avLst/>
          </a:prstGeom>
          <a:noFill/>
          <a:ln/>
        </p:spPr>
        <p:txBody>
          <a:bodyPr wrap="square" lIns="0" tIns="0" rIns="0" bIns="0" rtlCol="0" anchor="ctr">
            <a:normAutofit/>
          </a:bodyPr>
          <a:lstStyle/>
          <a:p>
            <a:pPr marL="0" indent="0" algn="ctr">
              <a:buNone/>
            </a:pPr>
            <a:r>
              <a:rPr lang="en-US" sz="1300" b="1" dirty="0">
                <a:solidFill>
                  <a:srgbClr val="132238"/>
                </a:solidFill>
              </a:rPr>
              <a:t>ResNet18 pretrained</a:t>
            </a:r>
            <a:endParaRPr lang="en-US" sz="1300" dirty="0"/>
          </a:p>
        </p:txBody>
      </p:sp>
      <p:sp>
        <p:nvSpPr>
          <p:cNvPr id="13" name="Shape 11"/>
          <p:cNvSpPr/>
          <p:nvPr/>
        </p:nvSpPr>
        <p:spPr>
          <a:xfrm>
            <a:off x="8092440" y="1901952"/>
            <a:ext cx="731520" cy="0"/>
          </a:xfrm>
          <a:prstGeom prst="line">
            <a:avLst/>
          </a:prstGeom>
          <a:noFill/>
          <a:ln w="25400">
            <a:solidFill>
              <a:srgbClr val="2F6F9F"/>
            </a:solidFill>
            <a:prstDash val="solid"/>
            <a:tailEnd type="triangle"/>
          </a:ln>
        </p:spPr>
        <p:txBody>
          <a:bodyPr/>
          <a:lstStyle/>
          <a:p>
            <a:endParaRPr lang="en-US"/>
          </a:p>
        </p:txBody>
      </p:sp>
      <p:sp>
        <p:nvSpPr>
          <p:cNvPr id="14" name="Shape 12"/>
          <p:cNvSpPr/>
          <p:nvPr/>
        </p:nvSpPr>
        <p:spPr>
          <a:xfrm>
            <a:off x="8823960" y="1417320"/>
            <a:ext cx="2331720" cy="960120"/>
          </a:xfrm>
          <a:prstGeom prst="roundRect">
            <a:avLst>
              <a:gd name="adj" fmla="val 7619"/>
            </a:avLst>
          </a:prstGeom>
          <a:solidFill>
            <a:srgbClr val="FFFFFF"/>
          </a:solidFill>
          <a:ln w="12700">
            <a:solidFill>
              <a:srgbClr val="D7DEE7"/>
            </a:solidFill>
            <a:prstDash val="solid"/>
          </a:ln>
        </p:spPr>
        <p:txBody>
          <a:bodyPr/>
          <a:lstStyle/>
          <a:p>
            <a:endParaRPr lang="en-US"/>
          </a:p>
        </p:txBody>
      </p:sp>
      <p:sp>
        <p:nvSpPr>
          <p:cNvPr id="15" name="Text 13"/>
          <p:cNvSpPr/>
          <p:nvPr/>
        </p:nvSpPr>
        <p:spPr>
          <a:xfrm>
            <a:off x="9052560" y="1645920"/>
            <a:ext cx="1874520" cy="347472"/>
          </a:xfrm>
          <a:prstGeom prst="rect">
            <a:avLst/>
          </a:prstGeom>
          <a:noFill/>
          <a:ln/>
        </p:spPr>
        <p:txBody>
          <a:bodyPr wrap="square" lIns="0" tIns="0" rIns="0" bIns="0" rtlCol="0" anchor="ctr">
            <a:normAutofit/>
          </a:bodyPr>
          <a:lstStyle/>
          <a:p>
            <a:pPr marL="0" indent="0" algn="ctr">
              <a:buNone/>
            </a:pPr>
            <a:r>
              <a:rPr lang="en-US" sz="1350" b="1" dirty="0">
                <a:solidFill>
                  <a:srgbClr val="132238"/>
                </a:solidFill>
              </a:rPr>
              <a:t>Class + confidence</a:t>
            </a:r>
            <a:endParaRPr lang="en-US" sz="1350" dirty="0"/>
          </a:p>
        </p:txBody>
      </p:sp>
      <p:sp>
        <p:nvSpPr>
          <p:cNvPr id="17" name="Text 14"/>
          <p:cNvSpPr/>
          <p:nvPr/>
        </p:nvSpPr>
        <p:spPr>
          <a:xfrm>
            <a:off x="685800" y="5010912"/>
            <a:ext cx="5120640" cy="164592"/>
          </a:xfrm>
          <a:prstGeom prst="rect">
            <a:avLst/>
          </a:prstGeom>
          <a:noFill/>
          <a:ln/>
        </p:spPr>
        <p:txBody>
          <a:bodyPr wrap="square" lIns="0" tIns="0" rIns="0" bIns="0" rtlCol="0" anchor="ctr">
            <a:normAutofit/>
          </a:bodyPr>
          <a:lstStyle/>
          <a:p>
            <a:pPr marL="0" indent="0" algn="ctr">
              <a:buNone/>
            </a:pPr>
            <a:r>
              <a:rPr lang="en-US" sz="750" dirty="0">
                <a:solidFill>
                  <a:srgbClr val="637083"/>
                </a:solidFill>
              </a:rPr>
              <a:t>Training and validation curves</a:t>
            </a:r>
            <a:endParaRPr lang="en-US" sz="750" dirty="0"/>
          </a:p>
        </p:txBody>
      </p:sp>
      <p:sp>
        <p:nvSpPr>
          <p:cNvPr id="19" name="Text 15"/>
          <p:cNvSpPr/>
          <p:nvPr/>
        </p:nvSpPr>
        <p:spPr>
          <a:xfrm>
            <a:off x="3512820" y="5248939"/>
            <a:ext cx="516636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Loss -Accuracy Curve for Train and Validation dataset for ResNEt18 Pretrained</a:t>
            </a:r>
            <a:endParaRPr lang="en-US" sz="1000" dirty="0"/>
          </a:p>
        </p:txBody>
      </p:sp>
      <p:sp>
        <p:nvSpPr>
          <p:cNvPr id="20" name="Text 16"/>
          <p:cNvSpPr/>
          <p:nvPr/>
        </p:nvSpPr>
        <p:spPr>
          <a:xfrm>
            <a:off x="777240" y="5541264"/>
            <a:ext cx="10469880" cy="310896"/>
          </a:xfrm>
          <a:prstGeom prst="rect">
            <a:avLst/>
          </a:prstGeom>
          <a:noFill/>
          <a:ln/>
        </p:spPr>
        <p:txBody>
          <a:bodyPr wrap="square" lIns="0" tIns="0" rIns="0" bIns="0" rtlCol="0" anchor="ctr">
            <a:normAutofit/>
          </a:bodyPr>
          <a:lstStyle/>
          <a:p>
            <a:pPr marL="0" indent="0" algn="ctr">
              <a:buNone/>
            </a:pPr>
            <a:r>
              <a:rPr lang="en-US" sz="1350" dirty="0">
                <a:solidFill>
                  <a:srgbClr val="263238"/>
                </a:solidFill>
              </a:rPr>
              <a:t>Key technical decisions: transfer learning, class-balanced evaluation, confidence calibration review, and two interpretability methods.</a:t>
            </a:r>
            <a:endParaRPr lang="en-US" sz="1350" dirty="0"/>
          </a:p>
        </p:txBody>
      </p:sp>
      <p:sp>
        <p:nvSpPr>
          <p:cNvPr id="21" name="Shape 17"/>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22" name="Text 18"/>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2 of 5 | Data &amp; Approach</a:t>
            </a:r>
            <a:endParaRPr lang="en-US" sz="750" dirty="0"/>
          </a:p>
        </p:txBody>
      </p:sp>
      <p:sp>
        <p:nvSpPr>
          <p:cNvPr id="23" name="Text 19"/>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pic>
        <p:nvPicPr>
          <p:cNvPr id="27" name="Picture 26">
            <a:extLst>
              <a:ext uri="{FF2B5EF4-FFF2-40B4-BE49-F238E27FC236}">
                <a16:creationId xmlns:a16="http://schemas.microsoft.com/office/drawing/2014/main" id="{9CCB48E3-94D9-10B6-9F18-FFF03781387B}"/>
              </a:ext>
            </a:extLst>
          </p:cNvPr>
          <p:cNvPicPr>
            <a:picLocks noChangeAspect="1"/>
          </p:cNvPicPr>
          <p:nvPr/>
        </p:nvPicPr>
        <p:blipFill>
          <a:blip r:embed="rId3"/>
          <a:stretch>
            <a:fillRect/>
          </a:stretch>
        </p:blipFill>
        <p:spPr>
          <a:xfrm>
            <a:off x="1874520" y="2581800"/>
            <a:ext cx="7772400" cy="25394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RESULTS</a:t>
            </a:r>
            <a:endParaRPr lang="en-US" sz="1000" dirty="0"/>
          </a:p>
        </p:txBody>
      </p:sp>
      <p:sp>
        <p:nvSpPr>
          <p:cNvPr id="3" name="Text 1"/>
          <p:cNvSpPr/>
          <p:nvPr/>
        </p:nvSpPr>
        <p:spPr>
          <a:xfrm>
            <a:off x="502920" y="585216"/>
            <a:ext cx="7813766" cy="429763"/>
          </a:xfrm>
          <a:prstGeom prst="rect">
            <a:avLst/>
          </a:prstGeom>
          <a:noFill/>
          <a:ln/>
        </p:spPr>
        <p:txBody>
          <a:bodyPr wrap="square" lIns="0" tIns="0" rIns="0" bIns="0" rtlCol="0" anchor="ctr">
            <a:noAutofit/>
          </a:bodyPr>
          <a:lstStyle/>
          <a:p>
            <a:pPr marL="0" indent="0">
              <a:buNone/>
            </a:pPr>
            <a:r>
              <a:rPr lang="en-US" sz="2100" b="1" dirty="0">
                <a:solidFill>
                  <a:srgbClr val="132238"/>
                </a:solidFill>
              </a:rPr>
              <a:t>Test Performance</a:t>
            </a:r>
            <a:endParaRPr lang="en-US" sz="2100" dirty="0"/>
          </a:p>
        </p:txBody>
      </p:sp>
      <p:sp>
        <p:nvSpPr>
          <p:cNvPr id="4" name="Text 2"/>
          <p:cNvSpPr/>
          <p:nvPr/>
        </p:nvSpPr>
        <p:spPr>
          <a:xfrm>
            <a:off x="521208" y="1060704"/>
            <a:ext cx="6537960" cy="347472"/>
          </a:xfrm>
          <a:prstGeom prst="rect">
            <a:avLst/>
          </a:prstGeom>
          <a:noFill/>
          <a:ln/>
        </p:spPr>
        <p:txBody>
          <a:bodyPr wrap="square" lIns="0" tIns="0" rIns="0" bIns="0" rtlCol="0" anchor="ctr">
            <a:normAutofit/>
          </a:bodyPr>
          <a:lstStyle/>
          <a:p>
            <a:pPr marL="0" indent="0">
              <a:buNone/>
            </a:pPr>
            <a:r>
              <a:rPr lang="en-US" sz="1250" dirty="0">
                <a:solidFill>
                  <a:srgbClr val="637083"/>
                </a:solidFill>
              </a:rPr>
              <a:t>The model performed well on the internal test set, but errors cluster around meningioma cases.</a:t>
            </a:r>
            <a:endParaRPr lang="en-US" sz="1250" dirty="0"/>
          </a:p>
        </p:txBody>
      </p:sp>
      <p:sp>
        <p:nvSpPr>
          <p:cNvPr id="5" name="Shape 3"/>
          <p:cNvSpPr/>
          <p:nvPr/>
        </p:nvSpPr>
        <p:spPr>
          <a:xfrm>
            <a:off x="658368" y="1508760"/>
            <a:ext cx="1384188" cy="1005840"/>
          </a:xfrm>
          <a:prstGeom prst="roundRect">
            <a:avLst>
              <a:gd name="adj" fmla="val 7273"/>
            </a:avLst>
          </a:prstGeom>
          <a:solidFill>
            <a:srgbClr val="FFFFFF"/>
          </a:solidFill>
          <a:ln w="10160">
            <a:solidFill>
              <a:srgbClr val="D7DEE7"/>
            </a:solidFill>
            <a:prstDash val="solid"/>
          </a:ln>
        </p:spPr>
        <p:txBody>
          <a:bodyPr/>
          <a:lstStyle/>
          <a:p>
            <a:endParaRPr lang="en-US"/>
          </a:p>
        </p:txBody>
      </p:sp>
      <p:sp>
        <p:nvSpPr>
          <p:cNvPr id="6" name="Shape 4"/>
          <p:cNvSpPr/>
          <p:nvPr/>
        </p:nvSpPr>
        <p:spPr>
          <a:xfrm>
            <a:off x="658368" y="1508760"/>
            <a:ext cx="73152" cy="1005840"/>
          </a:xfrm>
          <a:prstGeom prst="rect">
            <a:avLst/>
          </a:prstGeom>
          <a:solidFill>
            <a:srgbClr val="2A9D8F"/>
          </a:solidFill>
          <a:ln w="12700">
            <a:solidFill>
              <a:srgbClr val="2A9D8F"/>
            </a:solidFill>
            <a:prstDash val="solid"/>
          </a:ln>
        </p:spPr>
        <p:txBody>
          <a:bodyPr/>
          <a:lstStyle/>
          <a:p>
            <a:endParaRPr lang="en-US"/>
          </a:p>
        </p:txBody>
      </p:sp>
      <p:sp>
        <p:nvSpPr>
          <p:cNvPr id="7" name="Text 5"/>
          <p:cNvSpPr/>
          <p:nvPr/>
        </p:nvSpPr>
        <p:spPr>
          <a:xfrm>
            <a:off x="841248" y="1655064"/>
            <a:ext cx="155448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99.2%</a:t>
            </a:r>
            <a:endParaRPr lang="en-US" sz="2100" dirty="0"/>
          </a:p>
        </p:txBody>
      </p:sp>
      <p:sp>
        <p:nvSpPr>
          <p:cNvPr id="8" name="Text 6"/>
          <p:cNvSpPr/>
          <p:nvPr/>
        </p:nvSpPr>
        <p:spPr>
          <a:xfrm>
            <a:off x="841248" y="2020824"/>
            <a:ext cx="155448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overall accuracy</a:t>
            </a:r>
            <a:endParaRPr lang="en-US" sz="950" dirty="0"/>
          </a:p>
          <a:p>
            <a:pPr marL="0" indent="0">
              <a:buNone/>
            </a:pPr>
            <a:r>
              <a:rPr lang="en-US" sz="950" dirty="0">
                <a:solidFill>
                  <a:srgbClr val="637083"/>
                </a:solidFill>
              </a:rPr>
              <a:t>95% CI: 98.4-99.6%</a:t>
            </a:r>
            <a:endParaRPr lang="en-US" sz="950" dirty="0"/>
          </a:p>
        </p:txBody>
      </p:sp>
      <p:sp>
        <p:nvSpPr>
          <p:cNvPr id="9" name="Shape 7"/>
          <p:cNvSpPr/>
          <p:nvPr/>
        </p:nvSpPr>
        <p:spPr>
          <a:xfrm>
            <a:off x="2269971" y="1508760"/>
            <a:ext cx="1294384" cy="1005840"/>
          </a:xfrm>
          <a:prstGeom prst="roundRect">
            <a:avLst>
              <a:gd name="adj" fmla="val 7273"/>
            </a:avLst>
          </a:prstGeom>
          <a:solidFill>
            <a:srgbClr val="FFFFFF"/>
          </a:solidFill>
          <a:ln w="10160">
            <a:solidFill>
              <a:srgbClr val="D7DEE7"/>
            </a:solidFill>
            <a:prstDash val="solid"/>
          </a:ln>
        </p:spPr>
        <p:txBody>
          <a:bodyPr/>
          <a:lstStyle/>
          <a:p>
            <a:endParaRPr lang="en-US"/>
          </a:p>
        </p:txBody>
      </p:sp>
      <p:sp>
        <p:nvSpPr>
          <p:cNvPr id="10" name="Shape 8"/>
          <p:cNvSpPr/>
          <p:nvPr/>
        </p:nvSpPr>
        <p:spPr>
          <a:xfrm>
            <a:off x="2269971" y="1508760"/>
            <a:ext cx="73152" cy="1005840"/>
          </a:xfrm>
          <a:prstGeom prst="rect">
            <a:avLst/>
          </a:prstGeom>
          <a:solidFill>
            <a:srgbClr val="2F6F9F"/>
          </a:solidFill>
          <a:ln w="12700">
            <a:solidFill>
              <a:srgbClr val="2F6F9F"/>
            </a:solidFill>
            <a:prstDash val="solid"/>
          </a:ln>
        </p:spPr>
        <p:txBody>
          <a:bodyPr/>
          <a:lstStyle/>
          <a:p>
            <a:endParaRPr lang="en-US"/>
          </a:p>
        </p:txBody>
      </p:sp>
      <p:sp>
        <p:nvSpPr>
          <p:cNvPr id="11" name="Text 9"/>
          <p:cNvSpPr/>
          <p:nvPr/>
        </p:nvSpPr>
        <p:spPr>
          <a:xfrm>
            <a:off x="2452851" y="1655064"/>
            <a:ext cx="155448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1.000</a:t>
            </a:r>
            <a:endParaRPr lang="en-US" sz="2100" dirty="0"/>
          </a:p>
        </p:txBody>
      </p:sp>
      <p:sp>
        <p:nvSpPr>
          <p:cNvPr id="12" name="Text 10"/>
          <p:cNvSpPr/>
          <p:nvPr/>
        </p:nvSpPr>
        <p:spPr>
          <a:xfrm>
            <a:off x="2452851" y="2020824"/>
            <a:ext cx="155448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ROC-AUC</a:t>
            </a:r>
            <a:endParaRPr lang="en-US" sz="950" dirty="0"/>
          </a:p>
          <a:p>
            <a:pPr marL="0" indent="0">
              <a:buNone/>
            </a:pPr>
            <a:r>
              <a:rPr lang="en-US" sz="950" dirty="0">
                <a:solidFill>
                  <a:srgbClr val="637083"/>
                </a:solidFill>
              </a:rPr>
              <a:t>all classes ≈ 1.00</a:t>
            </a:r>
            <a:endParaRPr lang="en-US" sz="950" dirty="0"/>
          </a:p>
        </p:txBody>
      </p:sp>
      <p:sp>
        <p:nvSpPr>
          <p:cNvPr id="13" name="Shape 11"/>
          <p:cNvSpPr/>
          <p:nvPr/>
        </p:nvSpPr>
        <p:spPr>
          <a:xfrm>
            <a:off x="3762817" y="1508760"/>
            <a:ext cx="1161288" cy="1005840"/>
          </a:xfrm>
          <a:prstGeom prst="roundRect">
            <a:avLst>
              <a:gd name="adj" fmla="val 7273"/>
            </a:avLst>
          </a:prstGeom>
          <a:solidFill>
            <a:srgbClr val="FFFFFF"/>
          </a:solidFill>
          <a:ln w="10160">
            <a:solidFill>
              <a:srgbClr val="D7DEE7"/>
            </a:solidFill>
            <a:prstDash val="solid"/>
          </a:ln>
        </p:spPr>
        <p:txBody>
          <a:bodyPr/>
          <a:lstStyle/>
          <a:p>
            <a:endParaRPr lang="en-US"/>
          </a:p>
        </p:txBody>
      </p:sp>
      <p:sp>
        <p:nvSpPr>
          <p:cNvPr id="14" name="Shape 12"/>
          <p:cNvSpPr/>
          <p:nvPr/>
        </p:nvSpPr>
        <p:spPr>
          <a:xfrm>
            <a:off x="3762817" y="1508760"/>
            <a:ext cx="73152" cy="1005840"/>
          </a:xfrm>
          <a:prstGeom prst="rect">
            <a:avLst/>
          </a:prstGeom>
          <a:solidFill>
            <a:srgbClr val="F4A261"/>
          </a:solidFill>
          <a:ln w="12700">
            <a:solidFill>
              <a:srgbClr val="F4A261"/>
            </a:solidFill>
            <a:prstDash val="solid"/>
          </a:ln>
        </p:spPr>
        <p:txBody>
          <a:bodyPr/>
          <a:lstStyle/>
          <a:p>
            <a:endParaRPr lang="en-US"/>
          </a:p>
        </p:txBody>
      </p:sp>
      <p:sp>
        <p:nvSpPr>
          <p:cNvPr id="15" name="Text 13"/>
          <p:cNvSpPr/>
          <p:nvPr/>
        </p:nvSpPr>
        <p:spPr>
          <a:xfrm>
            <a:off x="3910070" y="1655064"/>
            <a:ext cx="155448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0.0038</a:t>
            </a:r>
            <a:endParaRPr lang="en-US" sz="2100" dirty="0"/>
          </a:p>
        </p:txBody>
      </p:sp>
      <p:sp>
        <p:nvSpPr>
          <p:cNvPr id="16" name="Text 14"/>
          <p:cNvSpPr/>
          <p:nvPr/>
        </p:nvSpPr>
        <p:spPr>
          <a:xfrm>
            <a:off x="3910070" y="2020824"/>
            <a:ext cx="155448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Brier loss</a:t>
            </a:r>
            <a:endParaRPr lang="en-US" sz="950" dirty="0"/>
          </a:p>
          <a:p>
            <a:pPr marL="0" indent="0">
              <a:buNone/>
            </a:pPr>
            <a:r>
              <a:rPr lang="en-US" sz="950" dirty="0">
                <a:solidFill>
                  <a:srgbClr val="637083"/>
                </a:solidFill>
              </a:rPr>
              <a:t>lower is better</a:t>
            </a:r>
            <a:endParaRPr lang="en-US" sz="950" dirty="0"/>
          </a:p>
        </p:txBody>
      </p:sp>
      <p:sp>
        <p:nvSpPr>
          <p:cNvPr id="18" name="Text 15"/>
          <p:cNvSpPr/>
          <p:nvPr/>
        </p:nvSpPr>
        <p:spPr>
          <a:xfrm>
            <a:off x="658368" y="5970910"/>
            <a:ext cx="493776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Confusion matrix on held-out test set</a:t>
            </a:r>
            <a:endParaRPr lang="en-US" sz="1000" dirty="0"/>
          </a:p>
        </p:txBody>
      </p:sp>
      <p:pic>
        <p:nvPicPr>
          <p:cNvPr id="19" name="Image 1" descr="/mnt/data/4_2_roc_pr_curves_resnet_pretrained.png"/>
          <p:cNvPicPr>
            <a:picLocks noChangeAspect="1"/>
          </p:cNvPicPr>
          <p:nvPr/>
        </p:nvPicPr>
        <p:blipFill>
          <a:blip r:embed="rId3"/>
          <a:srcRect l="1825" r="1825"/>
          <a:stretch/>
        </p:blipFill>
        <p:spPr>
          <a:xfrm>
            <a:off x="5897880" y="1335024"/>
            <a:ext cx="5623560" cy="2212848"/>
          </a:xfrm>
          <a:prstGeom prst="rect">
            <a:avLst/>
          </a:prstGeom>
        </p:spPr>
      </p:pic>
      <p:sp>
        <p:nvSpPr>
          <p:cNvPr id="20" name="Text 16"/>
          <p:cNvSpPr/>
          <p:nvPr/>
        </p:nvSpPr>
        <p:spPr>
          <a:xfrm>
            <a:off x="5897880" y="3749040"/>
            <a:ext cx="562356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ROC and precision-recall curves</a:t>
            </a:r>
            <a:endParaRPr lang="en-US" sz="1000" dirty="0"/>
          </a:p>
        </p:txBody>
      </p:sp>
      <p:sp>
        <p:nvSpPr>
          <p:cNvPr id="22" name="Text 17"/>
          <p:cNvSpPr/>
          <p:nvPr/>
        </p:nvSpPr>
        <p:spPr>
          <a:xfrm>
            <a:off x="5673852" y="6190488"/>
            <a:ext cx="2743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Calibration curve</a:t>
            </a:r>
            <a:endParaRPr lang="en-US" sz="1000" dirty="0"/>
          </a:p>
        </p:txBody>
      </p:sp>
      <p:sp>
        <p:nvSpPr>
          <p:cNvPr id="23" name="Shape 18"/>
          <p:cNvSpPr/>
          <p:nvPr/>
        </p:nvSpPr>
        <p:spPr>
          <a:xfrm>
            <a:off x="8316686" y="4069080"/>
            <a:ext cx="3204754" cy="1874520"/>
          </a:xfrm>
          <a:prstGeom prst="roundRect">
            <a:avLst>
              <a:gd name="adj" fmla="val 3902"/>
            </a:avLst>
          </a:prstGeom>
          <a:solidFill>
            <a:srgbClr val="FFFFFF"/>
          </a:solidFill>
          <a:ln w="12700">
            <a:solidFill>
              <a:srgbClr val="D7DEE7"/>
            </a:solidFill>
            <a:prstDash val="solid"/>
          </a:ln>
        </p:spPr>
        <p:txBody>
          <a:bodyPr/>
          <a:lstStyle/>
          <a:p>
            <a:endParaRPr lang="en-US"/>
          </a:p>
        </p:txBody>
      </p:sp>
      <p:sp>
        <p:nvSpPr>
          <p:cNvPr id="24" name="Text 19"/>
          <p:cNvSpPr/>
          <p:nvPr/>
        </p:nvSpPr>
        <p:spPr>
          <a:xfrm>
            <a:off x="8503920" y="4110594"/>
            <a:ext cx="2770632" cy="232806"/>
          </a:xfrm>
          <a:prstGeom prst="rect">
            <a:avLst/>
          </a:prstGeom>
          <a:noFill/>
          <a:ln/>
        </p:spPr>
        <p:txBody>
          <a:bodyPr wrap="square" lIns="0" tIns="0" rIns="0" bIns="0" rtlCol="0" anchor="ctr"/>
          <a:lstStyle/>
          <a:p>
            <a:pPr marL="0" indent="0">
              <a:buNone/>
            </a:pPr>
            <a:r>
              <a:rPr lang="en-US" b="1" dirty="0">
                <a:solidFill>
                  <a:srgbClr val="132238"/>
                </a:solidFill>
              </a:rPr>
              <a:t>Assessment</a:t>
            </a:r>
            <a:endParaRPr lang="en-US" dirty="0"/>
          </a:p>
        </p:txBody>
      </p:sp>
      <p:sp>
        <p:nvSpPr>
          <p:cNvPr id="25" name="Text 20"/>
          <p:cNvSpPr/>
          <p:nvPr/>
        </p:nvSpPr>
        <p:spPr>
          <a:xfrm>
            <a:off x="8503920" y="4407408"/>
            <a:ext cx="3017520" cy="1444752"/>
          </a:xfrm>
          <a:prstGeom prst="rect">
            <a:avLst/>
          </a:prstGeom>
          <a:noFill/>
          <a:ln/>
        </p:spPr>
        <p:txBody>
          <a:bodyPr wrap="square" lIns="254" tIns="254" rIns="254" bIns="254" rtlCol="0" anchor="t">
            <a:normAutofit/>
          </a:bodyPr>
          <a:lstStyle/>
          <a:p>
            <a:pPr marL="152400" indent="-152400">
              <a:buSzPct val="100000"/>
              <a:buChar char="•"/>
            </a:pPr>
            <a:r>
              <a:rPr lang="en-US" sz="1200" dirty="0">
                <a:solidFill>
                  <a:srgbClr val="263238"/>
                </a:solidFill>
              </a:rPr>
              <a:t>Errors are rare but clinically meaningful.</a:t>
            </a:r>
            <a:endParaRPr lang="en-US" sz="1200" dirty="0"/>
          </a:p>
          <a:p>
            <a:pPr marL="152400" indent="-152400">
              <a:buSzPct val="100000"/>
              <a:buChar char="•"/>
            </a:pPr>
            <a:r>
              <a:rPr lang="en-US" sz="1200" dirty="0">
                <a:solidFill>
                  <a:srgbClr val="263238"/>
                </a:solidFill>
              </a:rPr>
              <a:t>Confidence is often very high, so calibration must be monitored.</a:t>
            </a:r>
            <a:endParaRPr lang="en-US" sz="1200" dirty="0"/>
          </a:p>
          <a:p>
            <a:pPr marL="152400" indent="-152400">
              <a:buSzPct val="100000"/>
              <a:buChar char="•"/>
            </a:pPr>
            <a:r>
              <a:rPr lang="en-US" sz="1200" dirty="0">
                <a:solidFill>
                  <a:srgbClr val="263238"/>
                </a:solidFill>
              </a:rPr>
              <a:t>External validation is still required.</a:t>
            </a:r>
            <a:endParaRPr lang="en-US" sz="1200" dirty="0"/>
          </a:p>
        </p:txBody>
      </p:sp>
      <p:sp>
        <p:nvSpPr>
          <p:cNvPr id="26" name="Shape 21"/>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27" name="Text 22"/>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3 of 5 | Results</a:t>
            </a:r>
            <a:endParaRPr lang="en-US" sz="750" dirty="0"/>
          </a:p>
        </p:txBody>
      </p:sp>
      <p:sp>
        <p:nvSpPr>
          <p:cNvPr id="28" name="Text 23"/>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pic>
        <p:nvPicPr>
          <p:cNvPr id="30" name="Picture 29">
            <a:extLst>
              <a:ext uri="{FF2B5EF4-FFF2-40B4-BE49-F238E27FC236}">
                <a16:creationId xmlns:a16="http://schemas.microsoft.com/office/drawing/2014/main" id="{45CD75F9-13A8-2551-F54C-ECD526E17CD4}"/>
              </a:ext>
            </a:extLst>
          </p:cNvPr>
          <p:cNvPicPr>
            <a:picLocks noChangeAspect="1"/>
          </p:cNvPicPr>
          <p:nvPr/>
        </p:nvPicPr>
        <p:blipFill>
          <a:blip r:embed="rId4"/>
          <a:stretch>
            <a:fillRect/>
          </a:stretch>
        </p:blipFill>
        <p:spPr>
          <a:xfrm>
            <a:off x="1167892" y="2766077"/>
            <a:ext cx="3918712" cy="3149969"/>
          </a:xfrm>
          <a:prstGeom prst="rect">
            <a:avLst/>
          </a:prstGeom>
        </p:spPr>
      </p:pic>
      <p:pic>
        <p:nvPicPr>
          <p:cNvPr id="32" name="Picture 31">
            <a:extLst>
              <a:ext uri="{FF2B5EF4-FFF2-40B4-BE49-F238E27FC236}">
                <a16:creationId xmlns:a16="http://schemas.microsoft.com/office/drawing/2014/main" id="{758A6190-481D-7D18-52D0-C026C34300B7}"/>
              </a:ext>
            </a:extLst>
          </p:cNvPr>
          <p:cNvPicPr>
            <a:picLocks noChangeAspect="1"/>
          </p:cNvPicPr>
          <p:nvPr/>
        </p:nvPicPr>
        <p:blipFill>
          <a:blip r:embed="rId5"/>
          <a:stretch>
            <a:fillRect/>
          </a:stretch>
        </p:blipFill>
        <p:spPr>
          <a:xfrm>
            <a:off x="5897880" y="3998565"/>
            <a:ext cx="2155848" cy="21507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2AD6F-ED6E-8C4D-D7A5-8D45F42A8AF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FBFCF6-1F7E-DC18-7468-8C6895717544}"/>
              </a:ext>
            </a:extLst>
          </p:cNvPr>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RESULTS</a:t>
            </a:r>
            <a:endParaRPr lang="en-US" sz="1000" dirty="0"/>
          </a:p>
        </p:txBody>
      </p:sp>
      <p:sp>
        <p:nvSpPr>
          <p:cNvPr id="3" name="Text 1">
            <a:extLst>
              <a:ext uri="{FF2B5EF4-FFF2-40B4-BE49-F238E27FC236}">
                <a16:creationId xmlns:a16="http://schemas.microsoft.com/office/drawing/2014/main" id="{B9CB259E-9813-03AD-D646-398032025CE0}"/>
              </a:ext>
            </a:extLst>
          </p:cNvPr>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500" b="1" dirty="0">
                <a:solidFill>
                  <a:srgbClr val="132238"/>
                </a:solidFill>
              </a:rPr>
              <a:t>Interpretability</a:t>
            </a:r>
            <a:endParaRPr lang="en-US" sz="2500" dirty="0"/>
          </a:p>
        </p:txBody>
      </p:sp>
      <p:sp>
        <p:nvSpPr>
          <p:cNvPr id="4" name="Text 2">
            <a:extLst>
              <a:ext uri="{FF2B5EF4-FFF2-40B4-BE49-F238E27FC236}">
                <a16:creationId xmlns:a16="http://schemas.microsoft.com/office/drawing/2014/main" id="{E7279BA4-03F8-6161-706B-B856E6327C37}"/>
              </a:ext>
            </a:extLst>
          </p:cNvPr>
          <p:cNvSpPr/>
          <p:nvPr/>
        </p:nvSpPr>
        <p:spPr>
          <a:xfrm>
            <a:off x="521208" y="1060703"/>
            <a:ext cx="7742114" cy="411469"/>
          </a:xfrm>
          <a:prstGeom prst="rect">
            <a:avLst/>
          </a:prstGeom>
          <a:noFill/>
          <a:ln/>
        </p:spPr>
        <p:txBody>
          <a:bodyPr wrap="square" lIns="0" tIns="0" rIns="0" bIns="0" rtlCol="0" anchor="ctr">
            <a:normAutofit/>
          </a:bodyPr>
          <a:lstStyle/>
          <a:p>
            <a:pPr marL="0" indent="0">
              <a:buNone/>
            </a:pPr>
            <a:r>
              <a:rPr lang="en-US" sz="1250" dirty="0">
                <a:solidFill>
                  <a:srgbClr val="637083"/>
                </a:solidFill>
              </a:rPr>
              <a:t>Grad-CAM and occlusion were used to test whether the model looked at clinically reasonable regions.</a:t>
            </a:r>
            <a:endParaRPr lang="en-US" sz="1250" dirty="0"/>
          </a:p>
        </p:txBody>
      </p:sp>
      <p:sp>
        <p:nvSpPr>
          <p:cNvPr id="6" name="Text 3">
            <a:extLst>
              <a:ext uri="{FF2B5EF4-FFF2-40B4-BE49-F238E27FC236}">
                <a16:creationId xmlns:a16="http://schemas.microsoft.com/office/drawing/2014/main" id="{FBFAA91C-E39D-ED22-A695-92A74C02F0DE}"/>
              </a:ext>
            </a:extLst>
          </p:cNvPr>
          <p:cNvSpPr/>
          <p:nvPr/>
        </p:nvSpPr>
        <p:spPr>
          <a:xfrm>
            <a:off x="640080" y="3867912"/>
            <a:ext cx="5212080" cy="164592"/>
          </a:xfrm>
          <a:prstGeom prst="rect">
            <a:avLst/>
          </a:prstGeom>
          <a:noFill/>
          <a:ln/>
        </p:spPr>
        <p:txBody>
          <a:bodyPr wrap="square" lIns="0" tIns="0" rIns="0" bIns="0" rtlCol="0" anchor="ctr">
            <a:normAutofit/>
          </a:bodyPr>
          <a:lstStyle/>
          <a:p>
            <a:pPr marL="0" indent="0" algn="ctr">
              <a:buNone/>
            </a:pPr>
            <a:r>
              <a:rPr lang="en-US" sz="750" dirty="0">
                <a:solidFill>
                  <a:srgbClr val="637083"/>
                </a:solidFill>
              </a:rPr>
              <a:t>Occlusion sensitivity examples</a:t>
            </a:r>
            <a:endParaRPr lang="en-US" sz="750" dirty="0"/>
          </a:p>
        </p:txBody>
      </p:sp>
      <p:sp>
        <p:nvSpPr>
          <p:cNvPr id="8" name="Text 4">
            <a:extLst>
              <a:ext uri="{FF2B5EF4-FFF2-40B4-BE49-F238E27FC236}">
                <a16:creationId xmlns:a16="http://schemas.microsoft.com/office/drawing/2014/main" id="{CD61AC67-D11E-FED8-647B-250EB6574D67}"/>
              </a:ext>
            </a:extLst>
          </p:cNvPr>
          <p:cNvSpPr/>
          <p:nvPr/>
        </p:nvSpPr>
        <p:spPr>
          <a:xfrm>
            <a:off x="6080760" y="3867912"/>
            <a:ext cx="5440680" cy="164592"/>
          </a:xfrm>
          <a:prstGeom prst="rect">
            <a:avLst/>
          </a:prstGeom>
          <a:noFill/>
          <a:ln/>
        </p:spPr>
        <p:txBody>
          <a:bodyPr wrap="square" lIns="0" tIns="0" rIns="0" bIns="0" rtlCol="0" anchor="ctr">
            <a:normAutofit/>
          </a:bodyPr>
          <a:lstStyle/>
          <a:p>
            <a:pPr marL="0" indent="0" algn="ctr">
              <a:buNone/>
            </a:pPr>
            <a:r>
              <a:rPr lang="en-US" sz="750" dirty="0">
                <a:solidFill>
                  <a:srgbClr val="637083"/>
                </a:solidFill>
              </a:rPr>
              <a:t>Grad-CAM / Grad-CAM++ comparison</a:t>
            </a:r>
            <a:endParaRPr lang="en-US" sz="750" dirty="0"/>
          </a:p>
        </p:txBody>
      </p:sp>
      <p:sp>
        <p:nvSpPr>
          <p:cNvPr id="10" name="Text 5">
            <a:extLst>
              <a:ext uri="{FF2B5EF4-FFF2-40B4-BE49-F238E27FC236}">
                <a16:creationId xmlns:a16="http://schemas.microsoft.com/office/drawing/2014/main" id="{A1281B0E-A186-9EAC-2009-34570CC84B3B}"/>
              </a:ext>
            </a:extLst>
          </p:cNvPr>
          <p:cNvSpPr/>
          <p:nvPr/>
        </p:nvSpPr>
        <p:spPr>
          <a:xfrm>
            <a:off x="1631357" y="5431548"/>
            <a:ext cx="3886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Grad-CAM on test dataset</a:t>
            </a:r>
            <a:endParaRPr lang="en-US" sz="1000" dirty="0"/>
          </a:p>
        </p:txBody>
      </p:sp>
      <p:sp>
        <p:nvSpPr>
          <p:cNvPr id="17" name="Shape 12">
            <a:extLst>
              <a:ext uri="{FF2B5EF4-FFF2-40B4-BE49-F238E27FC236}">
                <a16:creationId xmlns:a16="http://schemas.microsoft.com/office/drawing/2014/main" id="{8F653B61-72E4-820B-0D35-2EA0D429554D}"/>
              </a:ext>
            </a:extLst>
          </p:cNvPr>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18" name="Text 13">
            <a:extLst>
              <a:ext uri="{FF2B5EF4-FFF2-40B4-BE49-F238E27FC236}">
                <a16:creationId xmlns:a16="http://schemas.microsoft.com/office/drawing/2014/main" id="{2ECE8361-08CD-8C9E-EE77-CF955A3396BD}"/>
              </a:ext>
            </a:extLst>
          </p:cNvPr>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3 of 5 | Results</a:t>
            </a:r>
            <a:endParaRPr lang="en-US" sz="750" dirty="0"/>
          </a:p>
        </p:txBody>
      </p:sp>
      <p:sp>
        <p:nvSpPr>
          <p:cNvPr id="19" name="Text 14">
            <a:extLst>
              <a:ext uri="{FF2B5EF4-FFF2-40B4-BE49-F238E27FC236}">
                <a16:creationId xmlns:a16="http://schemas.microsoft.com/office/drawing/2014/main" id="{27AA8EBF-CD28-FFDA-3DED-34FCB46F47F1}"/>
              </a:ext>
            </a:extLst>
          </p:cNvPr>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pic>
        <p:nvPicPr>
          <p:cNvPr id="14" name="Picture 13">
            <a:extLst>
              <a:ext uri="{FF2B5EF4-FFF2-40B4-BE49-F238E27FC236}">
                <a16:creationId xmlns:a16="http://schemas.microsoft.com/office/drawing/2014/main" id="{21634926-4C4C-93B6-3A65-ED478B395BF2}"/>
              </a:ext>
            </a:extLst>
          </p:cNvPr>
          <p:cNvPicPr>
            <a:picLocks noChangeAspect="1"/>
          </p:cNvPicPr>
          <p:nvPr/>
        </p:nvPicPr>
        <p:blipFill>
          <a:blip r:embed="rId3"/>
          <a:srcRect t="7323"/>
          <a:stretch>
            <a:fillRect/>
          </a:stretch>
        </p:blipFill>
        <p:spPr>
          <a:xfrm>
            <a:off x="816694" y="1747751"/>
            <a:ext cx="5515526" cy="3683797"/>
          </a:xfrm>
          <a:prstGeom prst="rect">
            <a:avLst/>
          </a:prstGeom>
        </p:spPr>
      </p:pic>
      <p:pic>
        <p:nvPicPr>
          <p:cNvPr id="16" name="Picture 15">
            <a:extLst>
              <a:ext uri="{FF2B5EF4-FFF2-40B4-BE49-F238E27FC236}">
                <a16:creationId xmlns:a16="http://schemas.microsoft.com/office/drawing/2014/main" id="{4E80340F-FE60-5D77-5AFE-1B64391D4C81}"/>
              </a:ext>
            </a:extLst>
          </p:cNvPr>
          <p:cNvPicPr>
            <a:picLocks noChangeAspect="1"/>
          </p:cNvPicPr>
          <p:nvPr/>
        </p:nvPicPr>
        <p:blipFill>
          <a:blip r:embed="rId4"/>
          <a:srcRect t="6293"/>
          <a:stretch>
            <a:fillRect/>
          </a:stretch>
        </p:blipFill>
        <p:spPr>
          <a:xfrm>
            <a:off x="6560820" y="1657685"/>
            <a:ext cx="5120640" cy="4173565"/>
          </a:xfrm>
          <a:prstGeom prst="rect">
            <a:avLst/>
          </a:prstGeom>
        </p:spPr>
      </p:pic>
      <p:sp>
        <p:nvSpPr>
          <p:cNvPr id="5" name="Text 5">
            <a:extLst>
              <a:ext uri="{FF2B5EF4-FFF2-40B4-BE49-F238E27FC236}">
                <a16:creationId xmlns:a16="http://schemas.microsoft.com/office/drawing/2014/main" id="{B150777F-818D-4E23-F601-DF90C1764677}"/>
              </a:ext>
            </a:extLst>
          </p:cNvPr>
          <p:cNvSpPr/>
          <p:nvPr/>
        </p:nvSpPr>
        <p:spPr>
          <a:xfrm>
            <a:off x="7132320" y="5921764"/>
            <a:ext cx="3886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Occlusion on test dataset</a:t>
            </a:r>
            <a:endParaRPr lang="en-US" sz="1000" dirty="0"/>
          </a:p>
        </p:txBody>
      </p:sp>
    </p:spTree>
    <p:extLst>
      <p:ext uri="{BB962C8B-B14F-4D97-AF65-F5344CB8AC3E}">
        <p14:creationId xmlns:p14="http://schemas.microsoft.com/office/powerpoint/2010/main" val="1984127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D982A-EE76-0F10-4EB8-2CF2477EEC9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ED5A460-D009-F9F4-4BF1-88F89BED2D03}"/>
              </a:ext>
            </a:extLst>
          </p:cNvPr>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RESULTS</a:t>
            </a:r>
            <a:endParaRPr lang="en-US" sz="1000" dirty="0"/>
          </a:p>
        </p:txBody>
      </p:sp>
      <p:sp>
        <p:nvSpPr>
          <p:cNvPr id="3" name="Text 1">
            <a:extLst>
              <a:ext uri="{FF2B5EF4-FFF2-40B4-BE49-F238E27FC236}">
                <a16:creationId xmlns:a16="http://schemas.microsoft.com/office/drawing/2014/main" id="{44FD578F-876F-6F3B-C42B-E00372643826}"/>
              </a:ext>
            </a:extLst>
          </p:cNvPr>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500" b="1" dirty="0">
                <a:solidFill>
                  <a:srgbClr val="132238"/>
                </a:solidFill>
              </a:rPr>
              <a:t>Interpretability</a:t>
            </a:r>
            <a:endParaRPr lang="en-US" sz="2500" dirty="0"/>
          </a:p>
        </p:txBody>
      </p:sp>
      <p:sp>
        <p:nvSpPr>
          <p:cNvPr id="4" name="Text 2">
            <a:extLst>
              <a:ext uri="{FF2B5EF4-FFF2-40B4-BE49-F238E27FC236}">
                <a16:creationId xmlns:a16="http://schemas.microsoft.com/office/drawing/2014/main" id="{2A7AE94D-107B-0503-CD07-C9DD1C2CDFCE}"/>
              </a:ext>
            </a:extLst>
          </p:cNvPr>
          <p:cNvSpPr/>
          <p:nvPr/>
        </p:nvSpPr>
        <p:spPr>
          <a:xfrm>
            <a:off x="521208" y="1060703"/>
            <a:ext cx="7742114" cy="411469"/>
          </a:xfrm>
          <a:prstGeom prst="rect">
            <a:avLst/>
          </a:prstGeom>
          <a:noFill/>
          <a:ln/>
        </p:spPr>
        <p:txBody>
          <a:bodyPr wrap="square" lIns="0" tIns="0" rIns="0" bIns="0" rtlCol="0" anchor="ctr">
            <a:normAutofit/>
          </a:bodyPr>
          <a:lstStyle/>
          <a:p>
            <a:pPr marL="0" indent="0">
              <a:buNone/>
            </a:pPr>
            <a:r>
              <a:rPr lang="en-US" sz="1250" dirty="0">
                <a:solidFill>
                  <a:srgbClr val="637083"/>
                </a:solidFill>
              </a:rPr>
              <a:t>Grad-CAM and occlusion were used to test whether the model looked at clinically reasonable regions.</a:t>
            </a:r>
            <a:endParaRPr lang="en-US" sz="1250" dirty="0"/>
          </a:p>
        </p:txBody>
      </p:sp>
      <p:sp>
        <p:nvSpPr>
          <p:cNvPr id="10" name="Text 5">
            <a:extLst>
              <a:ext uri="{FF2B5EF4-FFF2-40B4-BE49-F238E27FC236}">
                <a16:creationId xmlns:a16="http://schemas.microsoft.com/office/drawing/2014/main" id="{30EC90ED-A911-EF51-F53D-D6C4AD22B07E}"/>
              </a:ext>
            </a:extLst>
          </p:cNvPr>
          <p:cNvSpPr/>
          <p:nvPr/>
        </p:nvSpPr>
        <p:spPr>
          <a:xfrm>
            <a:off x="5943112" y="5133253"/>
            <a:ext cx="3886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Correct vs misclassified examples</a:t>
            </a:r>
            <a:endParaRPr lang="en-US" sz="1000" dirty="0"/>
          </a:p>
        </p:txBody>
      </p:sp>
      <p:sp>
        <p:nvSpPr>
          <p:cNvPr id="17" name="Shape 12">
            <a:extLst>
              <a:ext uri="{FF2B5EF4-FFF2-40B4-BE49-F238E27FC236}">
                <a16:creationId xmlns:a16="http://schemas.microsoft.com/office/drawing/2014/main" id="{1D678637-B7D9-E106-4DB3-3D45C256229A}"/>
              </a:ext>
            </a:extLst>
          </p:cNvPr>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18" name="Text 13">
            <a:extLst>
              <a:ext uri="{FF2B5EF4-FFF2-40B4-BE49-F238E27FC236}">
                <a16:creationId xmlns:a16="http://schemas.microsoft.com/office/drawing/2014/main" id="{532AA961-5D14-EAFB-6AC9-7B420A884558}"/>
              </a:ext>
            </a:extLst>
          </p:cNvPr>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3 of 5 | Results</a:t>
            </a:r>
            <a:endParaRPr lang="en-US" sz="750" dirty="0"/>
          </a:p>
        </p:txBody>
      </p:sp>
      <p:sp>
        <p:nvSpPr>
          <p:cNvPr id="19" name="Text 14">
            <a:extLst>
              <a:ext uri="{FF2B5EF4-FFF2-40B4-BE49-F238E27FC236}">
                <a16:creationId xmlns:a16="http://schemas.microsoft.com/office/drawing/2014/main" id="{F4D3DD82-EF1F-0AB9-A24C-51EF088B5255}"/>
              </a:ext>
            </a:extLst>
          </p:cNvPr>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pic>
        <p:nvPicPr>
          <p:cNvPr id="12" name="Picture 11">
            <a:extLst>
              <a:ext uri="{FF2B5EF4-FFF2-40B4-BE49-F238E27FC236}">
                <a16:creationId xmlns:a16="http://schemas.microsoft.com/office/drawing/2014/main" id="{C77108D2-969E-4108-D642-1BFD7C9F4401}"/>
              </a:ext>
            </a:extLst>
          </p:cNvPr>
          <p:cNvPicPr>
            <a:picLocks noChangeAspect="1"/>
          </p:cNvPicPr>
          <p:nvPr/>
        </p:nvPicPr>
        <p:blipFill>
          <a:blip r:embed="rId3"/>
          <a:srcRect r="50417"/>
          <a:stretch>
            <a:fillRect/>
          </a:stretch>
        </p:blipFill>
        <p:spPr>
          <a:xfrm>
            <a:off x="602765" y="1656847"/>
            <a:ext cx="3310543" cy="3326639"/>
          </a:xfrm>
          <a:prstGeom prst="rect">
            <a:avLst/>
          </a:prstGeom>
        </p:spPr>
      </p:pic>
      <p:pic>
        <p:nvPicPr>
          <p:cNvPr id="22" name="Picture 21">
            <a:extLst>
              <a:ext uri="{FF2B5EF4-FFF2-40B4-BE49-F238E27FC236}">
                <a16:creationId xmlns:a16="http://schemas.microsoft.com/office/drawing/2014/main" id="{403E671F-E35E-9582-DA9A-1961F9C8FA32}"/>
              </a:ext>
            </a:extLst>
          </p:cNvPr>
          <p:cNvPicPr>
            <a:picLocks noChangeAspect="1"/>
          </p:cNvPicPr>
          <p:nvPr/>
        </p:nvPicPr>
        <p:blipFill>
          <a:blip r:embed="rId4"/>
          <a:stretch>
            <a:fillRect/>
          </a:stretch>
        </p:blipFill>
        <p:spPr>
          <a:xfrm>
            <a:off x="4526279" y="1560155"/>
            <a:ext cx="6719867" cy="3423328"/>
          </a:xfrm>
          <a:prstGeom prst="rect">
            <a:avLst/>
          </a:prstGeom>
        </p:spPr>
      </p:pic>
      <p:sp>
        <p:nvSpPr>
          <p:cNvPr id="23" name="Text 5">
            <a:extLst>
              <a:ext uri="{FF2B5EF4-FFF2-40B4-BE49-F238E27FC236}">
                <a16:creationId xmlns:a16="http://schemas.microsoft.com/office/drawing/2014/main" id="{10D75785-AC4D-0422-46F3-DC50BA2B0C20}"/>
              </a:ext>
            </a:extLst>
          </p:cNvPr>
          <p:cNvSpPr/>
          <p:nvPr/>
        </p:nvSpPr>
        <p:spPr>
          <a:xfrm>
            <a:off x="314936" y="5133253"/>
            <a:ext cx="3886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Filters</a:t>
            </a:r>
            <a:endParaRPr lang="en-US" sz="1000" dirty="0"/>
          </a:p>
        </p:txBody>
      </p:sp>
    </p:spTree>
    <p:extLst>
      <p:ext uri="{BB962C8B-B14F-4D97-AF65-F5344CB8AC3E}">
        <p14:creationId xmlns:p14="http://schemas.microsoft.com/office/powerpoint/2010/main" val="3212063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FIELD GUIDE HIGHLIGHTS</a:t>
            </a:r>
            <a:endParaRPr lang="en-US" sz="1000" dirty="0"/>
          </a:p>
        </p:txBody>
      </p:sp>
      <p:sp>
        <p:nvSpPr>
          <p:cNvPr id="3" name="Text 1"/>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100" b="1" dirty="0">
                <a:solidFill>
                  <a:srgbClr val="132238"/>
                </a:solidFill>
              </a:rPr>
              <a:t>The Governance</a:t>
            </a:r>
            <a:endParaRPr lang="en-US" sz="2100" dirty="0"/>
          </a:p>
        </p:txBody>
      </p:sp>
      <p:sp>
        <p:nvSpPr>
          <p:cNvPr id="4" name="Text 2"/>
          <p:cNvSpPr/>
          <p:nvPr/>
        </p:nvSpPr>
        <p:spPr>
          <a:xfrm>
            <a:off x="521208" y="1060704"/>
            <a:ext cx="6537960" cy="347472"/>
          </a:xfrm>
          <a:prstGeom prst="rect">
            <a:avLst/>
          </a:prstGeom>
          <a:noFill/>
          <a:ln/>
        </p:spPr>
        <p:txBody>
          <a:bodyPr wrap="square" lIns="0" tIns="0" rIns="0" bIns="0" rtlCol="0" anchor="ctr">
            <a:normAutofit/>
          </a:bodyPr>
          <a:lstStyle/>
          <a:p>
            <a:pPr marL="0" indent="0">
              <a:buNone/>
            </a:pPr>
            <a:endParaRPr lang="en-US" sz="1250" dirty="0"/>
          </a:p>
        </p:txBody>
      </p:sp>
      <p:sp>
        <p:nvSpPr>
          <p:cNvPr id="5" name="Shape 3"/>
          <p:cNvSpPr/>
          <p:nvPr/>
        </p:nvSpPr>
        <p:spPr>
          <a:xfrm>
            <a:off x="1234440" y="2240280"/>
            <a:ext cx="9418320" cy="0"/>
          </a:xfrm>
          <a:prstGeom prst="line">
            <a:avLst/>
          </a:prstGeom>
          <a:noFill/>
          <a:ln w="25400">
            <a:solidFill>
              <a:srgbClr val="C8D4DF"/>
            </a:solidFill>
            <a:prstDash val="solid"/>
          </a:ln>
        </p:spPr>
        <p:txBody>
          <a:bodyPr/>
          <a:lstStyle/>
          <a:p>
            <a:endParaRPr lang="en-US"/>
          </a:p>
        </p:txBody>
      </p:sp>
      <p:sp>
        <p:nvSpPr>
          <p:cNvPr id="6" name="Shape 4"/>
          <p:cNvSpPr/>
          <p:nvPr/>
        </p:nvSpPr>
        <p:spPr>
          <a:xfrm>
            <a:off x="1408176" y="1673352"/>
            <a:ext cx="585216" cy="585216"/>
          </a:xfrm>
          <a:prstGeom prst="ellipse">
            <a:avLst/>
          </a:prstGeom>
          <a:solidFill>
            <a:srgbClr val="2F6F9F"/>
          </a:solidFill>
          <a:ln w="12700">
            <a:solidFill>
              <a:srgbClr val="2F6F9F"/>
            </a:solidFill>
            <a:prstDash val="solid"/>
          </a:ln>
        </p:spPr>
        <p:txBody>
          <a:bodyPr/>
          <a:lstStyle/>
          <a:p>
            <a:endParaRPr lang="en-US"/>
          </a:p>
        </p:txBody>
      </p:sp>
      <p:sp>
        <p:nvSpPr>
          <p:cNvPr id="7" name="Text 5"/>
          <p:cNvSpPr/>
          <p:nvPr/>
        </p:nvSpPr>
        <p:spPr>
          <a:xfrm>
            <a:off x="1408176" y="1801368"/>
            <a:ext cx="585216"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Shape 6"/>
          <p:cNvSpPr/>
          <p:nvPr/>
        </p:nvSpPr>
        <p:spPr>
          <a:xfrm>
            <a:off x="658368" y="2487168"/>
            <a:ext cx="2423160" cy="2148840"/>
          </a:xfrm>
          <a:prstGeom prst="roundRect">
            <a:avLst>
              <a:gd name="adj" fmla="val 3404"/>
            </a:avLst>
          </a:prstGeom>
          <a:solidFill>
            <a:srgbClr val="FFFFFF"/>
          </a:solidFill>
          <a:ln w="12700">
            <a:solidFill>
              <a:srgbClr val="D7DEE7"/>
            </a:solidFill>
            <a:prstDash val="solid"/>
          </a:ln>
        </p:spPr>
        <p:txBody>
          <a:bodyPr/>
          <a:lstStyle/>
          <a:p>
            <a:endParaRPr lang="en-US"/>
          </a:p>
        </p:txBody>
      </p:sp>
      <p:sp>
        <p:nvSpPr>
          <p:cNvPr id="9" name="Text 7"/>
          <p:cNvSpPr/>
          <p:nvPr/>
        </p:nvSpPr>
        <p:spPr>
          <a:xfrm>
            <a:off x="841248" y="2697480"/>
            <a:ext cx="2057400" cy="292608"/>
          </a:xfrm>
          <a:prstGeom prst="rect">
            <a:avLst/>
          </a:prstGeom>
          <a:noFill/>
          <a:ln/>
        </p:spPr>
        <p:txBody>
          <a:bodyPr wrap="square" lIns="0" tIns="0" rIns="0" bIns="0" rtlCol="0" anchor="ctr">
            <a:normAutofit/>
          </a:bodyPr>
          <a:lstStyle/>
          <a:p>
            <a:pPr marL="0" indent="0">
              <a:buNone/>
            </a:pPr>
            <a:r>
              <a:rPr lang="en-US" sz="1400" b="1" dirty="0">
                <a:solidFill>
                  <a:srgbClr val="132238"/>
                </a:solidFill>
              </a:rPr>
              <a:t>Acceptance testing</a:t>
            </a:r>
            <a:endParaRPr lang="en-US" sz="1400" dirty="0"/>
          </a:p>
        </p:txBody>
      </p:sp>
      <p:sp>
        <p:nvSpPr>
          <p:cNvPr id="10" name="Text 8"/>
          <p:cNvSpPr/>
          <p:nvPr/>
        </p:nvSpPr>
        <p:spPr>
          <a:xfrm>
            <a:off x="841248" y="3108960"/>
            <a:ext cx="2057400" cy="1024128"/>
          </a:xfrm>
          <a:prstGeom prst="rect">
            <a:avLst/>
          </a:prstGeom>
          <a:noFill/>
          <a:ln/>
        </p:spPr>
        <p:txBody>
          <a:bodyPr wrap="square" lIns="254" tIns="254" rIns="254" bIns="254" rtlCol="0" anchor="t">
            <a:normAutofit/>
          </a:bodyPr>
          <a:lstStyle/>
          <a:p>
            <a:pPr marL="0" indent="0">
              <a:buNone/>
            </a:pPr>
            <a:r>
              <a:rPr lang="en-US" sz="1200" dirty="0">
                <a:solidFill>
                  <a:srgbClr val="263238"/>
                </a:solidFill>
              </a:rPr>
              <a:t>Local validation before use</a:t>
            </a:r>
            <a:endParaRPr lang="en-US" sz="1200" dirty="0"/>
          </a:p>
          <a:p>
            <a:pPr marL="0" indent="0">
              <a:buNone/>
            </a:pPr>
            <a:r>
              <a:rPr lang="en-US" sz="1200" dirty="0">
                <a:solidFill>
                  <a:srgbClr val="263238"/>
                </a:solidFill>
              </a:rPr>
              <a:t>Target: no unexpected performance drop</a:t>
            </a:r>
            <a:endParaRPr lang="en-US" sz="1200" dirty="0"/>
          </a:p>
        </p:txBody>
      </p:sp>
      <p:sp>
        <p:nvSpPr>
          <p:cNvPr id="11" name="Shape 9"/>
          <p:cNvSpPr/>
          <p:nvPr/>
        </p:nvSpPr>
        <p:spPr>
          <a:xfrm>
            <a:off x="4197096" y="1673352"/>
            <a:ext cx="585216" cy="585216"/>
          </a:xfrm>
          <a:prstGeom prst="ellipse">
            <a:avLst/>
          </a:prstGeom>
          <a:solidFill>
            <a:srgbClr val="2F6F9F"/>
          </a:solidFill>
          <a:ln w="12700">
            <a:solidFill>
              <a:srgbClr val="2F6F9F"/>
            </a:solidFill>
            <a:prstDash val="solid"/>
          </a:ln>
        </p:spPr>
        <p:txBody>
          <a:bodyPr/>
          <a:lstStyle/>
          <a:p>
            <a:endParaRPr lang="en-US"/>
          </a:p>
        </p:txBody>
      </p:sp>
      <p:sp>
        <p:nvSpPr>
          <p:cNvPr id="12" name="Text 10"/>
          <p:cNvSpPr/>
          <p:nvPr/>
        </p:nvSpPr>
        <p:spPr>
          <a:xfrm>
            <a:off x="4197096" y="1801368"/>
            <a:ext cx="585216"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Shape 11"/>
          <p:cNvSpPr/>
          <p:nvPr/>
        </p:nvSpPr>
        <p:spPr>
          <a:xfrm>
            <a:off x="3447288" y="2487168"/>
            <a:ext cx="2423160" cy="2148840"/>
          </a:xfrm>
          <a:prstGeom prst="roundRect">
            <a:avLst>
              <a:gd name="adj" fmla="val 3404"/>
            </a:avLst>
          </a:prstGeom>
          <a:solidFill>
            <a:srgbClr val="FFFFFF"/>
          </a:solidFill>
          <a:ln w="12700">
            <a:solidFill>
              <a:srgbClr val="D7DEE7"/>
            </a:solidFill>
            <a:prstDash val="solid"/>
          </a:ln>
        </p:spPr>
        <p:txBody>
          <a:bodyPr/>
          <a:lstStyle/>
          <a:p>
            <a:endParaRPr lang="en-US"/>
          </a:p>
        </p:txBody>
      </p:sp>
      <p:sp>
        <p:nvSpPr>
          <p:cNvPr id="14" name="Text 12"/>
          <p:cNvSpPr/>
          <p:nvPr/>
        </p:nvSpPr>
        <p:spPr>
          <a:xfrm>
            <a:off x="3630168" y="2697480"/>
            <a:ext cx="2057400" cy="292608"/>
          </a:xfrm>
          <a:prstGeom prst="rect">
            <a:avLst/>
          </a:prstGeom>
          <a:noFill/>
          <a:ln/>
        </p:spPr>
        <p:txBody>
          <a:bodyPr wrap="square" lIns="0" tIns="0" rIns="0" bIns="0" rtlCol="0" anchor="ctr">
            <a:normAutofit/>
          </a:bodyPr>
          <a:lstStyle/>
          <a:p>
            <a:pPr marL="0" indent="0">
              <a:buNone/>
            </a:pPr>
            <a:r>
              <a:rPr lang="en-US" sz="1400" b="1" dirty="0">
                <a:solidFill>
                  <a:srgbClr val="132238"/>
                </a:solidFill>
              </a:rPr>
              <a:t>Routine monitoring</a:t>
            </a:r>
            <a:endParaRPr lang="en-US" sz="1400" dirty="0"/>
          </a:p>
        </p:txBody>
      </p:sp>
      <p:sp>
        <p:nvSpPr>
          <p:cNvPr id="15" name="Text 13"/>
          <p:cNvSpPr/>
          <p:nvPr/>
        </p:nvSpPr>
        <p:spPr>
          <a:xfrm>
            <a:off x="3630168" y="3108960"/>
            <a:ext cx="2057400" cy="1024128"/>
          </a:xfrm>
          <a:prstGeom prst="rect">
            <a:avLst/>
          </a:prstGeom>
          <a:noFill/>
          <a:ln/>
        </p:spPr>
        <p:txBody>
          <a:bodyPr wrap="square" lIns="254" tIns="254" rIns="254" bIns="254" rtlCol="0" anchor="t">
            <a:normAutofit/>
          </a:bodyPr>
          <a:lstStyle/>
          <a:p>
            <a:pPr marL="0" indent="0">
              <a:buNone/>
            </a:pPr>
            <a:r>
              <a:rPr lang="en-US" sz="1200" dirty="0">
                <a:solidFill>
                  <a:srgbClr val="263238"/>
                </a:solidFill>
              </a:rPr>
              <a:t>Track accuracy, confidence, class mix, and failure patterns</a:t>
            </a:r>
            <a:endParaRPr lang="en-US" sz="1200" dirty="0"/>
          </a:p>
          <a:p>
            <a:pPr marL="0" indent="0">
              <a:buNone/>
            </a:pPr>
            <a:r>
              <a:rPr lang="en-US" sz="1200" dirty="0">
                <a:solidFill>
                  <a:srgbClr val="263238"/>
                </a:solidFill>
              </a:rPr>
              <a:t>Cadence: weekly early, monthly after stable</a:t>
            </a:r>
            <a:endParaRPr lang="en-US" sz="1200" dirty="0"/>
          </a:p>
        </p:txBody>
      </p:sp>
      <p:sp>
        <p:nvSpPr>
          <p:cNvPr id="16" name="Shape 14"/>
          <p:cNvSpPr/>
          <p:nvPr/>
        </p:nvSpPr>
        <p:spPr>
          <a:xfrm>
            <a:off x="6986016" y="1673352"/>
            <a:ext cx="585216" cy="585216"/>
          </a:xfrm>
          <a:prstGeom prst="ellipse">
            <a:avLst/>
          </a:prstGeom>
          <a:solidFill>
            <a:srgbClr val="2F6F9F"/>
          </a:solidFill>
          <a:ln w="12700">
            <a:solidFill>
              <a:srgbClr val="2F6F9F"/>
            </a:solidFill>
            <a:prstDash val="solid"/>
          </a:ln>
        </p:spPr>
        <p:txBody>
          <a:bodyPr/>
          <a:lstStyle/>
          <a:p>
            <a:endParaRPr lang="en-US"/>
          </a:p>
        </p:txBody>
      </p:sp>
      <p:sp>
        <p:nvSpPr>
          <p:cNvPr id="17" name="Text 15"/>
          <p:cNvSpPr/>
          <p:nvPr/>
        </p:nvSpPr>
        <p:spPr>
          <a:xfrm>
            <a:off x="6986016" y="1801368"/>
            <a:ext cx="585216"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Shape 16"/>
          <p:cNvSpPr/>
          <p:nvPr/>
        </p:nvSpPr>
        <p:spPr>
          <a:xfrm>
            <a:off x="6236208" y="2487168"/>
            <a:ext cx="2423160" cy="2148840"/>
          </a:xfrm>
          <a:prstGeom prst="roundRect">
            <a:avLst>
              <a:gd name="adj" fmla="val 3404"/>
            </a:avLst>
          </a:prstGeom>
          <a:solidFill>
            <a:srgbClr val="FFFFFF"/>
          </a:solidFill>
          <a:ln w="12700">
            <a:solidFill>
              <a:srgbClr val="D7DEE7"/>
            </a:solidFill>
            <a:prstDash val="solid"/>
          </a:ln>
        </p:spPr>
        <p:txBody>
          <a:bodyPr/>
          <a:lstStyle/>
          <a:p>
            <a:endParaRPr lang="en-US"/>
          </a:p>
        </p:txBody>
      </p:sp>
      <p:sp>
        <p:nvSpPr>
          <p:cNvPr id="19" name="Text 17"/>
          <p:cNvSpPr/>
          <p:nvPr/>
        </p:nvSpPr>
        <p:spPr>
          <a:xfrm>
            <a:off x="6419088" y="2697480"/>
            <a:ext cx="2057400" cy="292608"/>
          </a:xfrm>
          <a:prstGeom prst="rect">
            <a:avLst/>
          </a:prstGeom>
          <a:noFill/>
          <a:ln/>
        </p:spPr>
        <p:txBody>
          <a:bodyPr wrap="square" lIns="0" tIns="0" rIns="0" bIns="0" rtlCol="0" anchor="ctr">
            <a:normAutofit/>
          </a:bodyPr>
          <a:lstStyle/>
          <a:p>
            <a:pPr marL="0" indent="0">
              <a:buNone/>
            </a:pPr>
            <a:r>
              <a:rPr lang="en-US" sz="1400" b="1" dirty="0">
                <a:solidFill>
                  <a:srgbClr val="132238"/>
                </a:solidFill>
              </a:rPr>
              <a:t>Escalation</a:t>
            </a:r>
            <a:endParaRPr lang="en-US" sz="1400" dirty="0"/>
          </a:p>
        </p:txBody>
      </p:sp>
      <p:sp>
        <p:nvSpPr>
          <p:cNvPr id="20" name="Text 18"/>
          <p:cNvSpPr/>
          <p:nvPr/>
        </p:nvSpPr>
        <p:spPr>
          <a:xfrm>
            <a:off x="6419088" y="3108960"/>
            <a:ext cx="2057400" cy="1024128"/>
          </a:xfrm>
          <a:prstGeom prst="rect">
            <a:avLst/>
          </a:prstGeom>
          <a:noFill/>
          <a:ln/>
        </p:spPr>
        <p:txBody>
          <a:bodyPr wrap="square" lIns="254" tIns="254" rIns="254" bIns="254" rtlCol="0" anchor="t">
            <a:normAutofit/>
          </a:bodyPr>
          <a:lstStyle/>
          <a:p>
            <a:pPr marL="0" indent="0">
              <a:buNone/>
            </a:pPr>
            <a:r>
              <a:rPr lang="en-US" sz="1200" dirty="0">
                <a:solidFill>
                  <a:srgbClr val="263238"/>
                </a:solidFill>
              </a:rPr>
              <a:t>Pause if accuracy drops &gt;5%, confidence shifts, or heatmaps behave unexpectedly</a:t>
            </a:r>
            <a:endParaRPr lang="en-US" sz="1200" dirty="0"/>
          </a:p>
        </p:txBody>
      </p:sp>
      <p:sp>
        <p:nvSpPr>
          <p:cNvPr id="21" name="Shape 19"/>
          <p:cNvSpPr/>
          <p:nvPr/>
        </p:nvSpPr>
        <p:spPr>
          <a:xfrm>
            <a:off x="9774936" y="1673352"/>
            <a:ext cx="585216" cy="585216"/>
          </a:xfrm>
          <a:prstGeom prst="ellipse">
            <a:avLst/>
          </a:prstGeom>
          <a:solidFill>
            <a:srgbClr val="2F6F9F"/>
          </a:solidFill>
          <a:ln w="12700">
            <a:solidFill>
              <a:srgbClr val="2F6F9F"/>
            </a:solidFill>
            <a:prstDash val="solid"/>
          </a:ln>
        </p:spPr>
        <p:txBody>
          <a:bodyPr/>
          <a:lstStyle/>
          <a:p>
            <a:endParaRPr lang="en-US"/>
          </a:p>
        </p:txBody>
      </p:sp>
      <p:sp>
        <p:nvSpPr>
          <p:cNvPr id="22" name="Text 20"/>
          <p:cNvSpPr/>
          <p:nvPr/>
        </p:nvSpPr>
        <p:spPr>
          <a:xfrm>
            <a:off x="9774936" y="1801368"/>
            <a:ext cx="585216"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3" name="Shape 21"/>
          <p:cNvSpPr/>
          <p:nvPr/>
        </p:nvSpPr>
        <p:spPr>
          <a:xfrm>
            <a:off x="9025128" y="2487168"/>
            <a:ext cx="2423160" cy="2148840"/>
          </a:xfrm>
          <a:prstGeom prst="roundRect">
            <a:avLst>
              <a:gd name="adj" fmla="val 3404"/>
            </a:avLst>
          </a:prstGeom>
          <a:solidFill>
            <a:srgbClr val="FFFFFF"/>
          </a:solidFill>
          <a:ln w="12700">
            <a:solidFill>
              <a:srgbClr val="D7DEE7"/>
            </a:solidFill>
            <a:prstDash val="solid"/>
          </a:ln>
        </p:spPr>
        <p:txBody>
          <a:bodyPr/>
          <a:lstStyle/>
          <a:p>
            <a:endParaRPr lang="en-US"/>
          </a:p>
        </p:txBody>
      </p:sp>
      <p:sp>
        <p:nvSpPr>
          <p:cNvPr id="24" name="Text 22"/>
          <p:cNvSpPr/>
          <p:nvPr/>
        </p:nvSpPr>
        <p:spPr>
          <a:xfrm>
            <a:off x="9208008" y="2697480"/>
            <a:ext cx="2057400" cy="292608"/>
          </a:xfrm>
          <a:prstGeom prst="rect">
            <a:avLst/>
          </a:prstGeom>
          <a:noFill/>
          <a:ln/>
        </p:spPr>
        <p:txBody>
          <a:bodyPr wrap="square" lIns="0" tIns="0" rIns="0" bIns="0" rtlCol="0" anchor="ctr">
            <a:normAutofit/>
          </a:bodyPr>
          <a:lstStyle/>
          <a:p>
            <a:pPr marL="0" indent="0">
              <a:buNone/>
            </a:pPr>
            <a:r>
              <a:rPr lang="en-US" sz="1400" b="1" dirty="0">
                <a:solidFill>
                  <a:srgbClr val="132238"/>
                </a:solidFill>
              </a:rPr>
              <a:t>Human review</a:t>
            </a:r>
            <a:endParaRPr lang="en-US" sz="1400" dirty="0"/>
          </a:p>
        </p:txBody>
      </p:sp>
      <p:sp>
        <p:nvSpPr>
          <p:cNvPr id="25" name="Text 23"/>
          <p:cNvSpPr/>
          <p:nvPr/>
        </p:nvSpPr>
        <p:spPr>
          <a:xfrm>
            <a:off x="9208008" y="3108960"/>
            <a:ext cx="2057400" cy="1024128"/>
          </a:xfrm>
          <a:prstGeom prst="rect">
            <a:avLst/>
          </a:prstGeom>
          <a:noFill/>
          <a:ln/>
        </p:spPr>
        <p:txBody>
          <a:bodyPr wrap="square" lIns="254" tIns="254" rIns="254" bIns="254" rtlCol="0" anchor="t">
            <a:normAutofit/>
          </a:bodyPr>
          <a:lstStyle/>
          <a:p>
            <a:pPr marL="0" indent="0">
              <a:buNone/>
            </a:pPr>
            <a:r>
              <a:rPr lang="en-US" sz="1200" dirty="0">
                <a:solidFill>
                  <a:srgbClr val="263238"/>
                </a:solidFill>
              </a:rPr>
              <a:t>Clinician confirms, overrides, and documents final decision</a:t>
            </a:r>
            <a:endParaRPr lang="en-US" sz="1200" dirty="0"/>
          </a:p>
        </p:txBody>
      </p:sp>
      <p:sp>
        <p:nvSpPr>
          <p:cNvPr id="27" name="Shape 25"/>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28" name="Text 26"/>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4 of 5 | Field Guide Highlights</a:t>
            </a:r>
            <a:endParaRPr lang="en-US" sz="750" dirty="0"/>
          </a:p>
        </p:txBody>
      </p:sp>
      <p:sp>
        <p:nvSpPr>
          <p:cNvPr id="29" name="Text 27"/>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FIELD GUIDE HIGHLIGHTS</a:t>
            </a:r>
            <a:endParaRPr lang="en-US" sz="1000" dirty="0"/>
          </a:p>
        </p:txBody>
      </p:sp>
      <p:sp>
        <p:nvSpPr>
          <p:cNvPr id="3" name="Text 1"/>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100" b="1" dirty="0">
                <a:solidFill>
                  <a:srgbClr val="132238"/>
                </a:solidFill>
              </a:rPr>
              <a:t>Limitations define safe boundaries for use</a:t>
            </a:r>
            <a:endParaRPr lang="en-US" sz="2100" dirty="0"/>
          </a:p>
        </p:txBody>
      </p:sp>
      <p:sp>
        <p:nvSpPr>
          <p:cNvPr id="4" name="Text 2"/>
          <p:cNvSpPr/>
          <p:nvPr/>
        </p:nvSpPr>
        <p:spPr>
          <a:xfrm>
            <a:off x="521208" y="1060704"/>
            <a:ext cx="6537960" cy="347472"/>
          </a:xfrm>
          <a:prstGeom prst="rect">
            <a:avLst/>
          </a:prstGeom>
          <a:noFill/>
          <a:ln/>
        </p:spPr>
        <p:txBody>
          <a:bodyPr wrap="square" lIns="0" tIns="0" rIns="0" bIns="0" rtlCol="0" anchor="ctr">
            <a:normAutofit/>
          </a:bodyPr>
          <a:lstStyle/>
          <a:p>
            <a:pPr marL="0" indent="0">
              <a:buNone/>
            </a:pPr>
            <a:r>
              <a:rPr lang="en-US" sz="1250" dirty="0">
                <a:solidFill>
                  <a:srgbClr val="637083"/>
                </a:solidFill>
              </a:rPr>
              <a:t>The model should be used only within its validated scope.</a:t>
            </a:r>
            <a:endParaRPr lang="en-US" sz="1250" dirty="0"/>
          </a:p>
        </p:txBody>
      </p:sp>
      <p:sp>
        <p:nvSpPr>
          <p:cNvPr id="5" name="Shape 3"/>
          <p:cNvSpPr/>
          <p:nvPr/>
        </p:nvSpPr>
        <p:spPr>
          <a:xfrm>
            <a:off x="777240" y="1600200"/>
            <a:ext cx="3291840" cy="4297680"/>
          </a:xfrm>
          <a:prstGeom prst="roundRect">
            <a:avLst>
              <a:gd name="adj" fmla="val 2222"/>
            </a:avLst>
          </a:prstGeom>
          <a:solidFill>
            <a:srgbClr val="FFFFFF"/>
          </a:solidFill>
          <a:ln w="12700">
            <a:solidFill>
              <a:srgbClr val="D7DEE7"/>
            </a:solidFill>
            <a:prstDash val="solid"/>
          </a:ln>
        </p:spPr>
        <p:txBody>
          <a:bodyPr/>
          <a:lstStyle/>
          <a:p>
            <a:endParaRPr lang="en-US"/>
          </a:p>
        </p:txBody>
      </p:sp>
      <p:sp>
        <p:nvSpPr>
          <p:cNvPr id="6" name="Text 4"/>
          <p:cNvSpPr/>
          <p:nvPr/>
        </p:nvSpPr>
        <p:spPr>
          <a:xfrm>
            <a:off x="1024128" y="1892808"/>
            <a:ext cx="2560320" cy="292608"/>
          </a:xfrm>
          <a:prstGeom prst="rect">
            <a:avLst/>
          </a:prstGeom>
          <a:noFill/>
          <a:ln/>
        </p:spPr>
        <p:txBody>
          <a:bodyPr wrap="square" lIns="0" tIns="0" rIns="0" bIns="0" rtlCol="0" anchor="ctr"/>
          <a:lstStyle/>
          <a:p>
            <a:pPr marL="0" indent="0">
              <a:buNone/>
            </a:pPr>
            <a:r>
              <a:rPr lang="en-US" sz="1500" b="1" dirty="0">
                <a:solidFill>
                  <a:srgbClr val="132238"/>
                </a:solidFill>
              </a:rPr>
              <a:t>Known limitations</a:t>
            </a:r>
            <a:endParaRPr lang="en-US" sz="1500" dirty="0"/>
          </a:p>
        </p:txBody>
      </p:sp>
      <p:sp>
        <p:nvSpPr>
          <p:cNvPr id="7" name="Text 5"/>
          <p:cNvSpPr/>
          <p:nvPr/>
        </p:nvSpPr>
        <p:spPr>
          <a:xfrm>
            <a:off x="1024128" y="2103120"/>
            <a:ext cx="2651760" cy="2377440"/>
          </a:xfrm>
          <a:prstGeom prst="rect">
            <a:avLst/>
          </a:prstGeom>
          <a:noFill/>
          <a:ln/>
        </p:spPr>
        <p:txBody>
          <a:bodyPr wrap="square" lIns="254" tIns="254" rIns="254" bIns="254" rtlCol="0" anchor="t">
            <a:normAutofit/>
          </a:bodyPr>
          <a:lstStyle/>
          <a:p>
            <a:pPr marL="152400" indent="-152400">
              <a:buSzPct val="100000"/>
              <a:buChar char="•"/>
            </a:pPr>
            <a:r>
              <a:rPr lang="en-US" sz="1200" dirty="0">
                <a:solidFill>
                  <a:srgbClr val="263238"/>
                </a:solidFill>
              </a:rPr>
              <a:t>Single 2D slice input only.
</a:t>
            </a:r>
            <a:endParaRPr lang="en-US" sz="1200" dirty="0"/>
          </a:p>
          <a:p>
            <a:pPr marL="152400" indent="-152400">
              <a:buSzPct val="100000"/>
              <a:buChar char="•"/>
            </a:pPr>
            <a:r>
              <a:rPr lang="en-US" sz="1200" dirty="0">
                <a:solidFill>
                  <a:srgbClr val="263238"/>
                </a:solidFill>
              </a:rPr>
              <a:t>No clinical history or multi-sequence MRI information.
</a:t>
            </a:r>
            <a:endParaRPr lang="en-US" sz="1200" dirty="0"/>
          </a:p>
          <a:p>
            <a:pPr marL="152400" indent="-152400">
              <a:buSzPct val="100000"/>
              <a:buChar char="•"/>
            </a:pPr>
            <a:r>
              <a:rPr lang="en-US" sz="1200" dirty="0">
                <a:solidFill>
                  <a:srgbClr val="263238"/>
                </a:solidFill>
              </a:rPr>
              <a:t>Internal test performance only; external validation required.
</a:t>
            </a:r>
            <a:endParaRPr lang="en-US" sz="1200" dirty="0"/>
          </a:p>
          <a:p>
            <a:pPr marL="152400" indent="-152400">
              <a:buSzPct val="100000"/>
              <a:buChar char="•"/>
            </a:pPr>
            <a:r>
              <a:rPr lang="en-US" sz="1200" dirty="0">
                <a:solidFill>
                  <a:srgbClr val="263238"/>
                </a:solidFill>
              </a:rPr>
              <a:t>No segmentation masks available for quantitative heatmap validation.
</a:t>
            </a:r>
            <a:endParaRPr lang="en-US" sz="1200" dirty="0"/>
          </a:p>
        </p:txBody>
      </p:sp>
      <p:sp>
        <p:nvSpPr>
          <p:cNvPr id="8" name="Shape 6"/>
          <p:cNvSpPr/>
          <p:nvPr/>
        </p:nvSpPr>
        <p:spPr>
          <a:xfrm>
            <a:off x="4480560" y="1600200"/>
            <a:ext cx="3291840" cy="4297680"/>
          </a:xfrm>
          <a:prstGeom prst="roundRect">
            <a:avLst>
              <a:gd name="adj" fmla="val 2222"/>
            </a:avLst>
          </a:prstGeom>
          <a:solidFill>
            <a:srgbClr val="FFFFFF"/>
          </a:solidFill>
          <a:ln w="12700">
            <a:solidFill>
              <a:srgbClr val="D7DEE7"/>
            </a:solidFill>
            <a:prstDash val="solid"/>
          </a:ln>
        </p:spPr>
        <p:txBody>
          <a:bodyPr/>
          <a:lstStyle/>
          <a:p>
            <a:endParaRPr lang="en-US"/>
          </a:p>
        </p:txBody>
      </p:sp>
      <p:sp>
        <p:nvSpPr>
          <p:cNvPr id="9" name="Text 7"/>
          <p:cNvSpPr/>
          <p:nvPr/>
        </p:nvSpPr>
        <p:spPr>
          <a:xfrm>
            <a:off x="4727448" y="1892808"/>
            <a:ext cx="2743200" cy="292608"/>
          </a:xfrm>
          <a:prstGeom prst="rect">
            <a:avLst/>
          </a:prstGeom>
          <a:noFill/>
          <a:ln/>
        </p:spPr>
        <p:txBody>
          <a:bodyPr wrap="square" lIns="0" tIns="0" rIns="0" bIns="0" rtlCol="0" anchor="ctr">
            <a:normAutofit/>
          </a:bodyPr>
          <a:lstStyle/>
          <a:p>
            <a:pPr marL="0" indent="0">
              <a:buNone/>
            </a:pPr>
            <a:r>
              <a:rPr lang="en-US" sz="1420" b="1" dirty="0">
                <a:solidFill>
                  <a:srgbClr val="132238"/>
                </a:solidFill>
              </a:rPr>
              <a:t>Where performance may degrade</a:t>
            </a:r>
            <a:endParaRPr lang="en-US" sz="1420" dirty="0"/>
          </a:p>
        </p:txBody>
      </p:sp>
      <p:sp>
        <p:nvSpPr>
          <p:cNvPr id="10" name="Text 8"/>
          <p:cNvSpPr/>
          <p:nvPr/>
        </p:nvSpPr>
        <p:spPr>
          <a:xfrm>
            <a:off x="4727448" y="2103120"/>
            <a:ext cx="2651760" cy="2377440"/>
          </a:xfrm>
          <a:prstGeom prst="rect">
            <a:avLst/>
          </a:prstGeom>
          <a:noFill/>
          <a:ln/>
        </p:spPr>
        <p:txBody>
          <a:bodyPr wrap="square" lIns="254" tIns="254" rIns="254" bIns="254" rtlCol="0" anchor="t">
            <a:normAutofit/>
          </a:bodyPr>
          <a:lstStyle/>
          <a:p>
            <a:pPr marL="152400" indent="-152400">
              <a:buSzPct val="100000"/>
              <a:buChar char="•"/>
            </a:pPr>
            <a:r>
              <a:rPr lang="en-US" sz="1200" dirty="0">
                <a:solidFill>
                  <a:srgbClr val="263238"/>
                </a:solidFill>
              </a:rPr>
              <a:t>Different scanner vendors or protocols.
</a:t>
            </a:r>
            <a:endParaRPr lang="en-US" sz="1200" dirty="0"/>
          </a:p>
          <a:p>
            <a:pPr marL="152400" indent="-152400">
              <a:buSzPct val="100000"/>
              <a:buChar char="•"/>
            </a:pPr>
            <a:r>
              <a:rPr lang="en-US" sz="1200" dirty="0">
                <a:solidFill>
                  <a:srgbClr val="263238"/>
                </a:solidFill>
              </a:rPr>
              <a:t>Low-quality, cropped, or rotated images.
</a:t>
            </a:r>
            <a:endParaRPr lang="en-US" sz="1200" dirty="0"/>
          </a:p>
          <a:p>
            <a:pPr marL="152400" indent="-152400">
              <a:buSzPct val="100000"/>
              <a:buChar char="•"/>
            </a:pPr>
            <a:r>
              <a:rPr lang="en-US" sz="1200" dirty="0">
                <a:solidFill>
                  <a:srgbClr val="263238"/>
                </a:solidFill>
              </a:rPr>
              <a:t>Uncommon tumor subtypes or postsurgical changes.
</a:t>
            </a:r>
            <a:endParaRPr lang="en-US" sz="1200" dirty="0"/>
          </a:p>
          <a:p>
            <a:pPr marL="152400" indent="-152400">
              <a:buSzPct val="100000"/>
              <a:buChar char="•"/>
            </a:pPr>
            <a:r>
              <a:rPr lang="en-US" sz="1200" dirty="0">
                <a:solidFill>
                  <a:srgbClr val="263238"/>
                </a:solidFill>
              </a:rPr>
              <a:t>Patient populations not represented in training data.
</a:t>
            </a:r>
            <a:endParaRPr lang="en-US" sz="1200" dirty="0"/>
          </a:p>
        </p:txBody>
      </p:sp>
      <p:sp>
        <p:nvSpPr>
          <p:cNvPr id="11" name="Shape 9"/>
          <p:cNvSpPr/>
          <p:nvPr/>
        </p:nvSpPr>
        <p:spPr>
          <a:xfrm>
            <a:off x="8183880" y="1600200"/>
            <a:ext cx="3291840" cy="4297680"/>
          </a:xfrm>
          <a:prstGeom prst="roundRect">
            <a:avLst>
              <a:gd name="adj" fmla="val 2222"/>
            </a:avLst>
          </a:prstGeom>
          <a:solidFill>
            <a:srgbClr val="FFF6F6"/>
          </a:solidFill>
          <a:ln w="12700">
            <a:solidFill>
              <a:srgbClr val="E7BEC5"/>
            </a:solidFill>
            <a:prstDash val="solid"/>
          </a:ln>
        </p:spPr>
        <p:txBody>
          <a:bodyPr/>
          <a:lstStyle/>
          <a:p>
            <a:endParaRPr lang="en-US"/>
          </a:p>
        </p:txBody>
      </p:sp>
      <p:sp>
        <p:nvSpPr>
          <p:cNvPr id="12" name="Text 10"/>
          <p:cNvSpPr/>
          <p:nvPr/>
        </p:nvSpPr>
        <p:spPr>
          <a:xfrm>
            <a:off x="8430768" y="1892808"/>
            <a:ext cx="2606040" cy="292608"/>
          </a:xfrm>
          <a:prstGeom prst="rect">
            <a:avLst/>
          </a:prstGeom>
          <a:noFill/>
          <a:ln/>
        </p:spPr>
        <p:txBody>
          <a:bodyPr wrap="square" lIns="0" tIns="0" rIns="0" bIns="0" rtlCol="0" anchor="ctr"/>
          <a:lstStyle/>
          <a:p>
            <a:pPr marL="0" indent="0">
              <a:buNone/>
            </a:pPr>
            <a:r>
              <a:rPr lang="en-US" sz="1500" b="1" dirty="0">
                <a:solidFill>
                  <a:srgbClr val="D1495B"/>
                </a:solidFill>
              </a:rPr>
              <a:t>Should NOT be used for</a:t>
            </a:r>
            <a:endParaRPr lang="en-US" sz="1500" dirty="0"/>
          </a:p>
        </p:txBody>
      </p:sp>
      <p:sp>
        <p:nvSpPr>
          <p:cNvPr id="13" name="Text 11"/>
          <p:cNvSpPr/>
          <p:nvPr/>
        </p:nvSpPr>
        <p:spPr>
          <a:xfrm>
            <a:off x="8430768" y="2103120"/>
            <a:ext cx="2651760" cy="2377440"/>
          </a:xfrm>
          <a:prstGeom prst="rect">
            <a:avLst/>
          </a:prstGeom>
          <a:noFill/>
          <a:ln/>
        </p:spPr>
        <p:txBody>
          <a:bodyPr wrap="square" lIns="254" tIns="254" rIns="254" bIns="254" rtlCol="0" anchor="t">
            <a:normAutofit/>
          </a:bodyPr>
          <a:lstStyle/>
          <a:p>
            <a:pPr marL="152400" indent="-152400">
              <a:buSzPct val="100000"/>
              <a:buChar char="•"/>
            </a:pPr>
            <a:r>
              <a:rPr lang="en-US" sz="1200" dirty="0">
                <a:solidFill>
                  <a:srgbClr val="263238"/>
                </a:solidFill>
              </a:rPr>
              <a:t>Standalone diagnosis.
</a:t>
            </a:r>
            <a:endParaRPr lang="en-US" sz="1200" dirty="0"/>
          </a:p>
          <a:p>
            <a:pPr marL="152400" indent="-152400">
              <a:buSzPct val="100000"/>
              <a:buChar char="•"/>
            </a:pPr>
            <a:r>
              <a:rPr lang="en-US" sz="1200" dirty="0">
                <a:solidFill>
                  <a:srgbClr val="263238"/>
                </a:solidFill>
              </a:rPr>
              <a:t>Replacing radiology review or pathology.
</a:t>
            </a:r>
            <a:endParaRPr lang="en-US" sz="1200" dirty="0"/>
          </a:p>
          <a:p>
            <a:pPr marL="152400" indent="-152400">
              <a:buSzPct val="100000"/>
              <a:buChar char="•"/>
            </a:pPr>
            <a:r>
              <a:rPr lang="en-US" sz="1200" dirty="0">
                <a:solidFill>
                  <a:srgbClr val="263238"/>
                </a:solidFill>
              </a:rPr>
              <a:t>Treatment planning decisions.
</a:t>
            </a:r>
            <a:endParaRPr lang="en-US" sz="1200" dirty="0"/>
          </a:p>
          <a:p>
            <a:pPr marL="152400" indent="-152400">
              <a:buSzPct val="100000"/>
              <a:buChar char="•"/>
            </a:pPr>
            <a:r>
              <a:rPr lang="en-US" sz="1200" dirty="0">
                <a:solidFill>
                  <a:srgbClr val="263238"/>
                </a:solidFill>
              </a:rPr>
              <a:t>Automated triage without human confirmation.
</a:t>
            </a:r>
            <a:endParaRPr lang="en-US" sz="1200" dirty="0"/>
          </a:p>
        </p:txBody>
      </p:sp>
      <p:sp>
        <p:nvSpPr>
          <p:cNvPr id="14" name="Shape 12"/>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15" name="Text 13"/>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4 of 5 | Field Guide Highlights</a:t>
            </a:r>
            <a:endParaRPr lang="en-US" sz="750" dirty="0"/>
          </a:p>
        </p:txBody>
      </p:sp>
      <p:sp>
        <p:nvSpPr>
          <p:cNvPr id="16" name="Text 14"/>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Conclusion</a:t>
            </a:r>
            <a:endParaRPr lang="en-US" sz="1000" dirty="0"/>
          </a:p>
        </p:txBody>
      </p:sp>
      <p:sp>
        <p:nvSpPr>
          <p:cNvPr id="3" name="Text 1"/>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500" b="1" dirty="0">
                <a:solidFill>
                  <a:srgbClr val="132238"/>
                </a:solidFill>
              </a:rPr>
              <a:t>Conclusion</a:t>
            </a:r>
            <a:endParaRPr lang="en-US" sz="2500" dirty="0"/>
          </a:p>
        </p:txBody>
      </p:sp>
      <p:sp>
        <p:nvSpPr>
          <p:cNvPr id="4" name="Text 2"/>
          <p:cNvSpPr/>
          <p:nvPr/>
        </p:nvSpPr>
        <p:spPr>
          <a:xfrm>
            <a:off x="521208" y="1060704"/>
            <a:ext cx="6537960" cy="347472"/>
          </a:xfrm>
          <a:prstGeom prst="rect">
            <a:avLst/>
          </a:prstGeom>
          <a:noFill/>
          <a:ln/>
        </p:spPr>
        <p:txBody>
          <a:bodyPr wrap="square" lIns="0" tIns="0" rIns="0" bIns="0" rtlCol="0" anchor="ctr">
            <a:normAutofit/>
          </a:bodyPr>
          <a:lstStyle/>
          <a:p>
            <a:pPr marL="0" indent="0">
              <a:buNone/>
            </a:pPr>
            <a:r>
              <a:rPr lang="en-US" sz="1250" dirty="0">
                <a:solidFill>
                  <a:srgbClr val="637083"/>
                </a:solidFill>
              </a:rPr>
              <a:t>The most useful lessons came from calibration, error review, and interpretability checks.</a:t>
            </a:r>
            <a:endParaRPr lang="en-US" sz="1250" dirty="0"/>
          </a:p>
        </p:txBody>
      </p:sp>
      <p:sp>
        <p:nvSpPr>
          <p:cNvPr id="5" name="Shape 3"/>
          <p:cNvSpPr/>
          <p:nvPr/>
        </p:nvSpPr>
        <p:spPr>
          <a:xfrm>
            <a:off x="685800" y="1783080"/>
            <a:ext cx="5074920" cy="4251960"/>
          </a:xfrm>
          <a:prstGeom prst="roundRect">
            <a:avLst>
              <a:gd name="adj" fmla="val 1720"/>
            </a:avLst>
          </a:prstGeom>
          <a:solidFill>
            <a:srgbClr val="FFFFFF"/>
          </a:solidFill>
          <a:ln w="12700">
            <a:solidFill>
              <a:srgbClr val="D7DEE7"/>
            </a:solidFill>
            <a:prstDash val="solid"/>
          </a:ln>
        </p:spPr>
        <p:txBody>
          <a:bodyPr/>
          <a:lstStyle/>
          <a:p>
            <a:endParaRPr lang="en-US"/>
          </a:p>
        </p:txBody>
      </p:sp>
      <p:sp>
        <p:nvSpPr>
          <p:cNvPr id="6" name="Text 4"/>
          <p:cNvSpPr/>
          <p:nvPr/>
        </p:nvSpPr>
        <p:spPr>
          <a:xfrm>
            <a:off x="960120" y="1783080"/>
            <a:ext cx="2011680" cy="292608"/>
          </a:xfrm>
          <a:prstGeom prst="rect">
            <a:avLst/>
          </a:prstGeom>
          <a:noFill/>
          <a:ln/>
        </p:spPr>
        <p:txBody>
          <a:bodyPr wrap="square" lIns="0" tIns="0" rIns="0" bIns="0" rtlCol="0" anchor="ctr"/>
          <a:lstStyle/>
          <a:p>
            <a:pPr marL="0" indent="0">
              <a:buNone/>
            </a:pPr>
            <a:r>
              <a:rPr lang="en-US" sz="1500" b="1" dirty="0">
                <a:solidFill>
                  <a:srgbClr val="132238"/>
                </a:solidFill>
              </a:rPr>
              <a:t>Lesson learned</a:t>
            </a:r>
            <a:endParaRPr lang="en-US" sz="1500" dirty="0"/>
          </a:p>
        </p:txBody>
      </p:sp>
      <p:sp>
        <p:nvSpPr>
          <p:cNvPr id="7" name="Text 5"/>
          <p:cNvSpPr/>
          <p:nvPr/>
        </p:nvSpPr>
        <p:spPr>
          <a:xfrm>
            <a:off x="960120" y="2231136"/>
            <a:ext cx="4389120" cy="2386584"/>
          </a:xfrm>
          <a:prstGeom prst="rect">
            <a:avLst/>
          </a:prstGeom>
          <a:noFill/>
          <a:ln/>
        </p:spPr>
        <p:txBody>
          <a:bodyPr wrap="square" lIns="254" tIns="254" rIns="254" bIns="254" rtlCol="0" anchor="t">
            <a:normAutofit/>
          </a:bodyPr>
          <a:lstStyle/>
          <a:p>
            <a:pPr marL="152400" indent="-152400">
              <a:buSzPct val="100000"/>
              <a:buChar char="•"/>
            </a:pPr>
            <a:r>
              <a:rPr lang="en-US" sz="1400" dirty="0">
                <a:solidFill>
                  <a:srgbClr val="263238"/>
                </a:solidFill>
              </a:rPr>
              <a:t>Transfer learning is very effective for small-to-moderate medical imaging datasets.</a:t>
            </a:r>
            <a:endParaRPr lang="en-US" sz="1400" dirty="0"/>
          </a:p>
          <a:p>
            <a:pPr marL="152400" indent="-152400">
              <a:buSzPct val="100000"/>
              <a:buChar char="•"/>
            </a:pPr>
            <a:r>
              <a:rPr lang="en-US" sz="1400" dirty="0">
                <a:solidFill>
                  <a:srgbClr val="263238"/>
                </a:solidFill>
              </a:rPr>
              <a:t>Calibration and error examples are needed because high accuracy can hide overconfidence.</a:t>
            </a:r>
            <a:endParaRPr lang="en-US" sz="1400" dirty="0"/>
          </a:p>
          <a:p>
            <a:pPr marL="152400" indent="-152400">
              <a:buSzPct val="100000"/>
              <a:buChar char="•"/>
            </a:pPr>
            <a:r>
              <a:rPr lang="en-US" sz="1400" dirty="0">
                <a:solidFill>
                  <a:srgbClr val="263238"/>
                </a:solidFill>
              </a:rPr>
              <a:t>Grad-CAM is helpful but should not be treated as ground truth.</a:t>
            </a:r>
            <a:endParaRPr lang="en-US" sz="1400" dirty="0"/>
          </a:p>
          <a:p>
            <a:pPr marL="152400" indent="-152400">
              <a:buSzPct val="100000"/>
              <a:buChar char="•"/>
            </a:pPr>
            <a:r>
              <a:rPr lang="en-US" sz="1400" dirty="0">
                <a:solidFill>
                  <a:srgbClr val="263238"/>
                </a:solidFill>
              </a:rPr>
              <a:t>Governance is part of the model, not an afterthought.</a:t>
            </a:r>
            <a:endParaRPr lang="en-US" sz="1400" dirty="0"/>
          </a:p>
        </p:txBody>
      </p:sp>
      <p:sp>
        <p:nvSpPr>
          <p:cNvPr id="8" name="Shape 6"/>
          <p:cNvSpPr/>
          <p:nvPr/>
        </p:nvSpPr>
        <p:spPr>
          <a:xfrm>
            <a:off x="6263640" y="1783080"/>
            <a:ext cx="5074920" cy="4251960"/>
          </a:xfrm>
          <a:prstGeom prst="roundRect">
            <a:avLst>
              <a:gd name="adj" fmla="val 1720"/>
            </a:avLst>
          </a:prstGeom>
          <a:solidFill>
            <a:srgbClr val="FFFFFF"/>
          </a:solidFill>
          <a:ln w="12700">
            <a:solidFill>
              <a:srgbClr val="D7DEE7"/>
            </a:solidFill>
            <a:prstDash val="solid"/>
          </a:ln>
        </p:spPr>
        <p:txBody>
          <a:bodyPr/>
          <a:lstStyle/>
          <a:p>
            <a:endParaRPr lang="en-US"/>
          </a:p>
        </p:txBody>
      </p:sp>
      <p:sp>
        <p:nvSpPr>
          <p:cNvPr id="9" name="Text 7"/>
          <p:cNvSpPr/>
          <p:nvPr/>
        </p:nvSpPr>
        <p:spPr>
          <a:xfrm>
            <a:off x="6537960" y="1783080"/>
            <a:ext cx="2926080" cy="292608"/>
          </a:xfrm>
          <a:prstGeom prst="rect">
            <a:avLst/>
          </a:prstGeom>
          <a:noFill/>
          <a:ln/>
        </p:spPr>
        <p:txBody>
          <a:bodyPr wrap="square" lIns="0" tIns="0" rIns="0" bIns="0" rtlCol="0" anchor="ctr"/>
          <a:lstStyle/>
          <a:p>
            <a:pPr marL="0" indent="0">
              <a:buNone/>
            </a:pPr>
            <a:r>
              <a:rPr lang="en-US" sz="1500" b="1" dirty="0">
                <a:solidFill>
                  <a:srgbClr val="132238"/>
                </a:solidFill>
              </a:rPr>
              <a:t>What should do differently</a:t>
            </a:r>
            <a:endParaRPr lang="en-US" sz="1500" dirty="0"/>
          </a:p>
        </p:txBody>
      </p:sp>
      <p:sp>
        <p:nvSpPr>
          <p:cNvPr id="10" name="Text 8"/>
          <p:cNvSpPr/>
          <p:nvPr/>
        </p:nvSpPr>
        <p:spPr>
          <a:xfrm>
            <a:off x="6537960" y="2231136"/>
            <a:ext cx="4389120" cy="2386584"/>
          </a:xfrm>
          <a:prstGeom prst="rect">
            <a:avLst/>
          </a:prstGeom>
          <a:noFill/>
          <a:ln/>
        </p:spPr>
        <p:txBody>
          <a:bodyPr wrap="square" lIns="254" tIns="254" rIns="254" bIns="254" rtlCol="0" anchor="t">
            <a:normAutofit/>
          </a:bodyPr>
          <a:lstStyle/>
          <a:p>
            <a:pPr marL="152400" indent="-152400">
              <a:buSzPct val="100000"/>
              <a:buChar char="•"/>
            </a:pPr>
            <a:r>
              <a:rPr lang="en-US" sz="1400" dirty="0">
                <a:solidFill>
                  <a:srgbClr val="263238"/>
                </a:solidFill>
              </a:rPr>
              <a:t>Use full 3D MRI volumes or multiple slices instead of a single slice.</a:t>
            </a:r>
            <a:endParaRPr lang="en-US" sz="1400" dirty="0"/>
          </a:p>
          <a:p>
            <a:pPr marL="152400" indent="-152400">
              <a:buSzPct val="100000"/>
              <a:buChar char="•"/>
            </a:pPr>
            <a:r>
              <a:rPr lang="en-US" sz="1400" dirty="0">
                <a:solidFill>
                  <a:srgbClr val="263238"/>
                </a:solidFill>
              </a:rPr>
              <a:t>Add clinical metadata and multi-sequence MRI if available.</a:t>
            </a:r>
            <a:endParaRPr lang="en-US" sz="1400" dirty="0"/>
          </a:p>
          <a:p>
            <a:pPr marL="152400" indent="-152400">
              <a:buSzPct val="100000"/>
              <a:buChar char="•"/>
            </a:pPr>
            <a:r>
              <a:rPr lang="en-US" sz="1400" dirty="0">
                <a:solidFill>
                  <a:srgbClr val="263238"/>
                </a:solidFill>
              </a:rPr>
              <a:t>Collect expert tumor masks for localization validation.</a:t>
            </a:r>
            <a:endParaRPr lang="en-US" sz="1400" dirty="0"/>
          </a:p>
          <a:p>
            <a:pPr marL="152400" indent="-152400">
              <a:buSzPct val="100000"/>
              <a:buChar char="•"/>
            </a:pPr>
            <a:r>
              <a:rPr lang="en-US" sz="1400" dirty="0">
                <a:solidFill>
                  <a:srgbClr val="263238"/>
                </a:solidFill>
              </a:rPr>
              <a:t>Run external validation on data from a different institution before any clinical pilot.</a:t>
            </a:r>
            <a:endParaRPr lang="en-US" sz="1400" dirty="0"/>
          </a:p>
        </p:txBody>
      </p:sp>
      <p:sp>
        <p:nvSpPr>
          <p:cNvPr id="11" name="Text 9"/>
          <p:cNvSpPr/>
          <p:nvPr/>
        </p:nvSpPr>
        <p:spPr>
          <a:xfrm>
            <a:off x="777240" y="5806440"/>
            <a:ext cx="10515600" cy="320040"/>
          </a:xfrm>
          <a:prstGeom prst="rect">
            <a:avLst/>
          </a:prstGeom>
          <a:noFill/>
          <a:ln/>
        </p:spPr>
        <p:txBody>
          <a:bodyPr wrap="square" lIns="0" tIns="0" rIns="0" bIns="0" rtlCol="0" anchor="ctr">
            <a:normAutofit/>
          </a:bodyPr>
          <a:lstStyle/>
          <a:p>
            <a:pPr marL="0" indent="0" algn="ctr">
              <a:buNone/>
            </a:pPr>
            <a:endParaRPr lang="en-US" sz="1500" dirty="0"/>
          </a:p>
        </p:txBody>
      </p:sp>
      <p:sp>
        <p:nvSpPr>
          <p:cNvPr id="12" name="Shape 10"/>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13" name="Text 11"/>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5 of 5 | Conclusion</a:t>
            </a:r>
            <a:endParaRPr lang="en-US" sz="750" dirty="0"/>
          </a:p>
        </p:txBody>
      </p:sp>
      <p:sp>
        <p:nvSpPr>
          <p:cNvPr id="14" name="Text 12"/>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32238"/>
        </a:solidFill>
        <a:effectLst/>
      </p:bgPr>
    </p:bg>
    <p:spTree>
      <p:nvGrpSpPr>
        <p:cNvPr id="1" name=""/>
        <p:cNvGrpSpPr/>
        <p:nvPr/>
      </p:nvGrpSpPr>
      <p:grpSpPr>
        <a:xfrm>
          <a:off x="0" y="0"/>
          <a:ext cx="0" cy="0"/>
          <a:chOff x="0" y="0"/>
          <a:chExt cx="0" cy="0"/>
        </a:xfrm>
      </p:grpSpPr>
      <p:sp>
        <p:nvSpPr>
          <p:cNvPr id="17" name="Text 14"/>
          <p:cNvSpPr/>
          <p:nvPr/>
        </p:nvSpPr>
        <p:spPr>
          <a:xfrm>
            <a:off x="3855720" y="3093284"/>
            <a:ext cx="4480560" cy="384048"/>
          </a:xfrm>
          <a:prstGeom prst="rect">
            <a:avLst/>
          </a:prstGeom>
          <a:noFill/>
          <a:ln/>
        </p:spPr>
        <p:txBody>
          <a:bodyPr wrap="square" lIns="0" tIns="0" rIns="0" bIns="0" rtlCol="0" anchor="ctr"/>
          <a:lstStyle/>
          <a:p>
            <a:pPr marL="0" indent="0" algn="ctr">
              <a:buNone/>
            </a:pPr>
            <a:r>
              <a:rPr lang="en-US" sz="4000" b="1" dirty="0">
                <a:solidFill>
                  <a:srgbClr val="FFFFFF"/>
                </a:solidFill>
              </a:rPr>
              <a:t>Thank you</a:t>
            </a:r>
            <a:endParaRPr lang="en-US" sz="4000" dirty="0"/>
          </a:p>
        </p:txBody>
      </p:sp>
      <p:sp>
        <p:nvSpPr>
          <p:cNvPr id="18" name="Text 15"/>
          <p:cNvSpPr/>
          <p:nvPr/>
        </p:nvSpPr>
        <p:spPr>
          <a:xfrm>
            <a:off x="3855720" y="3645263"/>
            <a:ext cx="4480560" cy="228600"/>
          </a:xfrm>
          <a:prstGeom prst="rect">
            <a:avLst/>
          </a:prstGeom>
          <a:noFill/>
          <a:ln/>
        </p:spPr>
        <p:txBody>
          <a:bodyPr wrap="square" lIns="0" tIns="0" rIns="0" bIns="0" rtlCol="0" anchor="ctr"/>
          <a:lstStyle/>
          <a:p>
            <a:pPr marL="0" indent="0" algn="ctr">
              <a:buNone/>
            </a:pPr>
            <a:r>
              <a:rPr lang="en-US" sz="1600" dirty="0">
                <a:solidFill>
                  <a:srgbClr val="D5E5EF"/>
                </a:solidFill>
              </a:rPr>
              <a:t>Questions and feedback are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1168</TotalTime>
  <Words>1493</Words>
  <Application>Microsoft Macintosh PowerPoint</Application>
  <PresentationFormat>Widescreen</PresentationFormat>
  <Paragraphs>194</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 for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 Tumor MRI Classification Model</dc:title>
  <dc:subject>Brain Tumor MRI Classification Model Field Guide Presentation</dc:subject>
  <dc:creator>OpenAI</dc:creator>
  <cp:lastModifiedBy>Anggara, Ledi</cp:lastModifiedBy>
  <cp:revision>12</cp:revision>
  <dcterms:created xsi:type="dcterms:W3CDTF">2026-04-28T15:44:32Z</dcterms:created>
  <dcterms:modified xsi:type="dcterms:W3CDTF">2026-04-29T11:13:21Z</dcterms:modified>
</cp:coreProperties>
</file>