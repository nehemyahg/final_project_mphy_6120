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7" r:id="rId7"/>
    <p:sldId id="266" r:id="rId8"/>
    <p:sldId id="268" r:id="rId9"/>
    <p:sldId id="269" r:id="rId10"/>
    <p:sldId id="270" r:id="rId11"/>
    <p:sldId id="262" r:id="rId12"/>
    <p:sldId id="263" r:id="rId13"/>
    <p:sldId id="264" r:id="rId14"/>
    <p:sldId id="265"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980"/>
    <p:restoredTop sz="77540"/>
  </p:normalViewPr>
  <p:slideViewPr>
    <p:cSldViewPr snapToGrid="0" snapToObjects="1">
      <p:cViewPr varScale="1">
        <p:scale>
          <a:sx n="85" d="100"/>
          <a:sy n="85" d="100"/>
        </p:scale>
        <p:origin x="122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67369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Introduce the model as a support tool for classifying brain tumor MRI slices into glioma, meningioma, and pituitary tumor. Emphasize this is a review board presentation, not a claim for autonomous diagnosis.</a:t>
            </a:r>
          </a:p>
          <a:p>
            <a:endParaRPr lang="en-US" dirty="0"/>
          </a:p>
          <a:p>
            <a:r>
              <a:rPr lang="en-US" sz="1200" kern="1200" dirty="0">
                <a:solidFill>
                  <a:schemeClr val="tx1"/>
                </a:solidFill>
                <a:effectLst/>
                <a:latin typeface="+mn-lt"/>
                <a:ea typeface="+mn-ea"/>
                <a:cs typeface="+mn-cs"/>
              </a:rPr>
              <a:t>Final Project – MPHY 6120 AI in Medicine</a:t>
            </a:r>
          </a:p>
          <a:p>
            <a:r>
              <a:rPr lang="en-US" sz="1200" kern="1200" dirty="0">
                <a:solidFill>
                  <a:schemeClr val="tx1"/>
                </a:solidFill>
                <a:effectLst/>
                <a:latin typeface="+mn-lt"/>
                <a:ea typeface="+mn-ea"/>
                <a:cs typeface="+mn-cs"/>
              </a:rPr>
              <a:t>Nehemyah Green, Ledi Anggara, Trent Levy</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min</a:t>
            </a:r>
          </a:p>
          <a:p>
            <a:endParaRPr lang="en-US" dirty="0"/>
          </a:p>
          <a:p>
            <a:r>
              <a:rPr lang="en-US" dirty="0"/>
              <a:t>Problem slide. Keep it clinical. Explain that the issue is not only whether AI can classify images, but whether it can do it in a way that is consistent, transparent, and safe enough to be useful in workflow.</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263238"/>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263238"/>
                </a:solidFill>
              </a:rPr>
              <a:t>Clinical framing: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263238"/>
                </a:solidFill>
              </a:rPr>
              <a:t>The safest intended use is decision support: the model can suggest a tumor class and show visual evidence, while the final decision remains with the clinician.</a:t>
            </a:r>
            <a:endParaRPr lang="en-US" sz="1200"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sz="1200" b="1" dirty="0">
                <a:solidFill>
                  <a:srgbClr val="2F6F9F"/>
                </a:solidFill>
              </a:rPr>
              <a:t>1.5 MIN</a:t>
            </a:r>
          </a:p>
          <a:p>
            <a:pPr marL="171450" indent="-171450">
              <a:buFontTx/>
              <a:buChar char="-"/>
            </a:pPr>
            <a:endParaRPr lang="en-US" sz="1200" b="1" dirty="0">
              <a:solidFill>
                <a:srgbClr val="2F6F9F"/>
              </a:solidFill>
            </a:endParaRPr>
          </a:p>
          <a:p>
            <a:pPr marL="171450" indent="-171450">
              <a:buFontTx/>
              <a:buChar char="-"/>
            </a:pPr>
            <a:r>
              <a:rPr lang="en-US" dirty="0"/>
              <a:t>Data slide. Mention that the dataset appears balanced across classes, which makes overall accuracy easier to interpret. Explain augmentation simply: small image changes used during training so the model does not memorize exact images.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a:t>
            </a:r>
          </a:p>
          <a:p>
            <a:endParaRPr lang="en-US" dirty="0"/>
          </a:p>
          <a:p>
            <a:r>
              <a:rPr lang="en-US" dirty="0"/>
              <a:t>Technical approach. Explain transfer learning in plain language: starting from a model that already knows general image patterns, then adapting it to brain MRI tumor classes. Point to training curves: loss decreases and accuracy increases without major divergence.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slide. State the key numbers clearly: 902 correct out of 909 on the test set. Do not oversell. Emphasize that excellent internal performance does not automatically mean the model is ready for independent clinical deployment.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E6BEE-07DD-E773-3C74-C7258C1D18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01956B-E0F5-2303-6ACB-216982F07A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5DFABE-3627-AAAF-14CD-73AC6BF3970B}"/>
              </a:ext>
            </a:extLst>
          </p:cNvPr>
          <p:cNvSpPr>
            <a:spLocks noGrp="1"/>
          </p:cNvSpPr>
          <p:nvPr>
            <p:ph type="body" idx="1"/>
          </p:nvPr>
        </p:nvSpPr>
        <p:spPr/>
        <p:txBody>
          <a:bodyPr/>
          <a:lstStyle/>
          <a:p>
            <a:r>
              <a:rPr lang="en-US" dirty="0"/>
              <a:t>Interpretability slide. Explain that heatmaps are not proof that the model reasons like a physician. They are quality checks. The strongest limitation here is that there were no tumor masks, so localization could not be quantitatively verified.</a:t>
            </a:r>
          </a:p>
          <a:p>
            <a:endParaRPr lang="en-US" dirty="0"/>
          </a:p>
          <a:p>
            <a:r>
              <a:rPr lang="en-US" dirty="0"/>
              <a:t>What looks good:</a:t>
            </a:r>
            <a:br>
              <a:rPr lang="en-US" dirty="0"/>
            </a:br>
            <a:r>
              <a:rPr lang="en-US" sz="1200" dirty="0">
                <a:solidFill>
                  <a:srgbClr val="263238"/>
                </a:solidFill>
              </a:rPr>
              <a:t>Occlusion maps often localize around tumor-relevant regions.</a:t>
            </a:r>
            <a:endParaRPr lang="en-US" sz="1200" dirty="0">
              <a:solidFill>
                <a:schemeClr val="tx1"/>
              </a:solidFill>
            </a:endParaRPr>
          </a:p>
          <a:p>
            <a:r>
              <a:rPr lang="en-US" sz="1200" dirty="0">
                <a:solidFill>
                  <a:srgbClr val="263238"/>
                </a:solidFill>
              </a:rPr>
              <a:t>Multiple visual tools provide cross-checking.</a:t>
            </a:r>
          </a:p>
          <a:p>
            <a:endParaRPr lang="en-US" sz="1200" dirty="0">
              <a:solidFill>
                <a:srgbClr val="263238"/>
              </a:solidFill>
            </a:endParaRPr>
          </a:p>
          <a:p>
            <a:r>
              <a:rPr lang="en-US" sz="1200" dirty="0">
                <a:solidFill>
                  <a:srgbClr val="263238"/>
                </a:solidFill>
              </a:rPr>
              <a:t>What need caution:</a:t>
            </a:r>
          </a:p>
          <a:p>
            <a:r>
              <a:rPr lang="en-US" sz="1200" dirty="0">
                <a:solidFill>
                  <a:srgbClr val="263238"/>
                </a:solidFill>
              </a:rPr>
              <a:t>Early-layer Grad-CAM can be diffuse and may include non-tumor anatomy.</a:t>
            </a:r>
            <a:endParaRPr lang="en-US" sz="1200" dirty="0">
              <a:solidFill>
                <a:schemeClr val="tx1"/>
              </a:solidFill>
            </a:endParaRPr>
          </a:p>
          <a:p>
            <a:r>
              <a:rPr lang="en-US" sz="1200" dirty="0">
                <a:solidFill>
                  <a:srgbClr val="263238"/>
                </a:solidFill>
              </a:rPr>
              <a:t>No ground-truth masks were available, so Dice/</a:t>
            </a:r>
            <a:r>
              <a:rPr lang="en-US" sz="1200" dirty="0" err="1">
                <a:solidFill>
                  <a:srgbClr val="263238"/>
                </a:solidFill>
              </a:rPr>
              <a:t>IoU</a:t>
            </a:r>
            <a:r>
              <a:rPr lang="en-US" sz="1200" dirty="0">
                <a:solidFill>
                  <a:srgbClr val="263238"/>
                </a:solidFill>
              </a:rPr>
              <a:t> could not be validated.</a:t>
            </a:r>
            <a:endParaRPr lang="en-US" sz="1200" dirty="0"/>
          </a:p>
          <a:p>
            <a:endParaRPr lang="en-US" sz="1200" dirty="0"/>
          </a:p>
          <a:p>
            <a:endParaRPr lang="en-US" dirty="0"/>
          </a:p>
        </p:txBody>
      </p:sp>
      <p:sp>
        <p:nvSpPr>
          <p:cNvPr id="4" name="Slide Number Placeholder 3">
            <a:extLst>
              <a:ext uri="{FF2B5EF4-FFF2-40B4-BE49-F238E27FC236}">
                <a16:creationId xmlns:a16="http://schemas.microsoft.com/office/drawing/2014/main" id="{7FA371D5-2342-4404-F365-B81C2F000657}"/>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6772937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958AF-BA08-422B-50CA-BB8B89138E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D8B9D1-24DD-8432-A348-749A2AFA6A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5920A8-2BE6-BA47-0526-982C8905AB3C}"/>
              </a:ext>
            </a:extLst>
          </p:cNvPr>
          <p:cNvSpPr>
            <a:spLocks noGrp="1"/>
          </p:cNvSpPr>
          <p:nvPr>
            <p:ph type="body" idx="1"/>
          </p:nvPr>
        </p:nvSpPr>
        <p:spPr/>
        <p:txBody>
          <a:bodyPr/>
          <a:lstStyle/>
          <a:p>
            <a:r>
              <a:rPr lang="en-US" dirty="0"/>
              <a:t>Interpretability slide. Explain that heatmaps are not proof that the model reasons like a physician. They are quality checks. The strongest limitation here is that there were no tumor masks, so localization could not be quantitatively verified.</a:t>
            </a:r>
          </a:p>
          <a:p>
            <a:endParaRPr lang="en-US" dirty="0"/>
          </a:p>
          <a:p>
            <a:r>
              <a:rPr lang="en-US" dirty="0"/>
              <a:t>What looks good:</a:t>
            </a:r>
            <a:br>
              <a:rPr lang="en-US" dirty="0"/>
            </a:br>
            <a:r>
              <a:rPr lang="en-US" sz="1200" dirty="0">
                <a:solidFill>
                  <a:srgbClr val="263238"/>
                </a:solidFill>
              </a:rPr>
              <a:t>Occlusion maps often localize around tumor-relevant regions.</a:t>
            </a:r>
            <a:endParaRPr lang="en-US" sz="1200" dirty="0">
              <a:solidFill>
                <a:schemeClr val="tx1"/>
              </a:solidFill>
            </a:endParaRPr>
          </a:p>
          <a:p>
            <a:r>
              <a:rPr lang="en-US" sz="1200" dirty="0">
                <a:solidFill>
                  <a:srgbClr val="263238"/>
                </a:solidFill>
              </a:rPr>
              <a:t>Multiple visual tools provide cross-checking.</a:t>
            </a:r>
          </a:p>
          <a:p>
            <a:endParaRPr lang="en-US" sz="1200" dirty="0">
              <a:solidFill>
                <a:srgbClr val="263238"/>
              </a:solidFill>
            </a:endParaRPr>
          </a:p>
          <a:p>
            <a:r>
              <a:rPr lang="en-US" sz="1200" dirty="0">
                <a:solidFill>
                  <a:srgbClr val="263238"/>
                </a:solidFill>
              </a:rPr>
              <a:t>What need caution:</a:t>
            </a:r>
          </a:p>
          <a:p>
            <a:r>
              <a:rPr lang="en-US" sz="1200" dirty="0">
                <a:solidFill>
                  <a:srgbClr val="263238"/>
                </a:solidFill>
              </a:rPr>
              <a:t>Early-</a:t>
            </a:r>
            <a:r>
              <a:rPr lang="en-US" sz="1200" dirty="0" err="1">
                <a:solidFill>
                  <a:srgbClr val="263238"/>
                </a:solidFill>
              </a:rPr>
              <a:t>laer</a:t>
            </a:r>
            <a:r>
              <a:rPr lang="en-US" sz="1200" dirty="0">
                <a:solidFill>
                  <a:srgbClr val="263238"/>
                </a:solidFill>
              </a:rPr>
              <a:t> Grad-CAM can be diffuse and may include non-tumor anatomy.</a:t>
            </a:r>
            <a:endParaRPr lang="en-US" sz="1200" dirty="0">
              <a:solidFill>
                <a:schemeClr val="tx1"/>
              </a:solidFill>
            </a:endParaRPr>
          </a:p>
          <a:p>
            <a:r>
              <a:rPr lang="en-US" sz="1200" dirty="0">
                <a:solidFill>
                  <a:srgbClr val="263238"/>
                </a:solidFill>
              </a:rPr>
              <a:t>No ground-truth masks were available, so Dice/</a:t>
            </a:r>
            <a:r>
              <a:rPr lang="en-US" sz="1200" dirty="0" err="1">
                <a:solidFill>
                  <a:srgbClr val="263238"/>
                </a:solidFill>
              </a:rPr>
              <a:t>IoU</a:t>
            </a:r>
            <a:r>
              <a:rPr lang="en-US" sz="1200" dirty="0">
                <a:solidFill>
                  <a:srgbClr val="263238"/>
                </a:solidFill>
              </a:rPr>
              <a:t> could not be validated.</a:t>
            </a:r>
            <a:endParaRPr lang="en-US" sz="1200" dirty="0"/>
          </a:p>
          <a:p>
            <a:endParaRPr lang="en-US" sz="1200" dirty="0"/>
          </a:p>
          <a:p>
            <a:endParaRPr lang="en-US" dirty="0"/>
          </a:p>
        </p:txBody>
      </p:sp>
      <p:sp>
        <p:nvSpPr>
          <p:cNvPr id="4" name="Slide Number Placeholder 3">
            <a:extLst>
              <a:ext uri="{FF2B5EF4-FFF2-40B4-BE49-F238E27FC236}">
                <a16:creationId xmlns:a16="http://schemas.microsoft.com/office/drawing/2014/main" id="{8F51374C-B315-6200-ED41-92A2131DCF37}"/>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4179754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87F17D-17EB-5D69-8B18-E464F37829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3371EF-F092-E862-3FD6-1F1E91FF27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BD2EB8-24A0-CE68-6A26-13CB10BC2028}"/>
              </a:ext>
            </a:extLst>
          </p:cNvPr>
          <p:cNvSpPr>
            <a:spLocks noGrp="1"/>
          </p:cNvSpPr>
          <p:nvPr>
            <p:ph type="body" idx="1"/>
          </p:nvPr>
        </p:nvSpPr>
        <p:spPr/>
        <p:txBody>
          <a:bodyPr/>
          <a:lstStyle/>
          <a:p>
            <a:r>
              <a:rPr lang="en-US" dirty="0"/>
              <a:t>The ROC-AUC was approximately </a:t>
            </a:r>
            <a:r>
              <a:rPr lang="en-US" b="1" dirty="0"/>
              <a:t>0.977</a:t>
            </a:r>
            <a:r>
              <a:rPr lang="en-US" dirty="0"/>
              <a:t>, which means the model was very strong at separating the classes based on its prediction scores.</a:t>
            </a:r>
          </a:p>
          <a:p>
            <a:endParaRPr lang="en-US" dirty="0"/>
          </a:p>
          <a:p>
            <a:r>
              <a:rPr lang="en-US" dirty="0"/>
              <a:t>The </a:t>
            </a:r>
            <a:r>
              <a:rPr lang="en-US" b="1" dirty="0"/>
              <a:t>macro accuracy was 0.86</a:t>
            </a:r>
            <a:r>
              <a:rPr lang="en-US" dirty="0"/>
              <a:t>, meaning that when both classes are considered equally, the model correctly classified most cases. However, the errors were not randomly distributed. Most of the misclassifications clustered around </a:t>
            </a:r>
            <a:r>
              <a:rPr lang="en-US" b="1" dirty="0"/>
              <a:t>meningioma cases</a:t>
            </a:r>
            <a:r>
              <a:rPr lang="en-US" dirty="0"/>
              <a:t>, which is important because it tells us where the model is less reliable.</a:t>
            </a:r>
          </a:p>
          <a:p>
            <a:endParaRPr lang="en-US" dirty="0"/>
          </a:p>
          <a:p>
            <a:r>
              <a:rPr lang="en-US" dirty="0"/>
              <a:t>I also looked at calibration using the calibration curve and Brier loss. The </a:t>
            </a:r>
            <a:r>
              <a:rPr lang="en-US" b="1" dirty="0"/>
              <a:t>Brier loss was 0.073</a:t>
            </a:r>
            <a:r>
              <a:rPr lang="en-US" dirty="0"/>
              <a:t>, where lower is better. This suggests that the model’s predicted probabilities were reasonably good, but calibration still matters because a highly accurate model can still be overconfident.</a:t>
            </a:r>
          </a:p>
          <a:p>
            <a:endParaRPr lang="en-US" dirty="0"/>
          </a:p>
          <a:p>
            <a:r>
              <a:rPr lang="en-US" dirty="0"/>
              <a:t>So overall, the pretrained ResNet18 model showed strong performance, but the error pattern shows that we still need careful review, especially for meningioma cases.</a:t>
            </a:r>
          </a:p>
          <a:p>
            <a:endParaRPr lang="en-US" dirty="0"/>
          </a:p>
        </p:txBody>
      </p:sp>
      <p:sp>
        <p:nvSpPr>
          <p:cNvPr id="4" name="Slide Number Placeholder 3">
            <a:extLst>
              <a:ext uri="{FF2B5EF4-FFF2-40B4-BE49-F238E27FC236}">
                <a16:creationId xmlns:a16="http://schemas.microsoft.com/office/drawing/2014/main" id="{77E38B5D-8262-9699-0731-A4D86001BAC6}"/>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7211197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3E9EF-941E-BC2A-C155-3C4F67A2DD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6DA378-1764-D90A-6A5D-BE952BFD43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A4190D-6622-C79A-065A-243D894A997B}"/>
              </a:ext>
            </a:extLst>
          </p:cNvPr>
          <p:cNvSpPr>
            <a:spLocks noGrp="1"/>
          </p:cNvSpPr>
          <p:nvPr>
            <p:ph type="body" idx="1"/>
          </p:nvPr>
        </p:nvSpPr>
        <p:spPr/>
        <p:txBody>
          <a:bodyPr/>
          <a:lstStyle/>
          <a:p>
            <a:r>
              <a:rPr lang="en-US" dirty="0"/>
              <a:t>After evaluating performance, I used interpretability methods to better understand how the model was making its predictions.</a:t>
            </a:r>
          </a:p>
          <a:p>
            <a:endParaRPr lang="en-US" dirty="0"/>
          </a:p>
          <a:p>
            <a:r>
              <a:rPr lang="en-US" dirty="0"/>
              <a:t>Specifically, I used </a:t>
            </a:r>
            <a:r>
              <a:rPr lang="en-US" b="1" dirty="0"/>
              <a:t>Grad-CAM, Grad-CAM++, and occlusion sensitivity</a:t>
            </a:r>
            <a:r>
              <a:rPr lang="en-US" dirty="0"/>
              <a:t>. These methods do not prove that the model is clinically correct, but they help us check whether the model is focusing on reasonable image regions.</a:t>
            </a:r>
          </a:p>
          <a:p>
            <a:endParaRPr lang="en-US" dirty="0"/>
          </a:p>
          <a:p>
            <a:r>
              <a:rPr lang="en-US" dirty="0"/>
              <a:t>Grad-CAM highlights the regions that contributed most strongly to the model’s prediction. Grad-CAM++ is a variation that can sometimes provide more detailed localization. Occlusion sensitivity works differently: it blocks parts of the image and checks how much the prediction changes.</a:t>
            </a:r>
          </a:p>
          <a:p>
            <a:r>
              <a:rPr lang="en-US" dirty="0"/>
              <a:t>If blocking a region causes the confidence to drop, that region may be important for the model’s decision.</a:t>
            </a:r>
          </a:p>
          <a:p>
            <a:endParaRPr lang="en-US" dirty="0"/>
          </a:p>
          <a:p>
            <a:r>
              <a:rPr lang="en-US" dirty="0"/>
              <a:t>In this slide, the main purpose is to show that the pretrained ResNet18 model was not evaluated only by accuracy. I also wanted to inspect whether the model appeared to focus on tumor-related regions rather than irrelevant background or image artifacts.</a:t>
            </a:r>
          </a:p>
          <a:p>
            <a:endParaRPr lang="en-US" dirty="0"/>
          </a:p>
        </p:txBody>
      </p:sp>
      <p:sp>
        <p:nvSpPr>
          <p:cNvPr id="4" name="Slide Number Placeholder 3">
            <a:extLst>
              <a:ext uri="{FF2B5EF4-FFF2-40B4-BE49-F238E27FC236}">
                <a16:creationId xmlns:a16="http://schemas.microsoft.com/office/drawing/2014/main" id="{43B37E58-D3D2-31BB-833D-627A64106D0C}"/>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8571326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D93B6-9CBC-8272-E454-A72A54C4A3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B9A7F6-A642-C351-907E-DA149835CE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8D9763-0B4F-D389-8311-A319ADDEA5CA}"/>
              </a:ext>
            </a:extLst>
          </p:cNvPr>
          <p:cNvSpPr>
            <a:spLocks noGrp="1"/>
          </p:cNvSpPr>
          <p:nvPr>
            <p:ph type="body" idx="1"/>
          </p:nvPr>
        </p:nvSpPr>
        <p:spPr/>
        <p:txBody>
          <a:bodyPr/>
          <a:lstStyle/>
          <a:p>
            <a:r>
              <a:rPr lang="en-US" dirty="0"/>
              <a:t>Here, I compared examples of correct and incorrect predictions.</a:t>
            </a:r>
          </a:p>
          <a:p>
            <a:endParaRPr lang="en-US" dirty="0"/>
          </a:p>
          <a:p>
            <a:r>
              <a:rPr lang="en-US" dirty="0"/>
              <a:t>This step is important because summary metrics alone can hide clinically meaningful failure patterns. A model can have high overall accuracy but still fail in specific situations.</a:t>
            </a:r>
          </a:p>
          <a:p>
            <a:r>
              <a:rPr lang="en-US" dirty="0"/>
              <a:t>For the correct predictions, the heatmaps generally appeared more consistent with clinically meaningful regions. For the misclassified examples, the model attention may be less specific or may include areas that are not clearly related to the tumor.</a:t>
            </a:r>
          </a:p>
          <a:p>
            <a:r>
              <a:rPr lang="en-US" dirty="0"/>
              <a:t>This supports one of the main lessons from the project: interpretability tools are helpful for model review, but they should not be treated as ground truth. Grad-CAM and occlusion only show what influenced the model, not whether the model is truly reasoning like a radiologist.</a:t>
            </a:r>
          </a:p>
          <a:p>
            <a:r>
              <a:rPr lang="en-US" dirty="0"/>
              <a:t>So these examples are useful for error review, but final interpretation would still require expert clinical review.</a:t>
            </a:r>
          </a:p>
        </p:txBody>
      </p:sp>
      <p:sp>
        <p:nvSpPr>
          <p:cNvPr id="4" name="Slide Number Placeholder 3">
            <a:extLst>
              <a:ext uri="{FF2B5EF4-FFF2-40B4-BE49-F238E27FC236}">
                <a16:creationId xmlns:a16="http://schemas.microsoft.com/office/drawing/2014/main" id="{3FEDCB01-5622-6060-15C7-926F0D948856}"/>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5974650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field guide section, I focused on governance because model performance alone is not enough for safe clinical use.</a:t>
            </a:r>
          </a:p>
          <a:p>
            <a:r>
              <a:rPr lang="en-US" dirty="0"/>
              <a:t>The first step is </a:t>
            </a:r>
            <a:r>
              <a:rPr lang="en-US" b="1" dirty="0"/>
              <a:t>acceptance testing</a:t>
            </a:r>
            <a:r>
              <a:rPr lang="en-US" dirty="0"/>
              <a:t>. Before a model is used locally, it should be validated on local data to make sure there is no unexpected performance drop. This is especially important because MRI images can vary across scanners, institutions, and protocols.</a:t>
            </a:r>
          </a:p>
          <a:p>
            <a:r>
              <a:rPr lang="en-US" dirty="0"/>
              <a:t>The second step is </a:t>
            </a:r>
            <a:r>
              <a:rPr lang="en-US" b="1" dirty="0"/>
              <a:t>routine monitoring</a:t>
            </a:r>
            <a:r>
              <a:rPr lang="en-US" dirty="0"/>
              <a:t>. After deployment, we would need to track accuracy, confidence scores, class distribution, and failure patterns. Early monitoring should be frequent, such as weekly, and then monthly after the model becomes stable.</a:t>
            </a:r>
          </a:p>
          <a:p>
            <a:r>
              <a:rPr lang="en-US" dirty="0"/>
              <a:t>The third step is </a:t>
            </a:r>
            <a:r>
              <a:rPr lang="en-US" b="1" dirty="0"/>
              <a:t>escalation</a:t>
            </a:r>
            <a:r>
              <a:rPr lang="en-US" dirty="0"/>
              <a:t>. The model should be paused or reviewed if accuracy drops by more than 5%, if confidence patterns shift, or if heatmaps start behaving unexpectedly.</a:t>
            </a:r>
          </a:p>
          <a:p>
            <a:r>
              <a:rPr lang="en-US" dirty="0"/>
              <a:t>Finally, there must be </a:t>
            </a:r>
            <a:r>
              <a:rPr lang="en-US" b="1" dirty="0"/>
              <a:t>human review</a:t>
            </a:r>
            <a:r>
              <a:rPr lang="en-US" dirty="0"/>
              <a:t>. The model should support the clinician, not replace them. A clinician should confirm, override, and document the final decision.</a:t>
            </a:r>
          </a:p>
          <a:p>
            <a:r>
              <a:rPr lang="en-US" dirty="0"/>
              <a:t>So the key point is that governance is not separate from the model. It is part of the safety system around the model.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limitation is that the model uses a </a:t>
            </a:r>
            <a:r>
              <a:rPr lang="en-US" b="1" dirty="0"/>
              <a:t>single 2D MRI slice</a:t>
            </a:r>
            <a:r>
              <a:rPr lang="en-US" dirty="0"/>
              <a:t>. In real clinical practice, radiologists review multiple slices and often multiple MRI sequences. So this model has less information than a clinician would normally have.</a:t>
            </a:r>
          </a:p>
          <a:p>
            <a:r>
              <a:rPr lang="en-US" dirty="0"/>
              <a:t>Second, the model does not include clinical history, symptoms, prior imaging, or pathology information. That means it is only learning from the image input.</a:t>
            </a:r>
          </a:p>
          <a:p>
            <a:r>
              <a:rPr lang="en-US" dirty="0"/>
              <a:t>Third, the results are based on internal testing. External validation is still needed before considering any clinical pilot.</a:t>
            </a:r>
          </a:p>
          <a:p>
            <a:r>
              <a:rPr lang="en-US" dirty="0"/>
              <a:t>Another limitation is that there were no expert tumor segmentation masks available. Because of that, the heatmaps could only be assessed qualitatively, not quantitatively compared against tumor boundaries.</a:t>
            </a:r>
          </a:p>
          <a:p>
            <a:r>
              <a:rPr lang="en-US" dirty="0"/>
              <a:t>Performance may also degrade with different scanner vendors, different imaging protocols, poor image quality, cropped images, rotated images, rare tumor subtypes, postsurgical changes, or patient populations not represented in training.</a:t>
            </a:r>
          </a:p>
          <a:p>
            <a:r>
              <a:rPr lang="en-US" dirty="0"/>
              <a:t>Because of these limitations, the model should </a:t>
            </a:r>
            <a:r>
              <a:rPr lang="en-US" b="1" dirty="0"/>
              <a:t>not</a:t>
            </a:r>
            <a:r>
              <a:rPr lang="en-US" dirty="0"/>
              <a:t> be used for standalone diagnosis, replacing radiology review, treatment planning decisions, or automated triage without human confirmation.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Lessons learned slide. This is your closing argument. The model performs very well, but the mature conclusion is not simply that it works. The conclusion is that the model is promising and that safe implementation depends on validation, monitoring, and clinician oversight.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132238"/>
                </a:solidFill>
              </a:rPr>
              <a:t>Close: promising decision-support model, but deployment should be limited to a monitored, human-in-the-loop workflow.</a:t>
            </a:r>
            <a:endParaRPr lang="en-US" sz="1200"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and A slide. Invite feedback. You can ask the board which deployment setting they would consider safest and what validation evidence they would require.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mnt/data/1_2_sample_grid.png"/>
          <p:cNvPicPr>
            <a:picLocks noChangeAspect="1"/>
          </p:cNvPicPr>
          <p:nvPr/>
        </p:nvPicPr>
        <p:blipFill>
          <a:blip r:embed="rId3"/>
          <a:srcRect l="8098" r="8098"/>
          <a:stretch/>
        </p:blipFill>
        <p:spPr>
          <a:xfrm>
            <a:off x="6492240" y="0"/>
            <a:ext cx="5696712" cy="6858000"/>
          </a:xfrm>
          <a:prstGeom prst="rect">
            <a:avLst/>
          </a:prstGeom>
        </p:spPr>
      </p:pic>
      <p:sp>
        <p:nvSpPr>
          <p:cNvPr id="3" name="Shape 0"/>
          <p:cNvSpPr/>
          <p:nvPr/>
        </p:nvSpPr>
        <p:spPr>
          <a:xfrm>
            <a:off x="6172200" y="0"/>
            <a:ext cx="6016752" cy="6858000"/>
          </a:xfrm>
          <a:prstGeom prst="rect">
            <a:avLst/>
          </a:prstGeom>
          <a:solidFill>
            <a:srgbClr val="FFFFFF">
              <a:alpha val="85000"/>
            </a:srgbClr>
          </a:solidFill>
          <a:ln w="12700">
            <a:solidFill>
              <a:srgbClr val="333333">
                <a:alpha val="0"/>
              </a:srgbClr>
            </a:solidFill>
            <a:prstDash val="solid"/>
          </a:ln>
        </p:spPr>
        <p:txBody>
          <a:bodyPr/>
          <a:lstStyle/>
          <a:p>
            <a:endParaRPr lang="en-US"/>
          </a:p>
        </p:txBody>
      </p:sp>
      <p:sp>
        <p:nvSpPr>
          <p:cNvPr id="4" name="Shape 1"/>
          <p:cNvSpPr/>
          <p:nvPr/>
        </p:nvSpPr>
        <p:spPr>
          <a:xfrm>
            <a:off x="0" y="0"/>
            <a:ext cx="6446520" cy="6858000"/>
          </a:xfrm>
          <a:prstGeom prst="rect">
            <a:avLst/>
          </a:prstGeom>
          <a:solidFill>
            <a:srgbClr val="132238"/>
          </a:solidFill>
          <a:ln w="12700">
            <a:solidFill>
              <a:srgbClr val="132238"/>
            </a:solidFill>
            <a:prstDash val="solid"/>
          </a:ln>
        </p:spPr>
        <p:txBody>
          <a:bodyPr/>
          <a:lstStyle/>
          <a:p>
            <a:endParaRPr lang="en-US" dirty="0"/>
          </a:p>
        </p:txBody>
      </p:sp>
      <p:sp>
        <p:nvSpPr>
          <p:cNvPr id="5" name="Text 2"/>
          <p:cNvSpPr/>
          <p:nvPr/>
        </p:nvSpPr>
        <p:spPr>
          <a:xfrm>
            <a:off x="594360" y="960120"/>
            <a:ext cx="5303520" cy="1143000"/>
          </a:xfrm>
          <a:prstGeom prst="rect">
            <a:avLst/>
          </a:prstGeom>
          <a:noFill/>
          <a:ln/>
        </p:spPr>
        <p:txBody>
          <a:bodyPr wrap="square" lIns="0" tIns="0" rIns="0" bIns="0" rtlCol="0" anchor="ctr">
            <a:normAutofit/>
          </a:bodyPr>
          <a:lstStyle/>
          <a:p>
            <a:pPr marL="0" indent="0">
              <a:buNone/>
            </a:pPr>
            <a:r>
              <a:rPr lang="en-US" sz="3600" b="1" dirty="0">
                <a:solidFill>
                  <a:srgbClr val="FFFFFF"/>
                </a:solidFill>
              </a:rPr>
              <a:t>Brain Tumor MRI Classification Model</a:t>
            </a:r>
            <a:endParaRPr lang="en-US" sz="3600" dirty="0"/>
          </a:p>
        </p:txBody>
      </p:sp>
      <p:sp>
        <p:nvSpPr>
          <p:cNvPr id="13" name="Text 21">
            <a:extLst>
              <a:ext uri="{FF2B5EF4-FFF2-40B4-BE49-F238E27FC236}">
                <a16:creationId xmlns:a16="http://schemas.microsoft.com/office/drawing/2014/main" id="{36702371-9EAF-D267-8E50-536AB18FA56F}"/>
              </a:ext>
            </a:extLst>
          </p:cNvPr>
          <p:cNvSpPr/>
          <p:nvPr/>
        </p:nvSpPr>
        <p:spPr>
          <a:xfrm>
            <a:off x="609350" y="2283000"/>
            <a:ext cx="5806440" cy="663831"/>
          </a:xfrm>
          <a:prstGeom prst="rect">
            <a:avLst/>
          </a:prstGeom>
          <a:noFill/>
          <a:ln/>
        </p:spPr>
        <p:txBody>
          <a:bodyPr wrap="square" lIns="254" tIns="254" rIns="254" bIns="254" rtlCol="0" anchor="t">
            <a:normAutofit/>
          </a:bodyPr>
          <a:lstStyle/>
          <a:p>
            <a:r>
              <a:rPr lang="en-US" sz="1600" dirty="0">
                <a:solidFill>
                  <a:schemeClr val="bg1"/>
                </a:solidFill>
              </a:rPr>
              <a:t>Final Project – MPHY 6120 AI in Medicine</a:t>
            </a:r>
          </a:p>
          <a:p>
            <a:r>
              <a:rPr lang="en-US" sz="1600" dirty="0">
                <a:solidFill>
                  <a:schemeClr val="bg1"/>
                </a:solidFill>
              </a:rPr>
              <a:t>Nehemyah Green, Ledi Anggara, Trent Levy</a:t>
            </a:r>
          </a:p>
        </p:txBody>
      </p:sp>
      <p:sp>
        <p:nvSpPr>
          <p:cNvPr id="14" name="Text 21">
            <a:extLst>
              <a:ext uri="{FF2B5EF4-FFF2-40B4-BE49-F238E27FC236}">
                <a16:creationId xmlns:a16="http://schemas.microsoft.com/office/drawing/2014/main" id="{2794ABA1-9468-BC83-CE18-5E00CAF96557}"/>
              </a:ext>
            </a:extLst>
          </p:cNvPr>
          <p:cNvSpPr/>
          <p:nvPr/>
        </p:nvSpPr>
        <p:spPr>
          <a:xfrm>
            <a:off x="594360" y="6194169"/>
            <a:ext cx="5806440" cy="663831"/>
          </a:xfrm>
          <a:prstGeom prst="rect">
            <a:avLst/>
          </a:prstGeom>
          <a:noFill/>
          <a:ln/>
        </p:spPr>
        <p:txBody>
          <a:bodyPr wrap="square" lIns="254" tIns="254" rIns="254" bIns="254" rtlCol="0" anchor="t">
            <a:normAutofit/>
          </a:bodyPr>
          <a:lstStyle/>
          <a:p>
            <a:r>
              <a:rPr lang="en-US" sz="1400" dirty="0">
                <a:solidFill>
                  <a:schemeClr val="bg1"/>
                </a:solidFill>
              </a:rPr>
              <a:t>Apr 29,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502920" y="301752"/>
            <a:ext cx="2926080" cy="237744"/>
          </a:xfrm>
          <a:prstGeom prst="rect">
            <a:avLst/>
          </a:prstGeom>
          <a:noFill/>
          <a:ln/>
        </p:spPr>
        <p:txBody>
          <a:bodyPr wrap="square" lIns="0" tIns="0" rIns="0" bIns="0" rtlCol="0" anchor="ctr">
            <a:normAutofit/>
          </a:bodyPr>
          <a:lstStyle/>
          <a:p>
            <a:pPr marL="0" indent="0">
              <a:buNone/>
            </a:pPr>
            <a:endParaRPr lang="en-US" sz="1000" dirty="0"/>
          </a:p>
        </p:txBody>
      </p:sp>
      <p:sp>
        <p:nvSpPr>
          <p:cNvPr id="3" name="Text 1"/>
          <p:cNvSpPr/>
          <p:nvPr/>
        </p:nvSpPr>
        <p:spPr>
          <a:xfrm>
            <a:off x="502920" y="684440"/>
            <a:ext cx="6629400" cy="457200"/>
          </a:xfrm>
          <a:prstGeom prst="rect">
            <a:avLst/>
          </a:prstGeom>
          <a:noFill/>
          <a:ln/>
        </p:spPr>
        <p:txBody>
          <a:bodyPr wrap="square" lIns="0" tIns="0" rIns="0" bIns="0" rtlCol="0" anchor="ctr">
            <a:noAutofit/>
          </a:bodyPr>
          <a:lstStyle/>
          <a:p>
            <a:pPr marL="0" indent="0">
              <a:buNone/>
            </a:pPr>
            <a:r>
              <a:rPr lang="en-US" sz="2400" b="1" dirty="0">
                <a:solidFill>
                  <a:srgbClr val="132238"/>
                </a:solidFill>
              </a:rPr>
              <a:t>The Clinical Need</a:t>
            </a:r>
            <a:endParaRPr lang="en-US" sz="2400" dirty="0"/>
          </a:p>
        </p:txBody>
      </p:sp>
      <p:sp>
        <p:nvSpPr>
          <p:cNvPr id="4" name="Text 2"/>
          <p:cNvSpPr/>
          <p:nvPr/>
        </p:nvSpPr>
        <p:spPr>
          <a:xfrm>
            <a:off x="521208" y="1131200"/>
            <a:ext cx="6537960" cy="347472"/>
          </a:xfrm>
          <a:prstGeom prst="rect">
            <a:avLst/>
          </a:prstGeom>
          <a:noFill/>
          <a:ln/>
        </p:spPr>
        <p:txBody>
          <a:bodyPr wrap="square" lIns="0" tIns="0" rIns="0" bIns="0" rtlCol="0" anchor="ctr">
            <a:normAutofit/>
          </a:bodyPr>
          <a:lstStyle/>
          <a:p>
            <a:pPr marL="0" indent="0">
              <a:buNone/>
            </a:pPr>
            <a:r>
              <a:rPr lang="en-US" sz="1400" dirty="0">
                <a:solidFill>
                  <a:srgbClr val="637083"/>
                </a:solidFill>
              </a:rPr>
              <a:t>The tool is designed to support image review, not replace clinical interpretation.</a:t>
            </a:r>
            <a:endParaRPr lang="en-US" sz="1400" dirty="0"/>
          </a:p>
        </p:txBody>
      </p:sp>
      <p:pic>
        <p:nvPicPr>
          <p:cNvPr id="5" name="Image 0" descr="/mnt/data/1_2_sample_grid.png"/>
          <p:cNvPicPr>
            <a:picLocks noChangeAspect="1"/>
          </p:cNvPicPr>
          <p:nvPr/>
        </p:nvPicPr>
        <p:blipFill>
          <a:blip r:embed="rId3"/>
          <a:srcRect t="6491" b="6491"/>
          <a:stretch/>
        </p:blipFill>
        <p:spPr>
          <a:xfrm>
            <a:off x="7315200" y="868680"/>
            <a:ext cx="4343400" cy="3813048"/>
          </a:xfrm>
          <a:prstGeom prst="rect">
            <a:avLst/>
          </a:prstGeom>
        </p:spPr>
      </p:pic>
      <p:sp>
        <p:nvSpPr>
          <p:cNvPr id="6" name="Text 3"/>
          <p:cNvSpPr/>
          <p:nvPr/>
        </p:nvSpPr>
        <p:spPr>
          <a:xfrm>
            <a:off x="7315200" y="4736592"/>
            <a:ext cx="4343400" cy="164592"/>
          </a:xfrm>
          <a:prstGeom prst="rect">
            <a:avLst/>
          </a:prstGeom>
          <a:noFill/>
          <a:ln/>
        </p:spPr>
        <p:txBody>
          <a:bodyPr wrap="square" lIns="0" tIns="0" rIns="0" bIns="0" rtlCol="0" anchor="ctr">
            <a:normAutofit/>
          </a:bodyPr>
          <a:lstStyle/>
          <a:p>
            <a:pPr marL="0" indent="0" algn="ctr">
              <a:buNone/>
            </a:pPr>
            <a:r>
              <a:rPr lang="en-US" sz="750" dirty="0">
                <a:solidFill>
                  <a:srgbClr val="637083"/>
                </a:solidFill>
              </a:rPr>
              <a:t>Representative MRI slices from the training split</a:t>
            </a:r>
            <a:endParaRPr lang="en-US" sz="750" dirty="0"/>
          </a:p>
        </p:txBody>
      </p:sp>
      <p:sp>
        <p:nvSpPr>
          <p:cNvPr id="7" name="Text 4"/>
          <p:cNvSpPr/>
          <p:nvPr/>
        </p:nvSpPr>
        <p:spPr>
          <a:xfrm>
            <a:off x="685800" y="1745144"/>
            <a:ext cx="2377440" cy="320040"/>
          </a:xfrm>
          <a:prstGeom prst="rect">
            <a:avLst/>
          </a:prstGeom>
          <a:noFill/>
          <a:ln/>
        </p:spPr>
        <p:txBody>
          <a:bodyPr wrap="square" lIns="0" tIns="0" rIns="0" bIns="0" rtlCol="0" anchor="ctr"/>
          <a:lstStyle/>
          <a:p>
            <a:pPr marL="0" indent="0">
              <a:buNone/>
            </a:pPr>
            <a:r>
              <a:rPr lang="en-US" sz="1600" b="1" dirty="0">
                <a:solidFill>
                  <a:srgbClr val="2F6F9F"/>
                </a:solidFill>
              </a:rPr>
              <a:t>Clinical need</a:t>
            </a:r>
            <a:endParaRPr lang="en-US" sz="1600" dirty="0"/>
          </a:p>
        </p:txBody>
      </p:sp>
      <p:sp>
        <p:nvSpPr>
          <p:cNvPr id="8" name="Text 5"/>
          <p:cNvSpPr/>
          <p:nvPr/>
        </p:nvSpPr>
        <p:spPr>
          <a:xfrm>
            <a:off x="685800" y="2156624"/>
            <a:ext cx="6080760" cy="2011680"/>
          </a:xfrm>
          <a:prstGeom prst="rect">
            <a:avLst/>
          </a:prstGeom>
          <a:noFill/>
          <a:ln/>
        </p:spPr>
        <p:txBody>
          <a:bodyPr wrap="square" lIns="254" tIns="254" rIns="254" bIns="254" rtlCol="0" anchor="t">
            <a:normAutofit/>
          </a:bodyPr>
          <a:lstStyle/>
          <a:p>
            <a:pPr marL="152400" indent="-152400">
              <a:buSzPct val="100000"/>
              <a:buChar char="•"/>
            </a:pPr>
            <a:r>
              <a:rPr lang="en-US" sz="1600" dirty="0">
                <a:solidFill>
                  <a:srgbClr val="263238"/>
                </a:solidFill>
              </a:rPr>
              <a:t>Glioma, meningioma, and pituitary tumors can require different clinical management.</a:t>
            </a:r>
          </a:p>
          <a:p>
            <a:pPr>
              <a:buSzPct val="100000"/>
            </a:pPr>
            <a:endParaRPr lang="en-US" sz="1600" dirty="0"/>
          </a:p>
          <a:p>
            <a:pPr marL="152400" indent="-152400">
              <a:buSzPct val="100000"/>
              <a:buChar char="•"/>
            </a:pPr>
            <a:r>
              <a:rPr lang="en-US" sz="1600" dirty="0">
                <a:solidFill>
                  <a:srgbClr val="263238"/>
                </a:solidFill>
              </a:rPr>
              <a:t>MRI review depends on expert interpretation and can vary with image quality, slice selection, and reader experience.</a:t>
            </a:r>
          </a:p>
          <a:p>
            <a:pPr>
              <a:buSzPct val="100000"/>
            </a:pPr>
            <a:endParaRPr lang="en-US" sz="1600" dirty="0"/>
          </a:p>
          <a:p>
            <a:pPr marL="152400" indent="-152400">
              <a:buSzPct val="100000"/>
              <a:buChar char="•"/>
            </a:pPr>
            <a:r>
              <a:rPr lang="en-US" sz="1600" dirty="0">
                <a:solidFill>
                  <a:srgbClr val="263238"/>
                </a:solidFill>
              </a:rPr>
              <a:t>A consistent AI second reader may help triage cases, support education, and provide an additional check during review.</a:t>
            </a:r>
            <a:endParaRPr lang="en-US" sz="1600" dirty="0"/>
          </a:p>
        </p:txBody>
      </p:sp>
      <p:sp>
        <p:nvSpPr>
          <p:cNvPr id="12" name="Shape 9"/>
          <p:cNvSpPr/>
          <p:nvPr/>
        </p:nvSpPr>
        <p:spPr>
          <a:xfrm>
            <a:off x="502920" y="6446520"/>
            <a:ext cx="11201400" cy="0"/>
          </a:xfrm>
          <a:prstGeom prst="line">
            <a:avLst/>
          </a:prstGeom>
          <a:noFill/>
          <a:ln w="12700">
            <a:solidFill>
              <a:srgbClr val="E7EBEF"/>
            </a:solidFill>
            <a:prstDash val="solid"/>
          </a:ln>
        </p:spPr>
        <p:txBody>
          <a:bodyPr/>
          <a:lstStyle/>
          <a:p>
            <a:endParaRPr lang="en-US"/>
          </a:p>
        </p:txBody>
      </p:sp>
      <p:sp>
        <p:nvSpPr>
          <p:cNvPr id="13" name="Text 10"/>
          <p:cNvSpPr/>
          <p:nvPr/>
        </p:nvSpPr>
        <p:spPr>
          <a:xfrm>
            <a:off x="502920" y="6510528"/>
            <a:ext cx="4937760" cy="201168"/>
          </a:xfrm>
          <a:prstGeom prst="rect">
            <a:avLst/>
          </a:prstGeom>
          <a:noFill/>
          <a:ln/>
        </p:spPr>
        <p:txBody>
          <a:bodyPr wrap="square" lIns="0" tIns="0" rIns="0" bIns="0" rtlCol="0" anchor="ctr"/>
          <a:lstStyle/>
          <a:p>
            <a:pPr marL="0" indent="0">
              <a:buNone/>
            </a:pPr>
            <a:r>
              <a:rPr lang="en-US" sz="750" dirty="0">
                <a:solidFill>
                  <a:srgbClr val="637083"/>
                </a:solidFill>
                <a:latin typeface="Aptos" pitchFamily="34" charset="0"/>
                <a:ea typeface="Aptos" pitchFamily="34" charset="-122"/>
                <a:cs typeface="Aptos" pitchFamily="34" charset="-120"/>
              </a:rPr>
              <a:t>Section 1 of 5 | The Problem</a:t>
            </a:r>
            <a:endParaRPr lang="en-US" sz="750" dirty="0"/>
          </a:p>
        </p:txBody>
      </p:sp>
      <p:sp>
        <p:nvSpPr>
          <p:cNvPr id="14" name="Text 11"/>
          <p:cNvSpPr/>
          <p:nvPr/>
        </p:nvSpPr>
        <p:spPr>
          <a:xfrm>
            <a:off x="8503920" y="6510528"/>
            <a:ext cx="3200400" cy="201168"/>
          </a:xfrm>
          <a:prstGeom prst="rect">
            <a:avLst/>
          </a:prstGeom>
          <a:noFill/>
          <a:ln/>
        </p:spPr>
        <p:txBody>
          <a:bodyPr wrap="square" lIns="0" tIns="0" rIns="0" bIns="0" rtlCol="0" anchor="ctr"/>
          <a:lstStyle/>
          <a:p>
            <a:pPr marL="0" indent="0" algn="r">
              <a:buNone/>
            </a:pPr>
            <a:r>
              <a:rPr lang="en-US" sz="750" dirty="0">
                <a:solidFill>
                  <a:srgbClr val="637083"/>
                </a:solidFill>
                <a:latin typeface="Aptos" pitchFamily="34" charset="0"/>
                <a:ea typeface="Aptos" pitchFamily="34" charset="-122"/>
                <a:cs typeface="Aptos" pitchFamily="34" charset="-120"/>
              </a:rPr>
              <a:t>Brain tumor MRI classifier | Review board presentation</a:t>
            </a:r>
            <a:endParaRPr lang="en-US" sz="750" dirty="0"/>
          </a:p>
        </p:txBody>
      </p:sp>
      <p:sp>
        <p:nvSpPr>
          <p:cNvPr id="15" name="Text 0">
            <a:extLst>
              <a:ext uri="{FF2B5EF4-FFF2-40B4-BE49-F238E27FC236}">
                <a16:creationId xmlns:a16="http://schemas.microsoft.com/office/drawing/2014/main" id="{213F019E-20C6-1BB2-AEEC-A7782C4E59C0}"/>
              </a:ext>
            </a:extLst>
          </p:cNvPr>
          <p:cNvSpPr/>
          <p:nvPr/>
        </p:nvSpPr>
        <p:spPr>
          <a:xfrm>
            <a:off x="502920" y="365759"/>
            <a:ext cx="2926080" cy="237744"/>
          </a:xfrm>
          <a:prstGeom prst="rect">
            <a:avLst/>
          </a:prstGeom>
          <a:noFill/>
          <a:ln/>
        </p:spPr>
        <p:txBody>
          <a:bodyPr wrap="square" lIns="0" tIns="0" rIns="0" bIns="0" rtlCol="0" anchor="ctr">
            <a:normAutofit/>
          </a:bodyPr>
          <a:lstStyle/>
          <a:p>
            <a:pPr marL="0" indent="0">
              <a:buNone/>
            </a:pPr>
            <a:r>
              <a:rPr lang="en-US" sz="1000" b="1" dirty="0">
                <a:solidFill>
                  <a:srgbClr val="2F6F9F"/>
                </a:solidFill>
              </a:rPr>
              <a:t>THE PROBLEM</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502920" y="301752"/>
            <a:ext cx="2926080" cy="237744"/>
          </a:xfrm>
          <a:prstGeom prst="rect">
            <a:avLst/>
          </a:prstGeom>
          <a:noFill/>
          <a:ln/>
        </p:spPr>
        <p:txBody>
          <a:bodyPr wrap="square" lIns="0" tIns="0" rIns="0" bIns="0" rtlCol="0" anchor="ctr">
            <a:normAutofit/>
          </a:bodyPr>
          <a:lstStyle/>
          <a:p>
            <a:pPr marL="0" indent="0">
              <a:buNone/>
            </a:pPr>
            <a:r>
              <a:rPr lang="en-US" sz="1000" b="1" dirty="0">
                <a:solidFill>
                  <a:srgbClr val="2F6F9F"/>
                </a:solidFill>
              </a:rPr>
              <a:t>DATA &amp; APPROACH</a:t>
            </a:r>
            <a:endParaRPr lang="en-US" sz="1000" dirty="0"/>
          </a:p>
        </p:txBody>
      </p:sp>
      <p:sp>
        <p:nvSpPr>
          <p:cNvPr id="3" name="Text 1"/>
          <p:cNvSpPr/>
          <p:nvPr/>
        </p:nvSpPr>
        <p:spPr>
          <a:xfrm>
            <a:off x="502920" y="585216"/>
            <a:ext cx="6629400" cy="457200"/>
          </a:xfrm>
          <a:prstGeom prst="rect">
            <a:avLst/>
          </a:prstGeom>
          <a:noFill/>
          <a:ln/>
        </p:spPr>
        <p:txBody>
          <a:bodyPr wrap="square" lIns="0" tIns="0" rIns="0" bIns="0" rtlCol="0" anchor="ctr">
            <a:normAutofit/>
          </a:bodyPr>
          <a:lstStyle/>
          <a:p>
            <a:pPr marL="0" indent="0">
              <a:buNone/>
            </a:pPr>
            <a:r>
              <a:rPr lang="en-US" sz="2400" b="1" dirty="0">
                <a:solidFill>
                  <a:srgbClr val="132238"/>
                </a:solidFill>
              </a:rPr>
              <a:t>Dataset</a:t>
            </a:r>
            <a:endParaRPr lang="en-US" sz="2400" dirty="0"/>
          </a:p>
        </p:txBody>
      </p:sp>
      <p:sp>
        <p:nvSpPr>
          <p:cNvPr id="4" name="Text 2"/>
          <p:cNvSpPr/>
          <p:nvPr/>
        </p:nvSpPr>
        <p:spPr>
          <a:xfrm>
            <a:off x="521208" y="1109005"/>
            <a:ext cx="6537960" cy="347472"/>
          </a:xfrm>
          <a:prstGeom prst="rect">
            <a:avLst/>
          </a:prstGeom>
          <a:noFill/>
          <a:ln/>
        </p:spPr>
        <p:txBody>
          <a:bodyPr wrap="square" lIns="0" tIns="0" rIns="0" bIns="0" rtlCol="0" anchor="ctr">
            <a:normAutofit/>
          </a:bodyPr>
          <a:lstStyle/>
          <a:p>
            <a:pPr marL="0" indent="0">
              <a:buNone/>
            </a:pPr>
            <a:r>
              <a:rPr lang="en-US" sz="1400" dirty="0">
                <a:solidFill>
                  <a:srgbClr val="637083"/>
                </a:solidFill>
              </a:rPr>
              <a:t>Single 2D MRI slices were used to build and evaluate a three-class classifier.</a:t>
            </a:r>
            <a:endParaRPr lang="en-US" sz="1400" dirty="0"/>
          </a:p>
        </p:txBody>
      </p:sp>
      <p:sp>
        <p:nvSpPr>
          <p:cNvPr id="6" name="Text 3"/>
          <p:cNvSpPr/>
          <p:nvPr/>
        </p:nvSpPr>
        <p:spPr>
          <a:xfrm>
            <a:off x="7193030" y="3079504"/>
            <a:ext cx="4526280" cy="164592"/>
          </a:xfrm>
          <a:prstGeom prst="rect">
            <a:avLst/>
          </a:prstGeom>
          <a:noFill/>
          <a:ln/>
        </p:spPr>
        <p:txBody>
          <a:bodyPr wrap="square" lIns="0" tIns="0" rIns="0" bIns="0" rtlCol="0" anchor="ctr">
            <a:noAutofit/>
          </a:bodyPr>
          <a:lstStyle/>
          <a:p>
            <a:pPr marL="0" indent="0" algn="ctr">
              <a:buNone/>
            </a:pPr>
            <a:r>
              <a:rPr lang="en-US" sz="1200" dirty="0">
                <a:solidFill>
                  <a:srgbClr val="637083"/>
                </a:solidFill>
              </a:rPr>
              <a:t>Training split class distribution</a:t>
            </a:r>
            <a:endParaRPr lang="en-US" sz="1200" dirty="0"/>
          </a:p>
        </p:txBody>
      </p:sp>
      <p:sp>
        <p:nvSpPr>
          <p:cNvPr id="7" name="Shape 4"/>
          <p:cNvSpPr/>
          <p:nvPr/>
        </p:nvSpPr>
        <p:spPr>
          <a:xfrm>
            <a:off x="685800" y="1520746"/>
            <a:ext cx="1554480" cy="1051560"/>
          </a:xfrm>
          <a:prstGeom prst="roundRect">
            <a:avLst>
              <a:gd name="adj" fmla="val 6957"/>
            </a:avLst>
          </a:prstGeom>
          <a:solidFill>
            <a:srgbClr val="FFFFFF"/>
          </a:solidFill>
          <a:ln w="10160">
            <a:solidFill>
              <a:srgbClr val="D7DEE7"/>
            </a:solidFill>
            <a:prstDash val="solid"/>
          </a:ln>
        </p:spPr>
        <p:txBody>
          <a:bodyPr/>
          <a:lstStyle/>
          <a:p>
            <a:endParaRPr lang="en-US"/>
          </a:p>
        </p:txBody>
      </p:sp>
      <p:sp>
        <p:nvSpPr>
          <p:cNvPr id="8" name="Shape 5"/>
          <p:cNvSpPr/>
          <p:nvPr/>
        </p:nvSpPr>
        <p:spPr>
          <a:xfrm>
            <a:off x="685800" y="1520746"/>
            <a:ext cx="73152" cy="1051560"/>
          </a:xfrm>
          <a:prstGeom prst="rect">
            <a:avLst/>
          </a:prstGeom>
          <a:solidFill>
            <a:srgbClr val="2A9D8F"/>
          </a:solidFill>
          <a:ln w="12700">
            <a:solidFill>
              <a:srgbClr val="2A9D8F"/>
            </a:solidFill>
            <a:prstDash val="solid"/>
          </a:ln>
        </p:spPr>
        <p:txBody>
          <a:bodyPr/>
          <a:lstStyle/>
          <a:p>
            <a:endParaRPr lang="en-US"/>
          </a:p>
        </p:txBody>
      </p:sp>
      <p:sp>
        <p:nvSpPr>
          <p:cNvPr id="9" name="Text 6"/>
          <p:cNvSpPr/>
          <p:nvPr/>
        </p:nvSpPr>
        <p:spPr>
          <a:xfrm>
            <a:off x="868680" y="1667050"/>
            <a:ext cx="1234440" cy="320040"/>
          </a:xfrm>
          <a:prstGeom prst="rect">
            <a:avLst/>
          </a:prstGeom>
          <a:noFill/>
          <a:ln/>
        </p:spPr>
        <p:txBody>
          <a:bodyPr wrap="square" lIns="0" tIns="0" rIns="0" bIns="0" rtlCol="0" anchor="ctr">
            <a:normAutofit/>
          </a:bodyPr>
          <a:lstStyle/>
          <a:p>
            <a:pPr marL="0" indent="0">
              <a:buNone/>
            </a:pPr>
            <a:r>
              <a:rPr lang="en-US" sz="2100" b="1" dirty="0">
                <a:solidFill>
                  <a:srgbClr val="132238"/>
                </a:solidFill>
              </a:rPr>
              <a:t>4,239</a:t>
            </a:r>
            <a:endParaRPr lang="en-US" sz="2100" dirty="0"/>
          </a:p>
        </p:txBody>
      </p:sp>
      <p:sp>
        <p:nvSpPr>
          <p:cNvPr id="10" name="Text 7"/>
          <p:cNvSpPr/>
          <p:nvPr/>
        </p:nvSpPr>
        <p:spPr>
          <a:xfrm>
            <a:off x="868680" y="2032810"/>
            <a:ext cx="1234440" cy="411480"/>
          </a:xfrm>
          <a:prstGeom prst="rect">
            <a:avLst/>
          </a:prstGeom>
          <a:noFill/>
          <a:ln/>
        </p:spPr>
        <p:txBody>
          <a:bodyPr wrap="square" lIns="0" tIns="0" rIns="0" bIns="0" rtlCol="0" anchor="ctr">
            <a:normAutofit/>
          </a:bodyPr>
          <a:lstStyle/>
          <a:p>
            <a:pPr marL="0" indent="0">
              <a:buNone/>
            </a:pPr>
            <a:r>
              <a:rPr lang="en-US" sz="950" dirty="0">
                <a:solidFill>
                  <a:srgbClr val="637083"/>
                </a:solidFill>
              </a:rPr>
              <a:t>training images</a:t>
            </a:r>
            <a:endParaRPr lang="en-US" sz="950" dirty="0"/>
          </a:p>
        </p:txBody>
      </p:sp>
      <p:sp>
        <p:nvSpPr>
          <p:cNvPr id="11" name="Shape 8"/>
          <p:cNvSpPr/>
          <p:nvPr/>
        </p:nvSpPr>
        <p:spPr>
          <a:xfrm>
            <a:off x="2423160" y="1520746"/>
            <a:ext cx="1554480" cy="1051560"/>
          </a:xfrm>
          <a:prstGeom prst="roundRect">
            <a:avLst>
              <a:gd name="adj" fmla="val 6957"/>
            </a:avLst>
          </a:prstGeom>
          <a:solidFill>
            <a:srgbClr val="FFFFFF"/>
          </a:solidFill>
          <a:ln w="10160">
            <a:solidFill>
              <a:srgbClr val="D7DEE7"/>
            </a:solidFill>
            <a:prstDash val="solid"/>
          </a:ln>
        </p:spPr>
        <p:txBody>
          <a:bodyPr/>
          <a:lstStyle/>
          <a:p>
            <a:endParaRPr lang="en-US"/>
          </a:p>
        </p:txBody>
      </p:sp>
      <p:sp>
        <p:nvSpPr>
          <p:cNvPr id="12" name="Shape 9"/>
          <p:cNvSpPr/>
          <p:nvPr/>
        </p:nvSpPr>
        <p:spPr>
          <a:xfrm>
            <a:off x="2423160" y="1520746"/>
            <a:ext cx="73152" cy="1051560"/>
          </a:xfrm>
          <a:prstGeom prst="rect">
            <a:avLst/>
          </a:prstGeom>
          <a:solidFill>
            <a:srgbClr val="2F6F9F"/>
          </a:solidFill>
          <a:ln w="12700">
            <a:solidFill>
              <a:srgbClr val="2F6F9F"/>
            </a:solidFill>
            <a:prstDash val="solid"/>
          </a:ln>
        </p:spPr>
        <p:txBody>
          <a:bodyPr/>
          <a:lstStyle/>
          <a:p>
            <a:endParaRPr lang="en-US"/>
          </a:p>
        </p:txBody>
      </p:sp>
      <p:sp>
        <p:nvSpPr>
          <p:cNvPr id="13" name="Text 10"/>
          <p:cNvSpPr/>
          <p:nvPr/>
        </p:nvSpPr>
        <p:spPr>
          <a:xfrm>
            <a:off x="2606040" y="1667050"/>
            <a:ext cx="1234440" cy="320040"/>
          </a:xfrm>
          <a:prstGeom prst="rect">
            <a:avLst/>
          </a:prstGeom>
          <a:noFill/>
          <a:ln/>
        </p:spPr>
        <p:txBody>
          <a:bodyPr wrap="square" lIns="0" tIns="0" rIns="0" bIns="0" rtlCol="0" anchor="ctr">
            <a:normAutofit/>
          </a:bodyPr>
          <a:lstStyle/>
          <a:p>
            <a:pPr marL="0" indent="0">
              <a:buNone/>
            </a:pPr>
            <a:r>
              <a:rPr lang="en-US" sz="2100" b="1" dirty="0">
                <a:solidFill>
                  <a:srgbClr val="132238"/>
                </a:solidFill>
              </a:rPr>
              <a:t>908</a:t>
            </a:r>
            <a:endParaRPr lang="en-US" sz="2100" dirty="0"/>
          </a:p>
        </p:txBody>
      </p:sp>
      <p:sp>
        <p:nvSpPr>
          <p:cNvPr id="14" name="Text 11"/>
          <p:cNvSpPr/>
          <p:nvPr/>
        </p:nvSpPr>
        <p:spPr>
          <a:xfrm>
            <a:off x="2606040" y="2032810"/>
            <a:ext cx="1234440" cy="411480"/>
          </a:xfrm>
          <a:prstGeom prst="rect">
            <a:avLst/>
          </a:prstGeom>
          <a:noFill/>
          <a:ln/>
        </p:spPr>
        <p:txBody>
          <a:bodyPr wrap="square" lIns="0" tIns="0" rIns="0" bIns="0" rtlCol="0" anchor="ctr">
            <a:normAutofit/>
          </a:bodyPr>
          <a:lstStyle/>
          <a:p>
            <a:pPr marL="0" indent="0">
              <a:buNone/>
            </a:pPr>
            <a:r>
              <a:rPr lang="en-US" sz="950" dirty="0">
                <a:solidFill>
                  <a:srgbClr val="637083"/>
                </a:solidFill>
              </a:rPr>
              <a:t>validation images</a:t>
            </a:r>
            <a:endParaRPr lang="en-US" sz="950" dirty="0"/>
          </a:p>
        </p:txBody>
      </p:sp>
      <p:sp>
        <p:nvSpPr>
          <p:cNvPr id="15" name="Shape 12"/>
          <p:cNvSpPr/>
          <p:nvPr/>
        </p:nvSpPr>
        <p:spPr>
          <a:xfrm>
            <a:off x="4160520" y="1520746"/>
            <a:ext cx="1554480" cy="1051560"/>
          </a:xfrm>
          <a:prstGeom prst="roundRect">
            <a:avLst>
              <a:gd name="adj" fmla="val 6957"/>
            </a:avLst>
          </a:prstGeom>
          <a:solidFill>
            <a:srgbClr val="FFFFFF"/>
          </a:solidFill>
          <a:ln w="10160">
            <a:solidFill>
              <a:srgbClr val="D7DEE7"/>
            </a:solidFill>
            <a:prstDash val="solid"/>
          </a:ln>
        </p:spPr>
        <p:txBody>
          <a:bodyPr/>
          <a:lstStyle/>
          <a:p>
            <a:endParaRPr lang="en-US"/>
          </a:p>
        </p:txBody>
      </p:sp>
      <p:sp>
        <p:nvSpPr>
          <p:cNvPr id="16" name="Shape 13"/>
          <p:cNvSpPr/>
          <p:nvPr/>
        </p:nvSpPr>
        <p:spPr>
          <a:xfrm>
            <a:off x="4160520" y="1520746"/>
            <a:ext cx="73152" cy="1051560"/>
          </a:xfrm>
          <a:prstGeom prst="rect">
            <a:avLst/>
          </a:prstGeom>
          <a:solidFill>
            <a:srgbClr val="F4A261"/>
          </a:solidFill>
          <a:ln w="12700">
            <a:solidFill>
              <a:srgbClr val="F4A261"/>
            </a:solidFill>
            <a:prstDash val="solid"/>
          </a:ln>
        </p:spPr>
        <p:txBody>
          <a:bodyPr/>
          <a:lstStyle/>
          <a:p>
            <a:endParaRPr lang="en-US"/>
          </a:p>
        </p:txBody>
      </p:sp>
      <p:sp>
        <p:nvSpPr>
          <p:cNvPr id="17" name="Text 14"/>
          <p:cNvSpPr/>
          <p:nvPr/>
        </p:nvSpPr>
        <p:spPr>
          <a:xfrm>
            <a:off x="4343400" y="1667050"/>
            <a:ext cx="1234440" cy="320040"/>
          </a:xfrm>
          <a:prstGeom prst="rect">
            <a:avLst/>
          </a:prstGeom>
          <a:noFill/>
          <a:ln/>
        </p:spPr>
        <p:txBody>
          <a:bodyPr wrap="square" lIns="0" tIns="0" rIns="0" bIns="0" rtlCol="0" anchor="ctr">
            <a:normAutofit/>
          </a:bodyPr>
          <a:lstStyle/>
          <a:p>
            <a:pPr marL="0" indent="0">
              <a:buNone/>
            </a:pPr>
            <a:r>
              <a:rPr lang="en-US" sz="2100" b="1" dirty="0">
                <a:solidFill>
                  <a:srgbClr val="132238"/>
                </a:solidFill>
              </a:rPr>
              <a:t>909</a:t>
            </a:r>
            <a:endParaRPr lang="en-US" sz="2100" dirty="0"/>
          </a:p>
        </p:txBody>
      </p:sp>
      <p:sp>
        <p:nvSpPr>
          <p:cNvPr id="18" name="Text 15"/>
          <p:cNvSpPr/>
          <p:nvPr/>
        </p:nvSpPr>
        <p:spPr>
          <a:xfrm>
            <a:off x="4343400" y="2032810"/>
            <a:ext cx="1234440" cy="411480"/>
          </a:xfrm>
          <a:prstGeom prst="rect">
            <a:avLst/>
          </a:prstGeom>
          <a:noFill/>
          <a:ln/>
        </p:spPr>
        <p:txBody>
          <a:bodyPr wrap="square" lIns="0" tIns="0" rIns="0" bIns="0" rtlCol="0" anchor="ctr">
            <a:normAutofit/>
          </a:bodyPr>
          <a:lstStyle/>
          <a:p>
            <a:pPr marL="0" indent="0">
              <a:buNone/>
            </a:pPr>
            <a:r>
              <a:rPr lang="en-US" sz="950" dirty="0">
                <a:solidFill>
                  <a:srgbClr val="637083"/>
                </a:solidFill>
              </a:rPr>
              <a:t>test images</a:t>
            </a:r>
            <a:endParaRPr lang="en-US" sz="950" dirty="0"/>
          </a:p>
        </p:txBody>
      </p:sp>
      <p:sp>
        <p:nvSpPr>
          <p:cNvPr id="19" name="Shape 16"/>
          <p:cNvSpPr/>
          <p:nvPr/>
        </p:nvSpPr>
        <p:spPr>
          <a:xfrm>
            <a:off x="5897880" y="1520746"/>
            <a:ext cx="914400" cy="1051560"/>
          </a:xfrm>
          <a:prstGeom prst="roundRect">
            <a:avLst>
              <a:gd name="adj" fmla="val 8000"/>
            </a:avLst>
          </a:prstGeom>
          <a:solidFill>
            <a:srgbClr val="FFFFFF"/>
          </a:solidFill>
          <a:ln w="10160">
            <a:solidFill>
              <a:srgbClr val="D7DEE7"/>
            </a:solidFill>
            <a:prstDash val="solid"/>
          </a:ln>
        </p:spPr>
        <p:txBody>
          <a:bodyPr/>
          <a:lstStyle/>
          <a:p>
            <a:endParaRPr lang="en-US"/>
          </a:p>
        </p:txBody>
      </p:sp>
      <p:sp>
        <p:nvSpPr>
          <p:cNvPr id="20" name="Shape 17"/>
          <p:cNvSpPr/>
          <p:nvPr/>
        </p:nvSpPr>
        <p:spPr>
          <a:xfrm>
            <a:off x="5897880" y="1520746"/>
            <a:ext cx="73152" cy="1051560"/>
          </a:xfrm>
          <a:prstGeom prst="rect">
            <a:avLst/>
          </a:prstGeom>
          <a:solidFill>
            <a:srgbClr val="D1495B"/>
          </a:solidFill>
          <a:ln w="12700">
            <a:solidFill>
              <a:srgbClr val="D1495B"/>
            </a:solidFill>
            <a:prstDash val="solid"/>
          </a:ln>
        </p:spPr>
        <p:txBody>
          <a:bodyPr/>
          <a:lstStyle/>
          <a:p>
            <a:endParaRPr lang="en-US"/>
          </a:p>
        </p:txBody>
      </p:sp>
      <p:sp>
        <p:nvSpPr>
          <p:cNvPr id="21" name="Text 18"/>
          <p:cNvSpPr/>
          <p:nvPr/>
        </p:nvSpPr>
        <p:spPr>
          <a:xfrm>
            <a:off x="6080760" y="1667050"/>
            <a:ext cx="594360" cy="320040"/>
          </a:xfrm>
          <a:prstGeom prst="rect">
            <a:avLst/>
          </a:prstGeom>
          <a:noFill/>
          <a:ln/>
        </p:spPr>
        <p:txBody>
          <a:bodyPr wrap="square" lIns="0" tIns="0" rIns="0" bIns="0" rtlCol="0" anchor="ctr">
            <a:normAutofit/>
          </a:bodyPr>
          <a:lstStyle/>
          <a:p>
            <a:pPr marL="0" indent="0">
              <a:buNone/>
            </a:pPr>
            <a:r>
              <a:rPr lang="en-US" sz="2100" b="1" dirty="0">
                <a:solidFill>
                  <a:srgbClr val="132238"/>
                </a:solidFill>
              </a:rPr>
              <a:t>3</a:t>
            </a:r>
            <a:endParaRPr lang="en-US" sz="2100" dirty="0"/>
          </a:p>
        </p:txBody>
      </p:sp>
      <p:sp>
        <p:nvSpPr>
          <p:cNvPr id="22" name="Text 19"/>
          <p:cNvSpPr/>
          <p:nvPr/>
        </p:nvSpPr>
        <p:spPr>
          <a:xfrm>
            <a:off x="6080760" y="2032810"/>
            <a:ext cx="594360" cy="411480"/>
          </a:xfrm>
          <a:prstGeom prst="rect">
            <a:avLst/>
          </a:prstGeom>
          <a:noFill/>
          <a:ln/>
        </p:spPr>
        <p:txBody>
          <a:bodyPr wrap="square" lIns="0" tIns="0" rIns="0" bIns="0" rtlCol="0" anchor="ctr">
            <a:normAutofit/>
          </a:bodyPr>
          <a:lstStyle/>
          <a:p>
            <a:pPr marL="0" indent="0">
              <a:buNone/>
            </a:pPr>
            <a:r>
              <a:rPr lang="en-US" sz="950" dirty="0">
                <a:solidFill>
                  <a:srgbClr val="637083"/>
                </a:solidFill>
              </a:rPr>
              <a:t>classes</a:t>
            </a:r>
            <a:endParaRPr lang="en-US" sz="950" dirty="0"/>
          </a:p>
        </p:txBody>
      </p:sp>
      <p:sp>
        <p:nvSpPr>
          <p:cNvPr id="23" name="Text 20"/>
          <p:cNvSpPr/>
          <p:nvPr/>
        </p:nvSpPr>
        <p:spPr>
          <a:xfrm>
            <a:off x="685800" y="2983786"/>
            <a:ext cx="2011680" cy="320040"/>
          </a:xfrm>
          <a:prstGeom prst="rect">
            <a:avLst/>
          </a:prstGeom>
          <a:noFill/>
          <a:ln/>
        </p:spPr>
        <p:txBody>
          <a:bodyPr wrap="square" lIns="0" tIns="0" rIns="0" bIns="0" rtlCol="0" anchor="ctr"/>
          <a:lstStyle/>
          <a:p>
            <a:pPr marL="0" indent="0">
              <a:buNone/>
            </a:pPr>
            <a:r>
              <a:rPr lang="en-US" sz="1600" b="1" dirty="0">
                <a:solidFill>
                  <a:srgbClr val="2F6F9F"/>
                </a:solidFill>
              </a:rPr>
              <a:t>Data decisions</a:t>
            </a:r>
            <a:endParaRPr lang="en-US" sz="1600" dirty="0"/>
          </a:p>
        </p:txBody>
      </p:sp>
      <p:sp>
        <p:nvSpPr>
          <p:cNvPr id="24" name="Text 21"/>
          <p:cNvSpPr/>
          <p:nvPr/>
        </p:nvSpPr>
        <p:spPr>
          <a:xfrm>
            <a:off x="685800" y="3395266"/>
            <a:ext cx="5806440" cy="2240280"/>
          </a:xfrm>
          <a:prstGeom prst="rect">
            <a:avLst/>
          </a:prstGeom>
          <a:noFill/>
          <a:ln/>
        </p:spPr>
        <p:txBody>
          <a:bodyPr wrap="square" lIns="254" tIns="254" rIns="254" bIns="254" rtlCol="0" anchor="t">
            <a:normAutofit lnSpcReduction="10000"/>
          </a:bodyPr>
          <a:lstStyle/>
          <a:p>
            <a:pPr marL="152400" indent="-152400">
              <a:buSzPct val="100000"/>
              <a:buChar char="•"/>
            </a:pPr>
            <a:r>
              <a:rPr lang="en-US" sz="1600" dirty="0">
                <a:solidFill>
                  <a:srgbClr val="263238"/>
                </a:solidFill>
              </a:rPr>
              <a:t>Classes: glioma, meningioma, and pituitary tumor.</a:t>
            </a:r>
          </a:p>
          <a:p>
            <a:pPr marL="152400" indent="-152400">
              <a:buSzPct val="100000"/>
              <a:buChar char="•"/>
            </a:pPr>
            <a:endParaRPr lang="en-US" sz="1600" dirty="0"/>
          </a:p>
          <a:p>
            <a:pPr marL="152400" indent="-152400">
              <a:buSzPct val="100000"/>
              <a:buChar char="•"/>
            </a:pPr>
            <a:r>
              <a:rPr lang="en-US" sz="1600" dirty="0">
                <a:solidFill>
                  <a:srgbClr val="263238"/>
                </a:solidFill>
              </a:rPr>
              <a:t>Dataset was deduplicated.</a:t>
            </a:r>
          </a:p>
          <a:p>
            <a:pPr>
              <a:buSzPct val="100000"/>
            </a:pPr>
            <a:endParaRPr lang="en-US" sz="1600" dirty="0">
              <a:solidFill>
                <a:srgbClr val="263238"/>
              </a:solidFill>
            </a:endParaRPr>
          </a:p>
          <a:p>
            <a:pPr marL="152400" indent="-152400">
              <a:buSzPct val="100000"/>
              <a:buChar char="•"/>
            </a:pPr>
            <a:r>
              <a:rPr lang="en-US" sz="1600" dirty="0">
                <a:solidFill>
                  <a:srgbClr val="263238"/>
                </a:solidFill>
              </a:rPr>
              <a:t>Images were normalized and resized for model input.</a:t>
            </a:r>
          </a:p>
          <a:p>
            <a:pPr marL="152400" indent="-152400">
              <a:buSzPct val="100000"/>
              <a:buChar char="•"/>
            </a:pPr>
            <a:endParaRPr lang="en-US" sz="1600" dirty="0"/>
          </a:p>
          <a:p>
            <a:pPr marL="152400" indent="-152400">
              <a:buSzPct val="100000"/>
              <a:buChar char="•"/>
            </a:pPr>
            <a:r>
              <a:rPr lang="en-US" sz="1600" dirty="0">
                <a:solidFill>
                  <a:srgbClr val="263238"/>
                </a:solidFill>
              </a:rPr>
              <a:t>Augmentation was used to reduce overfitting and teach the model to ignore small acquisition differences.</a:t>
            </a:r>
          </a:p>
          <a:p>
            <a:pPr marL="152400" indent="-152400">
              <a:buSzPct val="100000"/>
              <a:buChar char="•"/>
            </a:pPr>
            <a:endParaRPr lang="en-US" sz="1600" dirty="0"/>
          </a:p>
          <a:p>
            <a:pPr marL="152400" indent="-152400">
              <a:buSzPct val="100000"/>
              <a:buChar char="•"/>
            </a:pPr>
            <a:r>
              <a:rPr lang="en-US" sz="1600" dirty="0">
                <a:solidFill>
                  <a:srgbClr val="263238"/>
                </a:solidFill>
              </a:rPr>
              <a:t>Evaluation was performed on a held-out test set.</a:t>
            </a:r>
            <a:endParaRPr lang="en-US" sz="1600" dirty="0"/>
          </a:p>
        </p:txBody>
      </p:sp>
      <p:pic>
        <p:nvPicPr>
          <p:cNvPr id="25" name="Image 1" descr="/mnt/data/1_3_augmentation.png"/>
          <p:cNvPicPr>
            <a:picLocks noChangeAspect="1"/>
          </p:cNvPicPr>
          <p:nvPr/>
        </p:nvPicPr>
        <p:blipFill>
          <a:blip r:embed="rId3"/>
          <a:srcRect l="7041" r="7041"/>
          <a:stretch/>
        </p:blipFill>
        <p:spPr>
          <a:xfrm>
            <a:off x="7086600" y="3611880"/>
            <a:ext cx="4526280" cy="1252728"/>
          </a:xfrm>
          <a:prstGeom prst="rect">
            <a:avLst/>
          </a:prstGeom>
        </p:spPr>
      </p:pic>
      <p:sp>
        <p:nvSpPr>
          <p:cNvPr id="26" name="Text 22"/>
          <p:cNvSpPr/>
          <p:nvPr/>
        </p:nvSpPr>
        <p:spPr>
          <a:xfrm>
            <a:off x="7086600" y="4919472"/>
            <a:ext cx="4526280" cy="164592"/>
          </a:xfrm>
          <a:prstGeom prst="rect">
            <a:avLst/>
          </a:prstGeom>
          <a:noFill/>
          <a:ln/>
        </p:spPr>
        <p:txBody>
          <a:bodyPr wrap="square" lIns="0" tIns="0" rIns="0" bIns="0" rtlCol="0" anchor="ctr">
            <a:noAutofit/>
          </a:bodyPr>
          <a:lstStyle/>
          <a:p>
            <a:pPr marL="0" indent="0" algn="ctr">
              <a:buNone/>
            </a:pPr>
            <a:r>
              <a:rPr lang="en-US" sz="1200" dirty="0">
                <a:solidFill>
                  <a:srgbClr val="637083"/>
                </a:solidFill>
              </a:rPr>
              <a:t>Examples of augmentation applied to training images</a:t>
            </a:r>
            <a:endParaRPr lang="en-US" sz="1200" dirty="0"/>
          </a:p>
        </p:txBody>
      </p:sp>
      <p:sp>
        <p:nvSpPr>
          <p:cNvPr id="27" name="Shape 23"/>
          <p:cNvSpPr/>
          <p:nvPr/>
        </p:nvSpPr>
        <p:spPr>
          <a:xfrm>
            <a:off x="502920" y="6446520"/>
            <a:ext cx="11201400" cy="0"/>
          </a:xfrm>
          <a:prstGeom prst="line">
            <a:avLst/>
          </a:prstGeom>
          <a:noFill/>
          <a:ln w="12700">
            <a:solidFill>
              <a:srgbClr val="E7EBEF"/>
            </a:solidFill>
            <a:prstDash val="solid"/>
          </a:ln>
        </p:spPr>
        <p:txBody>
          <a:bodyPr/>
          <a:lstStyle/>
          <a:p>
            <a:endParaRPr lang="en-US"/>
          </a:p>
        </p:txBody>
      </p:sp>
      <p:sp>
        <p:nvSpPr>
          <p:cNvPr id="28" name="Text 24"/>
          <p:cNvSpPr/>
          <p:nvPr/>
        </p:nvSpPr>
        <p:spPr>
          <a:xfrm>
            <a:off x="502920" y="6510528"/>
            <a:ext cx="4937760" cy="201168"/>
          </a:xfrm>
          <a:prstGeom prst="rect">
            <a:avLst/>
          </a:prstGeom>
          <a:noFill/>
          <a:ln/>
        </p:spPr>
        <p:txBody>
          <a:bodyPr wrap="square" lIns="0" tIns="0" rIns="0" bIns="0" rtlCol="0" anchor="ctr"/>
          <a:lstStyle/>
          <a:p>
            <a:pPr marL="0" indent="0">
              <a:buNone/>
            </a:pPr>
            <a:r>
              <a:rPr lang="en-US" sz="750" dirty="0">
                <a:solidFill>
                  <a:srgbClr val="637083"/>
                </a:solidFill>
                <a:latin typeface="Aptos" pitchFamily="34" charset="0"/>
                <a:ea typeface="Aptos" pitchFamily="34" charset="-122"/>
                <a:cs typeface="Aptos" pitchFamily="34" charset="-120"/>
              </a:rPr>
              <a:t>Section 2 of 5 | Data &amp; Approach</a:t>
            </a:r>
            <a:endParaRPr lang="en-US" sz="750" dirty="0"/>
          </a:p>
        </p:txBody>
      </p:sp>
      <p:sp>
        <p:nvSpPr>
          <p:cNvPr id="29" name="Text 25"/>
          <p:cNvSpPr/>
          <p:nvPr/>
        </p:nvSpPr>
        <p:spPr>
          <a:xfrm>
            <a:off x="8503920" y="6510528"/>
            <a:ext cx="3200400" cy="201168"/>
          </a:xfrm>
          <a:prstGeom prst="rect">
            <a:avLst/>
          </a:prstGeom>
          <a:noFill/>
          <a:ln/>
        </p:spPr>
        <p:txBody>
          <a:bodyPr wrap="square" lIns="0" tIns="0" rIns="0" bIns="0" rtlCol="0" anchor="ctr"/>
          <a:lstStyle/>
          <a:p>
            <a:pPr marL="0" indent="0" algn="r">
              <a:buNone/>
            </a:pPr>
            <a:r>
              <a:rPr lang="en-US" sz="750" dirty="0">
                <a:solidFill>
                  <a:srgbClr val="637083"/>
                </a:solidFill>
                <a:latin typeface="Aptos" pitchFamily="34" charset="0"/>
                <a:ea typeface="Aptos" pitchFamily="34" charset="-122"/>
                <a:cs typeface="Aptos" pitchFamily="34" charset="-120"/>
              </a:rPr>
              <a:t>Brain tumor MRI classifier | Review board presentation</a:t>
            </a:r>
            <a:endParaRPr lang="en-US" sz="750" dirty="0"/>
          </a:p>
        </p:txBody>
      </p:sp>
      <p:pic>
        <p:nvPicPr>
          <p:cNvPr id="33" name="Picture 32">
            <a:extLst>
              <a:ext uri="{FF2B5EF4-FFF2-40B4-BE49-F238E27FC236}">
                <a16:creationId xmlns:a16="http://schemas.microsoft.com/office/drawing/2014/main" id="{6A669EAC-A911-FC0F-1D77-CE6B53EB768E}"/>
              </a:ext>
            </a:extLst>
          </p:cNvPr>
          <p:cNvPicPr>
            <a:picLocks noChangeAspect="1"/>
          </p:cNvPicPr>
          <p:nvPr/>
        </p:nvPicPr>
        <p:blipFill>
          <a:blip r:embed="rId4"/>
          <a:stretch>
            <a:fillRect/>
          </a:stretch>
        </p:blipFill>
        <p:spPr>
          <a:xfrm>
            <a:off x="6918009" y="696390"/>
            <a:ext cx="4771071" cy="233941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502920" y="301752"/>
            <a:ext cx="2926080" cy="237744"/>
          </a:xfrm>
          <a:prstGeom prst="rect">
            <a:avLst/>
          </a:prstGeom>
          <a:noFill/>
          <a:ln/>
        </p:spPr>
        <p:txBody>
          <a:bodyPr wrap="square" lIns="0" tIns="0" rIns="0" bIns="0" rtlCol="0" anchor="ctr">
            <a:normAutofit/>
          </a:bodyPr>
          <a:lstStyle/>
          <a:p>
            <a:pPr marL="0" indent="0">
              <a:buNone/>
            </a:pPr>
            <a:r>
              <a:rPr lang="en-US" sz="1000" b="1" dirty="0">
                <a:solidFill>
                  <a:srgbClr val="2F6F9F"/>
                </a:solidFill>
              </a:rPr>
              <a:t>DATA &amp; APPROACH</a:t>
            </a:r>
            <a:endParaRPr lang="en-US" sz="1000" dirty="0"/>
          </a:p>
        </p:txBody>
      </p:sp>
      <p:sp>
        <p:nvSpPr>
          <p:cNvPr id="3" name="Text 1"/>
          <p:cNvSpPr/>
          <p:nvPr/>
        </p:nvSpPr>
        <p:spPr>
          <a:xfrm>
            <a:off x="502920" y="585216"/>
            <a:ext cx="7589520" cy="457200"/>
          </a:xfrm>
          <a:prstGeom prst="rect">
            <a:avLst/>
          </a:prstGeom>
          <a:noFill/>
          <a:ln/>
        </p:spPr>
        <p:txBody>
          <a:bodyPr wrap="square" lIns="0" tIns="0" rIns="0" bIns="0" rtlCol="0" anchor="ctr">
            <a:noAutofit/>
          </a:bodyPr>
          <a:lstStyle/>
          <a:p>
            <a:pPr marL="0" indent="0">
              <a:buNone/>
            </a:pPr>
            <a:r>
              <a:rPr lang="en-US" sz="2400" b="1" dirty="0">
                <a:solidFill>
                  <a:srgbClr val="132238"/>
                </a:solidFill>
              </a:rPr>
              <a:t>The Model - ResNet18 transfer learning classifier</a:t>
            </a:r>
            <a:endParaRPr lang="en-US" sz="2400" dirty="0"/>
          </a:p>
        </p:txBody>
      </p:sp>
      <p:sp>
        <p:nvSpPr>
          <p:cNvPr id="4" name="Text 2"/>
          <p:cNvSpPr/>
          <p:nvPr/>
        </p:nvSpPr>
        <p:spPr>
          <a:xfrm>
            <a:off x="521207" y="1060703"/>
            <a:ext cx="9567173" cy="411479"/>
          </a:xfrm>
          <a:prstGeom prst="rect">
            <a:avLst/>
          </a:prstGeom>
          <a:noFill/>
          <a:ln/>
        </p:spPr>
        <p:txBody>
          <a:bodyPr wrap="square" lIns="0" tIns="0" rIns="0" bIns="0" rtlCol="0" anchor="ctr">
            <a:noAutofit/>
          </a:bodyPr>
          <a:lstStyle/>
          <a:p>
            <a:pPr marL="0" indent="0">
              <a:buNone/>
            </a:pPr>
            <a:r>
              <a:rPr lang="en-US" sz="1400" dirty="0">
                <a:solidFill>
                  <a:srgbClr val="637083"/>
                </a:solidFill>
              </a:rPr>
              <a:t>Technical choices were kept practical: pretrained CNN, limited training time, and multiple explanation checks.</a:t>
            </a:r>
            <a:endParaRPr lang="en-US" sz="1400" dirty="0"/>
          </a:p>
        </p:txBody>
      </p:sp>
      <p:sp>
        <p:nvSpPr>
          <p:cNvPr id="5" name="Shape 3"/>
          <p:cNvSpPr/>
          <p:nvPr/>
        </p:nvSpPr>
        <p:spPr>
          <a:xfrm>
            <a:off x="777240" y="1567220"/>
            <a:ext cx="1920240" cy="960120"/>
          </a:xfrm>
          <a:prstGeom prst="roundRect">
            <a:avLst>
              <a:gd name="adj" fmla="val 7619"/>
            </a:avLst>
          </a:prstGeom>
          <a:solidFill>
            <a:srgbClr val="FFFFFF"/>
          </a:solidFill>
          <a:ln w="12700">
            <a:solidFill>
              <a:srgbClr val="D7DEE7"/>
            </a:solidFill>
            <a:prstDash val="solid"/>
          </a:ln>
        </p:spPr>
        <p:txBody>
          <a:bodyPr/>
          <a:lstStyle/>
          <a:p>
            <a:endParaRPr lang="en-US"/>
          </a:p>
        </p:txBody>
      </p:sp>
      <p:sp>
        <p:nvSpPr>
          <p:cNvPr id="6" name="Text 4"/>
          <p:cNvSpPr/>
          <p:nvPr/>
        </p:nvSpPr>
        <p:spPr>
          <a:xfrm>
            <a:off x="960120" y="1841540"/>
            <a:ext cx="1554480" cy="228600"/>
          </a:xfrm>
          <a:prstGeom prst="rect">
            <a:avLst/>
          </a:prstGeom>
          <a:noFill/>
          <a:ln/>
        </p:spPr>
        <p:txBody>
          <a:bodyPr wrap="square" lIns="0" tIns="0" rIns="0" bIns="0" rtlCol="0" anchor="ctr"/>
          <a:lstStyle/>
          <a:p>
            <a:pPr marL="0" indent="0" algn="ctr">
              <a:buNone/>
            </a:pPr>
            <a:r>
              <a:rPr lang="en-US" sz="1500" b="1" dirty="0">
                <a:solidFill>
                  <a:srgbClr val="132238"/>
                </a:solidFill>
              </a:rPr>
              <a:t>MRI slice</a:t>
            </a:r>
            <a:endParaRPr lang="en-US" sz="1500" dirty="0"/>
          </a:p>
        </p:txBody>
      </p:sp>
      <p:sp>
        <p:nvSpPr>
          <p:cNvPr id="7" name="Shape 5"/>
          <p:cNvSpPr/>
          <p:nvPr/>
        </p:nvSpPr>
        <p:spPr>
          <a:xfrm>
            <a:off x="2697480" y="2051852"/>
            <a:ext cx="731520" cy="0"/>
          </a:xfrm>
          <a:prstGeom prst="line">
            <a:avLst/>
          </a:prstGeom>
          <a:noFill/>
          <a:ln w="25400">
            <a:solidFill>
              <a:srgbClr val="2F6F9F"/>
            </a:solidFill>
            <a:prstDash val="solid"/>
            <a:headEnd type="none"/>
            <a:tailEnd type="triangle"/>
          </a:ln>
        </p:spPr>
        <p:txBody>
          <a:bodyPr/>
          <a:lstStyle/>
          <a:p>
            <a:endParaRPr lang="en-US"/>
          </a:p>
        </p:txBody>
      </p:sp>
      <p:sp>
        <p:nvSpPr>
          <p:cNvPr id="8" name="Shape 6"/>
          <p:cNvSpPr/>
          <p:nvPr/>
        </p:nvSpPr>
        <p:spPr>
          <a:xfrm>
            <a:off x="3429000" y="1567220"/>
            <a:ext cx="1965960" cy="960120"/>
          </a:xfrm>
          <a:prstGeom prst="roundRect">
            <a:avLst>
              <a:gd name="adj" fmla="val 7619"/>
            </a:avLst>
          </a:prstGeom>
          <a:solidFill>
            <a:srgbClr val="FFFFFF"/>
          </a:solidFill>
          <a:ln w="12700">
            <a:solidFill>
              <a:srgbClr val="D7DEE7"/>
            </a:solidFill>
            <a:prstDash val="solid"/>
          </a:ln>
        </p:spPr>
        <p:txBody>
          <a:bodyPr/>
          <a:lstStyle/>
          <a:p>
            <a:endParaRPr lang="en-US"/>
          </a:p>
        </p:txBody>
      </p:sp>
      <p:sp>
        <p:nvSpPr>
          <p:cNvPr id="9" name="Text 7"/>
          <p:cNvSpPr/>
          <p:nvPr/>
        </p:nvSpPr>
        <p:spPr>
          <a:xfrm>
            <a:off x="3611880" y="1835588"/>
            <a:ext cx="1600200" cy="411480"/>
          </a:xfrm>
          <a:prstGeom prst="rect">
            <a:avLst/>
          </a:prstGeom>
          <a:noFill/>
          <a:ln/>
        </p:spPr>
        <p:txBody>
          <a:bodyPr wrap="square" lIns="0" tIns="0" rIns="0" bIns="0" rtlCol="0" anchor="ctr">
            <a:normAutofit/>
          </a:bodyPr>
          <a:lstStyle/>
          <a:p>
            <a:pPr marL="0" indent="0" algn="ctr">
              <a:buNone/>
            </a:pPr>
            <a:r>
              <a:rPr lang="en-US" sz="1300" b="1" dirty="0">
                <a:solidFill>
                  <a:srgbClr val="132238"/>
                </a:solidFill>
              </a:rPr>
              <a:t>Preprocess + augment</a:t>
            </a:r>
            <a:endParaRPr lang="en-US" sz="1300" dirty="0"/>
          </a:p>
        </p:txBody>
      </p:sp>
      <p:sp>
        <p:nvSpPr>
          <p:cNvPr id="10" name="Shape 8"/>
          <p:cNvSpPr/>
          <p:nvPr/>
        </p:nvSpPr>
        <p:spPr>
          <a:xfrm>
            <a:off x="5394960" y="2051852"/>
            <a:ext cx="731520" cy="0"/>
          </a:xfrm>
          <a:prstGeom prst="line">
            <a:avLst/>
          </a:prstGeom>
          <a:noFill/>
          <a:ln w="25400">
            <a:solidFill>
              <a:srgbClr val="2F6F9F"/>
            </a:solidFill>
            <a:prstDash val="solid"/>
            <a:tailEnd type="triangle"/>
          </a:ln>
        </p:spPr>
        <p:txBody>
          <a:bodyPr/>
          <a:lstStyle/>
          <a:p>
            <a:endParaRPr lang="en-US"/>
          </a:p>
        </p:txBody>
      </p:sp>
      <p:sp>
        <p:nvSpPr>
          <p:cNvPr id="11" name="Shape 9"/>
          <p:cNvSpPr/>
          <p:nvPr/>
        </p:nvSpPr>
        <p:spPr>
          <a:xfrm>
            <a:off x="6126480" y="1567220"/>
            <a:ext cx="1965960" cy="960120"/>
          </a:xfrm>
          <a:prstGeom prst="roundRect">
            <a:avLst>
              <a:gd name="adj" fmla="val 7619"/>
            </a:avLst>
          </a:prstGeom>
          <a:solidFill>
            <a:srgbClr val="FFFFFF"/>
          </a:solidFill>
          <a:ln w="12700">
            <a:solidFill>
              <a:srgbClr val="D7DEE7"/>
            </a:solidFill>
            <a:prstDash val="solid"/>
          </a:ln>
        </p:spPr>
        <p:txBody>
          <a:bodyPr/>
          <a:lstStyle/>
          <a:p>
            <a:endParaRPr lang="en-US"/>
          </a:p>
        </p:txBody>
      </p:sp>
      <p:sp>
        <p:nvSpPr>
          <p:cNvPr id="12" name="Text 10"/>
          <p:cNvSpPr/>
          <p:nvPr/>
        </p:nvSpPr>
        <p:spPr>
          <a:xfrm>
            <a:off x="6309360" y="1777532"/>
            <a:ext cx="1600200" cy="411480"/>
          </a:xfrm>
          <a:prstGeom prst="rect">
            <a:avLst/>
          </a:prstGeom>
          <a:noFill/>
          <a:ln/>
        </p:spPr>
        <p:txBody>
          <a:bodyPr wrap="square" lIns="0" tIns="0" rIns="0" bIns="0" rtlCol="0" anchor="ctr">
            <a:normAutofit/>
          </a:bodyPr>
          <a:lstStyle/>
          <a:p>
            <a:pPr marL="0" indent="0" algn="ctr">
              <a:buNone/>
            </a:pPr>
            <a:r>
              <a:rPr lang="en-US" sz="1300" b="1" dirty="0">
                <a:solidFill>
                  <a:srgbClr val="132238"/>
                </a:solidFill>
              </a:rPr>
              <a:t>ResNet18 pretrained</a:t>
            </a:r>
            <a:endParaRPr lang="en-US" sz="1300" dirty="0"/>
          </a:p>
        </p:txBody>
      </p:sp>
      <p:sp>
        <p:nvSpPr>
          <p:cNvPr id="13" name="Shape 11"/>
          <p:cNvSpPr/>
          <p:nvPr/>
        </p:nvSpPr>
        <p:spPr>
          <a:xfrm>
            <a:off x="8092440" y="2051852"/>
            <a:ext cx="731520" cy="0"/>
          </a:xfrm>
          <a:prstGeom prst="line">
            <a:avLst/>
          </a:prstGeom>
          <a:noFill/>
          <a:ln w="25400">
            <a:solidFill>
              <a:srgbClr val="2F6F9F"/>
            </a:solidFill>
            <a:prstDash val="solid"/>
            <a:tailEnd type="triangle"/>
          </a:ln>
        </p:spPr>
        <p:txBody>
          <a:bodyPr/>
          <a:lstStyle/>
          <a:p>
            <a:endParaRPr lang="en-US"/>
          </a:p>
        </p:txBody>
      </p:sp>
      <p:sp>
        <p:nvSpPr>
          <p:cNvPr id="14" name="Shape 12"/>
          <p:cNvSpPr/>
          <p:nvPr/>
        </p:nvSpPr>
        <p:spPr>
          <a:xfrm>
            <a:off x="8823960" y="1567220"/>
            <a:ext cx="2331720" cy="960120"/>
          </a:xfrm>
          <a:prstGeom prst="roundRect">
            <a:avLst>
              <a:gd name="adj" fmla="val 7619"/>
            </a:avLst>
          </a:prstGeom>
          <a:solidFill>
            <a:srgbClr val="FFFFFF"/>
          </a:solidFill>
          <a:ln w="12700">
            <a:solidFill>
              <a:srgbClr val="D7DEE7"/>
            </a:solidFill>
            <a:prstDash val="solid"/>
          </a:ln>
        </p:spPr>
        <p:txBody>
          <a:bodyPr/>
          <a:lstStyle/>
          <a:p>
            <a:endParaRPr lang="en-US"/>
          </a:p>
        </p:txBody>
      </p:sp>
      <p:sp>
        <p:nvSpPr>
          <p:cNvPr id="15" name="Text 13"/>
          <p:cNvSpPr/>
          <p:nvPr/>
        </p:nvSpPr>
        <p:spPr>
          <a:xfrm>
            <a:off x="9052560" y="1795820"/>
            <a:ext cx="1874520" cy="347472"/>
          </a:xfrm>
          <a:prstGeom prst="rect">
            <a:avLst/>
          </a:prstGeom>
          <a:noFill/>
          <a:ln/>
        </p:spPr>
        <p:txBody>
          <a:bodyPr wrap="square" lIns="0" tIns="0" rIns="0" bIns="0" rtlCol="0" anchor="ctr">
            <a:normAutofit/>
          </a:bodyPr>
          <a:lstStyle/>
          <a:p>
            <a:pPr marL="0" indent="0" algn="ctr">
              <a:buNone/>
            </a:pPr>
            <a:r>
              <a:rPr lang="en-US" sz="1350" b="1" dirty="0">
                <a:solidFill>
                  <a:srgbClr val="132238"/>
                </a:solidFill>
              </a:rPr>
              <a:t>Class + confidence</a:t>
            </a:r>
            <a:endParaRPr lang="en-US" sz="1350" dirty="0"/>
          </a:p>
        </p:txBody>
      </p:sp>
      <p:sp>
        <p:nvSpPr>
          <p:cNvPr id="17" name="Text 14"/>
          <p:cNvSpPr/>
          <p:nvPr/>
        </p:nvSpPr>
        <p:spPr>
          <a:xfrm>
            <a:off x="685800" y="5160812"/>
            <a:ext cx="5120640" cy="164592"/>
          </a:xfrm>
          <a:prstGeom prst="rect">
            <a:avLst/>
          </a:prstGeom>
          <a:noFill/>
          <a:ln/>
        </p:spPr>
        <p:txBody>
          <a:bodyPr wrap="square" lIns="0" tIns="0" rIns="0" bIns="0" rtlCol="0" anchor="ctr">
            <a:normAutofit/>
          </a:bodyPr>
          <a:lstStyle/>
          <a:p>
            <a:pPr marL="0" indent="0" algn="ctr">
              <a:buNone/>
            </a:pPr>
            <a:r>
              <a:rPr lang="en-US" sz="750" dirty="0">
                <a:solidFill>
                  <a:srgbClr val="637083"/>
                </a:solidFill>
              </a:rPr>
              <a:t>Training and validation curves</a:t>
            </a:r>
            <a:endParaRPr lang="en-US" sz="750" dirty="0"/>
          </a:p>
        </p:txBody>
      </p:sp>
      <p:sp>
        <p:nvSpPr>
          <p:cNvPr id="19" name="Text 15"/>
          <p:cNvSpPr/>
          <p:nvPr/>
        </p:nvSpPr>
        <p:spPr>
          <a:xfrm>
            <a:off x="3512820" y="5398839"/>
            <a:ext cx="5166360" cy="164592"/>
          </a:xfrm>
          <a:prstGeom prst="rect">
            <a:avLst/>
          </a:prstGeom>
          <a:noFill/>
          <a:ln/>
        </p:spPr>
        <p:txBody>
          <a:bodyPr wrap="square" lIns="0" tIns="0" rIns="0" bIns="0" rtlCol="0" anchor="ctr">
            <a:normAutofit/>
          </a:bodyPr>
          <a:lstStyle/>
          <a:p>
            <a:pPr marL="0" indent="0" algn="ctr">
              <a:buNone/>
            </a:pPr>
            <a:r>
              <a:rPr lang="en-US" sz="1000" dirty="0">
                <a:solidFill>
                  <a:srgbClr val="637083"/>
                </a:solidFill>
              </a:rPr>
              <a:t>Loss -Accuracy Curve for Train and Validation dataset for ResNEt18 Pretrained</a:t>
            </a:r>
            <a:endParaRPr lang="en-US" sz="1000" dirty="0"/>
          </a:p>
        </p:txBody>
      </p:sp>
      <p:sp>
        <p:nvSpPr>
          <p:cNvPr id="20" name="Text 16"/>
          <p:cNvSpPr/>
          <p:nvPr/>
        </p:nvSpPr>
        <p:spPr>
          <a:xfrm>
            <a:off x="777240" y="5691164"/>
            <a:ext cx="10469880" cy="310896"/>
          </a:xfrm>
          <a:prstGeom prst="rect">
            <a:avLst/>
          </a:prstGeom>
          <a:noFill/>
          <a:ln/>
        </p:spPr>
        <p:txBody>
          <a:bodyPr wrap="square" lIns="0" tIns="0" rIns="0" bIns="0" rtlCol="0" anchor="ctr">
            <a:normAutofit/>
          </a:bodyPr>
          <a:lstStyle/>
          <a:p>
            <a:pPr marL="0" indent="0" algn="ctr">
              <a:buNone/>
            </a:pPr>
            <a:r>
              <a:rPr lang="en-US" sz="1350" dirty="0">
                <a:solidFill>
                  <a:srgbClr val="263238"/>
                </a:solidFill>
              </a:rPr>
              <a:t>Key technical decisions: transfer learning, class-balanced evaluation, confidence calibration review, and two interpretability methods.</a:t>
            </a:r>
            <a:endParaRPr lang="en-US" sz="1350" dirty="0"/>
          </a:p>
        </p:txBody>
      </p:sp>
      <p:sp>
        <p:nvSpPr>
          <p:cNvPr id="21" name="Shape 17"/>
          <p:cNvSpPr/>
          <p:nvPr/>
        </p:nvSpPr>
        <p:spPr>
          <a:xfrm>
            <a:off x="502920" y="6446520"/>
            <a:ext cx="11201400" cy="0"/>
          </a:xfrm>
          <a:prstGeom prst="line">
            <a:avLst/>
          </a:prstGeom>
          <a:noFill/>
          <a:ln w="12700">
            <a:solidFill>
              <a:srgbClr val="E7EBEF"/>
            </a:solidFill>
            <a:prstDash val="solid"/>
          </a:ln>
        </p:spPr>
        <p:txBody>
          <a:bodyPr/>
          <a:lstStyle/>
          <a:p>
            <a:endParaRPr lang="en-US"/>
          </a:p>
        </p:txBody>
      </p:sp>
      <p:sp>
        <p:nvSpPr>
          <p:cNvPr id="22" name="Text 18"/>
          <p:cNvSpPr/>
          <p:nvPr/>
        </p:nvSpPr>
        <p:spPr>
          <a:xfrm>
            <a:off x="502920" y="6510528"/>
            <a:ext cx="4937760" cy="201168"/>
          </a:xfrm>
          <a:prstGeom prst="rect">
            <a:avLst/>
          </a:prstGeom>
          <a:noFill/>
          <a:ln/>
        </p:spPr>
        <p:txBody>
          <a:bodyPr wrap="square" lIns="0" tIns="0" rIns="0" bIns="0" rtlCol="0" anchor="ctr"/>
          <a:lstStyle/>
          <a:p>
            <a:pPr marL="0" indent="0">
              <a:buNone/>
            </a:pPr>
            <a:r>
              <a:rPr lang="en-US" sz="750" dirty="0">
                <a:solidFill>
                  <a:srgbClr val="637083"/>
                </a:solidFill>
                <a:latin typeface="Aptos" pitchFamily="34" charset="0"/>
                <a:ea typeface="Aptos" pitchFamily="34" charset="-122"/>
                <a:cs typeface="Aptos" pitchFamily="34" charset="-120"/>
              </a:rPr>
              <a:t>Section 2 of 5 | Data &amp; Approach</a:t>
            </a:r>
            <a:endParaRPr lang="en-US" sz="750" dirty="0"/>
          </a:p>
        </p:txBody>
      </p:sp>
      <p:sp>
        <p:nvSpPr>
          <p:cNvPr id="23" name="Text 19"/>
          <p:cNvSpPr/>
          <p:nvPr/>
        </p:nvSpPr>
        <p:spPr>
          <a:xfrm>
            <a:off x="8503920" y="6510528"/>
            <a:ext cx="3200400" cy="201168"/>
          </a:xfrm>
          <a:prstGeom prst="rect">
            <a:avLst/>
          </a:prstGeom>
          <a:noFill/>
          <a:ln/>
        </p:spPr>
        <p:txBody>
          <a:bodyPr wrap="square" lIns="0" tIns="0" rIns="0" bIns="0" rtlCol="0" anchor="ctr"/>
          <a:lstStyle/>
          <a:p>
            <a:pPr marL="0" indent="0" algn="r">
              <a:buNone/>
            </a:pPr>
            <a:r>
              <a:rPr lang="en-US" sz="750" dirty="0">
                <a:solidFill>
                  <a:srgbClr val="637083"/>
                </a:solidFill>
                <a:latin typeface="Aptos" pitchFamily="34" charset="0"/>
                <a:ea typeface="Aptos" pitchFamily="34" charset="-122"/>
                <a:cs typeface="Aptos" pitchFamily="34" charset="-120"/>
              </a:rPr>
              <a:t>Brain tumor MRI classifier | Review board presentation</a:t>
            </a:r>
            <a:endParaRPr lang="en-US" sz="750" dirty="0"/>
          </a:p>
        </p:txBody>
      </p:sp>
      <p:pic>
        <p:nvPicPr>
          <p:cNvPr id="27" name="Picture 26">
            <a:extLst>
              <a:ext uri="{FF2B5EF4-FFF2-40B4-BE49-F238E27FC236}">
                <a16:creationId xmlns:a16="http://schemas.microsoft.com/office/drawing/2014/main" id="{9CCB48E3-94D9-10B6-9F18-FFF03781387B}"/>
              </a:ext>
            </a:extLst>
          </p:cNvPr>
          <p:cNvPicPr>
            <a:picLocks noChangeAspect="1"/>
          </p:cNvPicPr>
          <p:nvPr/>
        </p:nvPicPr>
        <p:blipFill>
          <a:blip r:embed="rId3"/>
          <a:stretch>
            <a:fillRect/>
          </a:stretch>
        </p:blipFill>
        <p:spPr>
          <a:xfrm>
            <a:off x="1874520" y="2731700"/>
            <a:ext cx="7772400" cy="253940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502920" y="301752"/>
            <a:ext cx="2926080" cy="237744"/>
          </a:xfrm>
          <a:prstGeom prst="rect">
            <a:avLst/>
          </a:prstGeom>
          <a:noFill/>
          <a:ln/>
        </p:spPr>
        <p:txBody>
          <a:bodyPr wrap="square" lIns="0" tIns="0" rIns="0" bIns="0" rtlCol="0" anchor="ctr">
            <a:normAutofit/>
          </a:bodyPr>
          <a:lstStyle/>
          <a:p>
            <a:pPr marL="0" indent="0">
              <a:buNone/>
            </a:pPr>
            <a:r>
              <a:rPr lang="en-US" sz="1000" b="1" dirty="0">
                <a:solidFill>
                  <a:srgbClr val="2F6F9F"/>
                </a:solidFill>
              </a:rPr>
              <a:t>RESULTS</a:t>
            </a:r>
            <a:endParaRPr lang="en-US" sz="1000" dirty="0"/>
          </a:p>
        </p:txBody>
      </p:sp>
      <p:sp>
        <p:nvSpPr>
          <p:cNvPr id="3" name="Text 1"/>
          <p:cNvSpPr/>
          <p:nvPr/>
        </p:nvSpPr>
        <p:spPr>
          <a:xfrm>
            <a:off x="502920" y="585216"/>
            <a:ext cx="7813766" cy="429763"/>
          </a:xfrm>
          <a:prstGeom prst="rect">
            <a:avLst/>
          </a:prstGeom>
          <a:noFill/>
          <a:ln/>
        </p:spPr>
        <p:txBody>
          <a:bodyPr wrap="square" lIns="0" tIns="0" rIns="0" bIns="0" rtlCol="0" anchor="ctr">
            <a:noAutofit/>
          </a:bodyPr>
          <a:lstStyle/>
          <a:p>
            <a:pPr marL="0" indent="0">
              <a:buNone/>
            </a:pPr>
            <a:r>
              <a:rPr lang="en-US" sz="2100" b="1" dirty="0">
                <a:solidFill>
                  <a:srgbClr val="132238"/>
                </a:solidFill>
              </a:rPr>
              <a:t>Test Performance</a:t>
            </a:r>
            <a:endParaRPr lang="en-US" sz="2100" dirty="0"/>
          </a:p>
        </p:txBody>
      </p:sp>
      <p:sp>
        <p:nvSpPr>
          <p:cNvPr id="4" name="Text 2"/>
          <p:cNvSpPr/>
          <p:nvPr/>
        </p:nvSpPr>
        <p:spPr>
          <a:xfrm>
            <a:off x="521208" y="1060704"/>
            <a:ext cx="6537960" cy="347472"/>
          </a:xfrm>
          <a:prstGeom prst="rect">
            <a:avLst/>
          </a:prstGeom>
          <a:noFill/>
          <a:ln/>
        </p:spPr>
        <p:txBody>
          <a:bodyPr wrap="square" lIns="0" tIns="0" rIns="0" bIns="0" rtlCol="0" anchor="ctr">
            <a:normAutofit/>
          </a:bodyPr>
          <a:lstStyle/>
          <a:p>
            <a:pPr marL="0" indent="0">
              <a:buNone/>
            </a:pPr>
            <a:r>
              <a:rPr lang="en-US" sz="1250" dirty="0">
                <a:solidFill>
                  <a:srgbClr val="637083"/>
                </a:solidFill>
              </a:rPr>
              <a:t>The model performed well on the internal test set, but errors cluster around meningioma cases.</a:t>
            </a:r>
            <a:endParaRPr lang="en-US" sz="1250" dirty="0"/>
          </a:p>
        </p:txBody>
      </p:sp>
      <p:sp>
        <p:nvSpPr>
          <p:cNvPr id="9" name="Shape 7"/>
          <p:cNvSpPr/>
          <p:nvPr/>
        </p:nvSpPr>
        <p:spPr>
          <a:xfrm>
            <a:off x="2026799" y="1453901"/>
            <a:ext cx="1294384" cy="1005840"/>
          </a:xfrm>
          <a:prstGeom prst="roundRect">
            <a:avLst>
              <a:gd name="adj" fmla="val 7273"/>
            </a:avLst>
          </a:prstGeom>
          <a:solidFill>
            <a:srgbClr val="FFFFFF"/>
          </a:solidFill>
          <a:ln w="10160">
            <a:solidFill>
              <a:srgbClr val="D7DEE7"/>
            </a:solidFill>
            <a:prstDash val="solid"/>
          </a:ln>
        </p:spPr>
        <p:txBody>
          <a:bodyPr/>
          <a:lstStyle/>
          <a:p>
            <a:endParaRPr lang="en-US"/>
          </a:p>
        </p:txBody>
      </p:sp>
      <p:sp>
        <p:nvSpPr>
          <p:cNvPr id="10" name="Shape 8"/>
          <p:cNvSpPr/>
          <p:nvPr/>
        </p:nvSpPr>
        <p:spPr>
          <a:xfrm>
            <a:off x="2026799" y="1453901"/>
            <a:ext cx="73152" cy="1005840"/>
          </a:xfrm>
          <a:prstGeom prst="rect">
            <a:avLst/>
          </a:prstGeom>
          <a:solidFill>
            <a:srgbClr val="2F6F9F"/>
          </a:solidFill>
          <a:ln w="12700">
            <a:solidFill>
              <a:srgbClr val="2F6F9F"/>
            </a:solidFill>
            <a:prstDash val="solid"/>
          </a:ln>
        </p:spPr>
        <p:txBody>
          <a:bodyPr/>
          <a:lstStyle/>
          <a:p>
            <a:endParaRPr lang="en-US"/>
          </a:p>
        </p:txBody>
      </p:sp>
      <p:sp>
        <p:nvSpPr>
          <p:cNvPr id="11" name="Text 9"/>
          <p:cNvSpPr/>
          <p:nvPr/>
        </p:nvSpPr>
        <p:spPr>
          <a:xfrm>
            <a:off x="2209679" y="1600205"/>
            <a:ext cx="1554480" cy="320040"/>
          </a:xfrm>
          <a:prstGeom prst="rect">
            <a:avLst/>
          </a:prstGeom>
          <a:noFill/>
          <a:ln/>
        </p:spPr>
        <p:txBody>
          <a:bodyPr wrap="square" lIns="0" tIns="0" rIns="0" bIns="0" rtlCol="0" anchor="ctr">
            <a:normAutofit/>
          </a:bodyPr>
          <a:lstStyle/>
          <a:p>
            <a:pPr marL="0" indent="0">
              <a:buNone/>
            </a:pPr>
            <a:r>
              <a:rPr lang="en-US" sz="2100" b="1" dirty="0">
                <a:solidFill>
                  <a:srgbClr val="132238"/>
                </a:solidFill>
              </a:rPr>
              <a:t>1.000</a:t>
            </a:r>
            <a:endParaRPr lang="en-US" sz="2100" dirty="0"/>
          </a:p>
        </p:txBody>
      </p:sp>
      <p:sp>
        <p:nvSpPr>
          <p:cNvPr id="12" name="Text 10"/>
          <p:cNvSpPr/>
          <p:nvPr/>
        </p:nvSpPr>
        <p:spPr>
          <a:xfrm>
            <a:off x="2209679" y="1965965"/>
            <a:ext cx="1554480" cy="411480"/>
          </a:xfrm>
          <a:prstGeom prst="rect">
            <a:avLst/>
          </a:prstGeom>
          <a:noFill/>
          <a:ln/>
        </p:spPr>
        <p:txBody>
          <a:bodyPr wrap="square" lIns="0" tIns="0" rIns="0" bIns="0" rtlCol="0" anchor="ctr">
            <a:normAutofit/>
          </a:bodyPr>
          <a:lstStyle/>
          <a:p>
            <a:pPr marL="0" indent="0">
              <a:buNone/>
            </a:pPr>
            <a:r>
              <a:rPr lang="en-US" sz="950" dirty="0">
                <a:solidFill>
                  <a:srgbClr val="637083"/>
                </a:solidFill>
              </a:rPr>
              <a:t>ROC-AUC</a:t>
            </a:r>
            <a:endParaRPr lang="en-US" sz="950" dirty="0"/>
          </a:p>
          <a:p>
            <a:pPr marL="0" indent="0">
              <a:buNone/>
            </a:pPr>
            <a:r>
              <a:rPr lang="en-US" sz="950" dirty="0">
                <a:solidFill>
                  <a:srgbClr val="637083"/>
                </a:solidFill>
              </a:rPr>
              <a:t>all classes ≈ 1.00</a:t>
            </a:r>
            <a:endParaRPr lang="en-US" sz="950" dirty="0"/>
          </a:p>
        </p:txBody>
      </p:sp>
      <p:sp>
        <p:nvSpPr>
          <p:cNvPr id="13" name="Shape 11"/>
          <p:cNvSpPr/>
          <p:nvPr/>
        </p:nvSpPr>
        <p:spPr>
          <a:xfrm>
            <a:off x="3519645" y="1453901"/>
            <a:ext cx="1161288" cy="1005840"/>
          </a:xfrm>
          <a:prstGeom prst="roundRect">
            <a:avLst>
              <a:gd name="adj" fmla="val 7273"/>
            </a:avLst>
          </a:prstGeom>
          <a:solidFill>
            <a:srgbClr val="FFFFFF"/>
          </a:solidFill>
          <a:ln w="10160">
            <a:solidFill>
              <a:srgbClr val="D7DEE7"/>
            </a:solidFill>
            <a:prstDash val="solid"/>
          </a:ln>
        </p:spPr>
        <p:txBody>
          <a:bodyPr/>
          <a:lstStyle/>
          <a:p>
            <a:endParaRPr lang="en-US"/>
          </a:p>
        </p:txBody>
      </p:sp>
      <p:sp>
        <p:nvSpPr>
          <p:cNvPr id="14" name="Shape 12"/>
          <p:cNvSpPr/>
          <p:nvPr/>
        </p:nvSpPr>
        <p:spPr>
          <a:xfrm>
            <a:off x="3519645" y="1453901"/>
            <a:ext cx="73152" cy="1005840"/>
          </a:xfrm>
          <a:prstGeom prst="rect">
            <a:avLst/>
          </a:prstGeom>
          <a:solidFill>
            <a:srgbClr val="F4A261"/>
          </a:solidFill>
          <a:ln w="12700">
            <a:solidFill>
              <a:srgbClr val="F4A261"/>
            </a:solidFill>
            <a:prstDash val="solid"/>
          </a:ln>
        </p:spPr>
        <p:txBody>
          <a:bodyPr/>
          <a:lstStyle/>
          <a:p>
            <a:endParaRPr lang="en-US"/>
          </a:p>
        </p:txBody>
      </p:sp>
      <p:sp>
        <p:nvSpPr>
          <p:cNvPr id="15" name="Text 13"/>
          <p:cNvSpPr/>
          <p:nvPr/>
        </p:nvSpPr>
        <p:spPr>
          <a:xfrm>
            <a:off x="3666898" y="1600205"/>
            <a:ext cx="1554480" cy="320040"/>
          </a:xfrm>
          <a:prstGeom prst="rect">
            <a:avLst/>
          </a:prstGeom>
          <a:noFill/>
          <a:ln/>
        </p:spPr>
        <p:txBody>
          <a:bodyPr wrap="square" lIns="0" tIns="0" rIns="0" bIns="0" rtlCol="0" anchor="ctr">
            <a:normAutofit/>
          </a:bodyPr>
          <a:lstStyle/>
          <a:p>
            <a:pPr marL="0" indent="0">
              <a:buNone/>
            </a:pPr>
            <a:r>
              <a:rPr lang="en-US" sz="2100" b="1" dirty="0">
                <a:solidFill>
                  <a:srgbClr val="132238"/>
                </a:solidFill>
              </a:rPr>
              <a:t>0.0035</a:t>
            </a:r>
            <a:endParaRPr lang="en-US" sz="2100" dirty="0"/>
          </a:p>
        </p:txBody>
      </p:sp>
      <p:sp>
        <p:nvSpPr>
          <p:cNvPr id="16" name="Text 14"/>
          <p:cNvSpPr/>
          <p:nvPr/>
        </p:nvSpPr>
        <p:spPr>
          <a:xfrm>
            <a:off x="3666898" y="1965965"/>
            <a:ext cx="1554480" cy="411480"/>
          </a:xfrm>
          <a:prstGeom prst="rect">
            <a:avLst/>
          </a:prstGeom>
          <a:noFill/>
          <a:ln/>
        </p:spPr>
        <p:txBody>
          <a:bodyPr wrap="square" lIns="0" tIns="0" rIns="0" bIns="0" rtlCol="0" anchor="ctr">
            <a:normAutofit/>
          </a:bodyPr>
          <a:lstStyle/>
          <a:p>
            <a:pPr marL="0" indent="0">
              <a:buNone/>
            </a:pPr>
            <a:r>
              <a:rPr lang="en-US" sz="950" dirty="0">
                <a:solidFill>
                  <a:srgbClr val="637083"/>
                </a:solidFill>
              </a:rPr>
              <a:t>Brier loss</a:t>
            </a:r>
            <a:endParaRPr lang="en-US" sz="950" dirty="0"/>
          </a:p>
          <a:p>
            <a:pPr marL="0" indent="0">
              <a:buNone/>
            </a:pPr>
            <a:r>
              <a:rPr lang="en-US" sz="950" dirty="0">
                <a:solidFill>
                  <a:srgbClr val="637083"/>
                </a:solidFill>
              </a:rPr>
              <a:t>lower is better</a:t>
            </a:r>
            <a:endParaRPr lang="en-US" sz="950" dirty="0"/>
          </a:p>
        </p:txBody>
      </p:sp>
      <p:sp>
        <p:nvSpPr>
          <p:cNvPr id="18" name="Text 15"/>
          <p:cNvSpPr/>
          <p:nvPr/>
        </p:nvSpPr>
        <p:spPr>
          <a:xfrm>
            <a:off x="658368" y="5970910"/>
            <a:ext cx="4937760" cy="164592"/>
          </a:xfrm>
          <a:prstGeom prst="rect">
            <a:avLst/>
          </a:prstGeom>
          <a:noFill/>
          <a:ln/>
        </p:spPr>
        <p:txBody>
          <a:bodyPr wrap="square" lIns="0" tIns="0" rIns="0" bIns="0" rtlCol="0" anchor="ctr">
            <a:normAutofit/>
          </a:bodyPr>
          <a:lstStyle/>
          <a:p>
            <a:pPr marL="0" indent="0" algn="ctr">
              <a:buNone/>
            </a:pPr>
            <a:r>
              <a:rPr lang="en-US" sz="1000" dirty="0">
                <a:solidFill>
                  <a:srgbClr val="637083"/>
                </a:solidFill>
              </a:rPr>
              <a:t>Confusion matrix on held-out test set</a:t>
            </a:r>
            <a:endParaRPr lang="en-US" sz="1000" dirty="0"/>
          </a:p>
        </p:txBody>
      </p:sp>
      <p:pic>
        <p:nvPicPr>
          <p:cNvPr id="19" name="Image 1" descr="/mnt/data/4_2_roc_pr_curves_resnet_pretrained.png"/>
          <p:cNvPicPr>
            <a:picLocks noChangeAspect="1"/>
          </p:cNvPicPr>
          <p:nvPr/>
        </p:nvPicPr>
        <p:blipFill>
          <a:blip r:embed="rId3"/>
          <a:srcRect l="1825" r="1825"/>
          <a:stretch/>
        </p:blipFill>
        <p:spPr>
          <a:xfrm>
            <a:off x="5897880" y="1335024"/>
            <a:ext cx="5623560" cy="2212848"/>
          </a:xfrm>
          <a:prstGeom prst="rect">
            <a:avLst/>
          </a:prstGeom>
        </p:spPr>
      </p:pic>
      <p:sp>
        <p:nvSpPr>
          <p:cNvPr id="20" name="Text 16"/>
          <p:cNvSpPr/>
          <p:nvPr/>
        </p:nvSpPr>
        <p:spPr>
          <a:xfrm>
            <a:off x="5897880" y="3749040"/>
            <a:ext cx="5623560" cy="164592"/>
          </a:xfrm>
          <a:prstGeom prst="rect">
            <a:avLst/>
          </a:prstGeom>
          <a:noFill/>
          <a:ln/>
        </p:spPr>
        <p:txBody>
          <a:bodyPr wrap="square" lIns="0" tIns="0" rIns="0" bIns="0" rtlCol="0" anchor="ctr">
            <a:normAutofit/>
          </a:bodyPr>
          <a:lstStyle/>
          <a:p>
            <a:pPr marL="0" indent="0" algn="ctr">
              <a:buNone/>
            </a:pPr>
            <a:r>
              <a:rPr lang="en-US" sz="1000" dirty="0">
                <a:solidFill>
                  <a:srgbClr val="637083"/>
                </a:solidFill>
              </a:rPr>
              <a:t>ROC and precision-recall curves</a:t>
            </a:r>
            <a:endParaRPr lang="en-US" sz="1000" dirty="0"/>
          </a:p>
        </p:txBody>
      </p:sp>
      <p:sp>
        <p:nvSpPr>
          <p:cNvPr id="22" name="Text 17"/>
          <p:cNvSpPr/>
          <p:nvPr/>
        </p:nvSpPr>
        <p:spPr>
          <a:xfrm>
            <a:off x="5673852" y="6190488"/>
            <a:ext cx="2743200" cy="164592"/>
          </a:xfrm>
          <a:prstGeom prst="rect">
            <a:avLst/>
          </a:prstGeom>
          <a:noFill/>
          <a:ln/>
        </p:spPr>
        <p:txBody>
          <a:bodyPr wrap="square" lIns="0" tIns="0" rIns="0" bIns="0" rtlCol="0" anchor="ctr">
            <a:normAutofit/>
          </a:bodyPr>
          <a:lstStyle/>
          <a:p>
            <a:pPr marL="0" indent="0" algn="ctr">
              <a:buNone/>
            </a:pPr>
            <a:r>
              <a:rPr lang="en-US" sz="1000" dirty="0">
                <a:solidFill>
                  <a:srgbClr val="637083"/>
                </a:solidFill>
              </a:rPr>
              <a:t>Calibration curve</a:t>
            </a:r>
            <a:endParaRPr lang="en-US" sz="1000" dirty="0"/>
          </a:p>
        </p:txBody>
      </p:sp>
      <p:sp>
        <p:nvSpPr>
          <p:cNvPr id="23" name="Shape 18"/>
          <p:cNvSpPr/>
          <p:nvPr/>
        </p:nvSpPr>
        <p:spPr>
          <a:xfrm>
            <a:off x="8316686" y="4069080"/>
            <a:ext cx="3204754" cy="1874520"/>
          </a:xfrm>
          <a:prstGeom prst="roundRect">
            <a:avLst>
              <a:gd name="adj" fmla="val 3902"/>
            </a:avLst>
          </a:prstGeom>
          <a:solidFill>
            <a:srgbClr val="FFFFFF"/>
          </a:solidFill>
          <a:ln w="12700">
            <a:solidFill>
              <a:srgbClr val="D7DEE7"/>
            </a:solidFill>
            <a:prstDash val="solid"/>
          </a:ln>
        </p:spPr>
        <p:txBody>
          <a:bodyPr/>
          <a:lstStyle/>
          <a:p>
            <a:endParaRPr lang="en-US"/>
          </a:p>
        </p:txBody>
      </p:sp>
      <p:sp>
        <p:nvSpPr>
          <p:cNvPr id="24" name="Text 19"/>
          <p:cNvSpPr/>
          <p:nvPr/>
        </p:nvSpPr>
        <p:spPr>
          <a:xfrm>
            <a:off x="8503920" y="4110594"/>
            <a:ext cx="2770632" cy="232806"/>
          </a:xfrm>
          <a:prstGeom prst="rect">
            <a:avLst/>
          </a:prstGeom>
          <a:noFill/>
          <a:ln/>
        </p:spPr>
        <p:txBody>
          <a:bodyPr wrap="square" lIns="0" tIns="0" rIns="0" bIns="0" rtlCol="0" anchor="ctr"/>
          <a:lstStyle/>
          <a:p>
            <a:pPr marL="0" indent="0">
              <a:buNone/>
            </a:pPr>
            <a:r>
              <a:rPr lang="en-US" b="1" dirty="0">
                <a:solidFill>
                  <a:srgbClr val="132238"/>
                </a:solidFill>
              </a:rPr>
              <a:t>Assessment</a:t>
            </a:r>
            <a:endParaRPr lang="en-US" dirty="0"/>
          </a:p>
        </p:txBody>
      </p:sp>
      <p:sp>
        <p:nvSpPr>
          <p:cNvPr id="25" name="Text 20"/>
          <p:cNvSpPr/>
          <p:nvPr/>
        </p:nvSpPr>
        <p:spPr>
          <a:xfrm>
            <a:off x="8503920" y="4407408"/>
            <a:ext cx="3017520" cy="1444752"/>
          </a:xfrm>
          <a:prstGeom prst="rect">
            <a:avLst/>
          </a:prstGeom>
          <a:noFill/>
          <a:ln/>
        </p:spPr>
        <p:txBody>
          <a:bodyPr wrap="square" lIns="254" tIns="254" rIns="254" bIns="254" rtlCol="0" anchor="t">
            <a:normAutofit/>
          </a:bodyPr>
          <a:lstStyle/>
          <a:p>
            <a:pPr marL="152400" indent="-152400">
              <a:buSzPct val="100000"/>
              <a:buChar char="•"/>
            </a:pPr>
            <a:r>
              <a:rPr lang="en-US" sz="1200" dirty="0">
                <a:solidFill>
                  <a:srgbClr val="263238"/>
                </a:solidFill>
              </a:rPr>
              <a:t>Errors are rare but clinically meaningful.</a:t>
            </a:r>
            <a:endParaRPr lang="en-US" sz="1200" dirty="0"/>
          </a:p>
          <a:p>
            <a:pPr marL="152400" indent="-152400">
              <a:buSzPct val="100000"/>
              <a:buChar char="•"/>
            </a:pPr>
            <a:r>
              <a:rPr lang="en-US" sz="1200" dirty="0">
                <a:solidFill>
                  <a:srgbClr val="263238"/>
                </a:solidFill>
              </a:rPr>
              <a:t>Confidence is often very high, so calibration must be monitored.</a:t>
            </a:r>
            <a:endParaRPr lang="en-US" sz="1200" dirty="0"/>
          </a:p>
          <a:p>
            <a:pPr marL="152400" indent="-152400">
              <a:buSzPct val="100000"/>
              <a:buChar char="•"/>
            </a:pPr>
            <a:r>
              <a:rPr lang="en-US" sz="1200" dirty="0">
                <a:solidFill>
                  <a:srgbClr val="263238"/>
                </a:solidFill>
              </a:rPr>
              <a:t>External validation is still required.</a:t>
            </a:r>
            <a:endParaRPr lang="en-US" sz="1200" dirty="0"/>
          </a:p>
        </p:txBody>
      </p:sp>
      <p:sp>
        <p:nvSpPr>
          <p:cNvPr id="26" name="Shape 21"/>
          <p:cNvSpPr/>
          <p:nvPr/>
        </p:nvSpPr>
        <p:spPr>
          <a:xfrm>
            <a:off x="502920" y="6446520"/>
            <a:ext cx="11201400" cy="0"/>
          </a:xfrm>
          <a:prstGeom prst="line">
            <a:avLst/>
          </a:prstGeom>
          <a:noFill/>
          <a:ln w="12700">
            <a:solidFill>
              <a:srgbClr val="E7EBEF"/>
            </a:solidFill>
            <a:prstDash val="solid"/>
          </a:ln>
        </p:spPr>
        <p:txBody>
          <a:bodyPr/>
          <a:lstStyle/>
          <a:p>
            <a:endParaRPr lang="en-US"/>
          </a:p>
        </p:txBody>
      </p:sp>
      <p:sp>
        <p:nvSpPr>
          <p:cNvPr id="27" name="Text 22"/>
          <p:cNvSpPr/>
          <p:nvPr/>
        </p:nvSpPr>
        <p:spPr>
          <a:xfrm>
            <a:off x="502920" y="6510528"/>
            <a:ext cx="4937760" cy="201168"/>
          </a:xfrm>
          <a:prstGeom prst="rect">
            <a:avLst/>
          </a:prstGeom>
          <a:noFill/>
          <a:ln/>
        </p:spPr>
        <p:txBody>
          <a:bodyPr wrap="square" lIns="0" tIns="0" rIns="0" bIns="0" rtlCol="0" anchor="ctr"/>
          <a:lstStyle/>
          <a:p>
            <a:pPr marL="0" indent="0">
              <a:buNone/>
            </a:pPr>
            <a:r>
              <a:rPr lang="en-US" sz="750" dirty="0">
                <a:solidFill>
                  <a:srgbClr val="637083"/>
                </a:solidFill>
                <a:latin typeface="Aptos" pitchFamily="34" charset="0"/>
                <a:ea typeface="Aptos" pitchFamily="34" charset="-122"/>
                <a:cs typeface="Aptos" pitchFamily="34" charset="-120"/>
              </a:rPr>
              <a:t>Section 3 of 5 | Results</a:t>
            </a:r>
            <a:endParaRPr lang="en-US" sz="750" dirty="0"/>
          </a:p>
        </p:txBody>
      </p:sp>
      <p:sp>
        <p:nvSpPr>
          <p:cNvPr id="28" name="Text 23"/>
          <p:cNvSpPr/>
          <p:nvPr/>
        </p:nvSpPr>
        <p:spPr>
          <a:xfrm>
            <a:off x="8503920" y="6510528"/>
            <a:ext cx="3200400" cy="201168"/>
          </a:xfrm>
          <a:prstGeom prst="rect">
            <a:avLst/>
          </a:prstGeom>
          <a:noFill/>
          <a:ln/>
        </p:spPr>
        <p:txBody>
          <a:bodyPr wrap="square" lIns="0" tIns="0" rIns="0" bIns="0" rtlCol="0" anchor="ctr"/>
          <a:lstStyle/>
          <a:p>
            <a:pPr marL="0" indent="0" algn="r">
              <a:buNone/>
            </a:pPr>
            <a:r>
              <a:rPr lang="en-US" sz="750" dirty="0">
                <a:solidFill>
                  <a:srgbClr val="637083"/>
                </a:solidFill>
                <a:latin typeface="Aptos" pitchFamily="34" charset="0"/>
                <a:ea typeface="Aptos" pitchFamily="34" charset="-122"/>
                <a:cs typeface="Aptos" pitchFamily="34" charset="-120"/>
              </a:rPr>
              <a:t>Brain tumor MRI classifier | Review board presentation</a:t>
            </a:r>
            <a:endParaRPr lang="en-US" sz="750" dirty="0"/>
          </a:p>
        </p:txBody>
      </p:sp>
      <p:pic>
        <p:nvPicPr>
          <p:cNvPr id="30" name="Picture 29">
            <a:extLst>
              <a:ext uri="{FF2B5EF4-FFF2-40B4-BE49-F238E27FC236}">
                <a16:creationId xmlns:a16="http://schemas.microsoft.com/office/drawing/2014/main" id="{45CD75F9-13A8-2551-F54C-ECD526E17CD4}"/>
              </a:ext>
            </a:extLst>
          </p:cNvPr>
          <p:cNvPicPr>
            <a:picLocks noChangeAspect="1"/>
          </p:cNvPicPr>
          <p:nvPr/>
        </p:nvPicPr>
        <p:blipFill>
          <a:blip r:embed="rId4"/>
          <a:stretch>
            <a:fillRect/>
          </a:stretch>
        </p:blipFill>
        <p:spPr>
          <a:xfrm>
            <a:off x="1167892" y="2766077"/>
            <a:ext cx="3918712" cy="3149969"/>
          </a:xfrm>
          <a:prstGeom prst="rect">
            <a:avLst/>
          </a:prstGeom>
        </p:spPr>
      </p:pic>
      <p:pic>
        <p:nvPicPr>
          <p:cNvPr id="32" name="Picture 31">
            <a:extLst>
              <a:ext uri="{FF2B5EF4-FFF2-40B4-BE49-F238E27FC236}">
                <a16:creationId xmlns:a16="http://schemas.microsoft.com/office/drawing/2014/main" id="{758A6190-481D-7D18-52D0-C026C34300B7}"/>
              </a:ext>
            </a:extLst>
          </p:cNvPr>
          <p:cNvPicPr>
            <a:picLocks noChangeAspect="1"/>
          </p:cNvPicPr>
          <p:nvPr/>
        </p:nvPicPr>
        <p:blipFill>
          <a:blip r:embed="rId5"/>
          <a:srcRect/>
          <a:stretch/>
        </p:blipFill>
        <p:spPr>
          <a:xfrm>
            <a:off x="5897880" y="3998565"/>
            <a:ext cx="2155847" cy="2150775"/>
          </a:xfrm>
          <a:prstGeom prst="rect">
            <a:avLst/>
          </a:prstGeom>
        </p:spPr>
      </p:pic>
      <p:sp>
        <p:nvSpPr>
          <p:cNvPr id="6" name="Shape 7">
            <a:extLst>
              <a:ext uri="{FF2B5EF4-FFF2-40B4-BE49-F238E27FC236}">
                <a16:creationId xmlns:a16="http://schemas.microsoft.com/office/drawing/2014/main" id="{7BE14445-1BFF-8963-C230-C3853171CFB4}"/>
              </a:ext>
            </a:extLst>
          </p:cNvPr>
          <p:cNvSpPr/>
          <p:nvPr/>
        </p:nvSpPr>
        <p:spPr>
          <a:xfrm>
            <a:off x="554611" y="1435603"/>
            <a:ext cx="1294384" cy="1005840"/>
          </a:xfrm>
          <a:prstGeom prst="roundRect">
            <a:avLst>
              <a:gd name="adj" fmla="val 7273"/>
            </a:avLst>
          </a:prstGeom>
          <a:solidFill>
            <a:srgbClr val="FFFFFF"/>
          </a:solidFill>
          <a:ln w="10160">
            <a:solidFill>
              <a:srgbClr val="D7DEE7"/>
            </a:solidFill>
            <a:prstDash val="solid"/>
          </a:ln>
        </p:spPr>
        <p:txBody>
          <a:bodyPr/>
          <a:lstStyle/>
          <a:p>
            <a:endParaRPr lang="en-US"/>
          </a:p>
        </p:txBody>
      </p:sp>
      <p:sp>
        <p:nvSpPr>
          <p:cNvPr id="7" name="Shape 8">
            <a:extLst>
              <a:ext uri="{FF2B5EF4-FFF2-40B4-BE49-F238E27FC236}">
                <a16:creationId xmlns:a16="http://schemas.microsoft.com/office/drawing/2014/main" id="{7F0873B5-16B5-48CB-A8FD-87268B952A94}"/>
              </a:ext>
            </a:extLst>
          </p:cNvPr>
          <p:cNvSpPr/>
          <p:nvPr/>
        </p:nvSpPr>
        <p:spPr>
          <a:xfrm>
            <a:off x="554611" y="1435603"/>
            <a:ext cx="73152" cy="1005840"/>
          </a:xfrm>
          <a:prstGeom prst="rect">
            <a:avLst/>
          </a:prstGeom>
          <a:solidFill>
            <a:srgbClr val="C00000"/>
          </a:solidFill>
          <a:ln w="12700">
            <a:solidFill>
              <a:srgbClr val="C00000"/>
            </a:solidFill>
            <a:prstDash val="solid"/>
          </a:ln>
        </p:spPr>
        <p:txBody>
          <a:bodyPr/>
          <a:lstStyle/>
          <a:p>
            <a:endParaRPr lang="en-US"/>
          </a:p>
        </p:txBody>
      </p:sp>
      <p:sp>
        <p:nvSpPr>
          <p:cNvPr id="8" name="Text 9">
            <a:extLst>
              <a:ext uri="{FF2B5EF4-FFF2-40B4-BE49-F238E27FC236}">
                <a16:creationId xmlns:a16="http://schemas.microsoft.com/office/drawing/2014/main" id="{F11E9238-223A-A781-2AEF-3EB856F8A83C}"/>
              </a:ext>
            </a:extLst>
          </p:cNvPr>
          <p:cNvSpPr/>
          <p:nvPr/>
        </p:nvSpPr>
        <p:spPr>
          <a:xfrm>
            <a:off x="737491" y="1581907"/>
            <a:ext cx="1554480" cy="320040"/>
          </a:xfrm>
          <a:prstGeom prst="rect">
            <a:avLst/>
          </a:prstGeom>
          <a:noFill/>
          <a:ln/>
        </p:spPr>
        <p:txBody>
          <a:bodyPr wrap="square" lIns="0" tIns="0" rIns="0" bIns="0" rtlCol="0" anchor="ctr">
            <a:normAutofit/>
          </a:bodyPr>
          <a:lstStyle/>
          <a:p>
            <a:pPr marL="0" indent="0">
              <a:buNone/>
            </a:pPr>
            <a:r>
              <a:rPr lang="en-US" sz="2100" b="1" dirty="0">
                <a:solidFill>
                  <a:srgbClr val="132238"/>
                </a:solidFill>
              </a:rPr>
              <a:t>0.99</a:t>
            </a:r>
            <a:endParaRPr lang="en-US" sz="2100" dirty="0"/>
          </a:p>
        </p:txBody>
      </p:sp>
      <p:sp>
        <p:nvSpPr>
          <p:cNvPr id="17" name="Text 10">
            <a:extLst>
              <a:ext uri="{FF2B5EF4-FFF2-40B4-BE49-F238E27FC236}">
                <a16:creationId xmlns:a16="http://schemas.microsoft.com/office/drawing/2014/main" id="{91CDBEF1-3112-1F02-73DC-A63EE4617F71}"/>
              </a:ext>
            </a:extLst>
          </p:cNvPr>
          <p:cNvSpPr/>
          <p:nvPr/>
        </p:nvSpPr>
        <p:spPr>
          <a:xfrm>
            <a:off x="737491" y="1947667"/>
            <a:ext cx="1554480" cy="411480"/>
          </a:xfrm>
          <a:prstGeom prst="rect">
            <a:avLst/>
          </a:prstGeom>
          <a:noFill/>
          <a:ln/>
        </p:spPr>
        <p:txBody>
          <a:bodyPr wrap="square" lIns="0" tIns="0" rIns="0" bIns="0" rtlCol="0" anchor="ctr">
            <a:normAutofit/>
          </a:bodyPr>
          <a:lstStyle/>
          <a:p>
            <a:pPr marL="0" indent="0">
              <a:buNone/>
            </a:pPr>
            <a:r>
              <a:rPr lang="en-US" sz="950" dirty="0">
                <a:solidFill>
                  <a:srgbClr val="637083"/>
                </a:solidFill>
              </a:rPr>
              <a:t>Macro Accuracy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2AD6F-ED6E-8C4D-D7A5-8D45F42A8AF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BFBFCF6-1F7E-DC18-7468-8C6895717544}"/>
              </a:ext>
            </a:extLst>
          </p:cNvPr>
          <p:cNvSpPr/>
          <p:nvPr/>
        </p:nvSpPr>
        <p:spPr>
          <a:xfrm>
            <a:off x="502920" y="301752"/>
            <a:ext cx="2926080" cy="237744"/>
          </a:xfrm>
          <a:prstGeom prst="rect">
            <a:avLst/>
          </a:prstGeom>
          <a:noFill/>
          <a:ln/>
        </p:spPr>
        <p:txBody>
          <a:bodyPr wrap="square" lIns="0" tIns="0" rIns="0" bIns="0" rtlCol="0" anchor="ctr">
            <a:normAutofit/>
          </a:bodyPr>
          <a:lstStyle/>
          <a:p>
            <a:pPr marL="0" indent="0">
              <a:buNone/>
            </a:pPr>
            <a:r>
              <a:rPr lang="en-US" sz="1000" b="1" dirty="0">
                <a:solidFill>
                  <a:srgbClr val="2F6F9F"/>
                </a:solidFill>
              </a:rPr>
              <a:t>RESULTS</a:t>
            </a:r>
            <a:endParaRPr lang="en-US" sz="1000" dirty="0"/>
          </a:p>
        </p:txBody>
      </p:sp>
      <p:sp>
        <p:nvSpPr>
          <p:cNvPr id="3" name="Text 1">
            <a:extLst>
              <a:ext uri="{FF2B5EF4-FFF2-40B4-BE49-F238E27FC236}">
                <a16:creationId xmlns:a16="http://schemas.microsoft.com/office/drawing/2014/main" id="{B9CB259E-9813-03AD-D646-398032025CE0}"/>
              </a:ext>
            </a:extLst>
          </p:cNvPr>
          <p:cNvSpPr/>
          <p:nvPr/>
        </p:nvSpPr>
        <p:spPr>
          <a:xfrm>
            <a:off x="502920" y="585216"/>
            <a:ext cx="6629400" cy="457200"/>
          </a:xfrm>
          <a:prstGeom prst="rect">
            <a:avLst/>
          </a:prstGeom>
          <a:noFill/>
          <a:ln/>
        </p:spPr>
        <p:txBody>
          <a:bodyPr wrap="square" lIns="0" tIns="0" rIns="0" bIns="0" rtlCol="0" anchor="ctr">
            <a:normAutofit/>
          </a:bodyPr>
          <a:lstStyle/>
          <a:p>
            <a:pPr marL="0" indent="0">
              <a:buNone/>
            </a:pPr>
            <a:r>
              <a:rPr lang="en-US" sz="2500" b="1" dirty="0">
                <a:solidFill>
                  <a:srgbClr val="132238"/>
                </a:solidFill>
              </a:rPr>
              <a:t>Interpretability</a:t>
            </a:r>
            <a:endParaRPr lang="en-US" sz="2500" dirty="0"/>
          </a:p>
        </p:txBody>
      </p:sp>
      <p:sp>
        <p:nvSpPr>
          <p:cNvPr id="4" name="Text 2">
            <a:extLst>
              <a:ext uri="{FF2B5EF4-FFF2-40B4-BE49-F238E27FC236}">
                <a16:creationId xmlns:a16="http://schemas.microsoft.com/office/drawing/2014/main" id="{E7279BA4-03F8-6161-706B-B856E6327C37}"/>
              </a:ext>
            </a:extLst>
          </p:cNvPr>
          <p:cNvSpPr/>
          <p:nvPr/>
        </p:nvSpPr>
        <p:spPr>
          <a:xfrm>
            <a:off x="521208" y="1060703"/>
            <a:ext cx="7742114" cy="411469"/>
          </a:xfrm>
          <a:prstGeom prst="rect">
            <a:avLst/>
          </a:prstGeom>
          <a:noFill/>
          <a:ln/>
        </p:spPr>
        <p:txBody>
          <a:bodyPr wrap="square" lIns="0" tIns="0" rIns="0" bIns="0" rtlCol="0" anchor="ctr">
            <a:normAutofit/>
          </a:bodyPr>
          <a:lstStyle/>
          <a:p>
            <a:pPr marL="0" indent="0">
              <a:buNone/>
            </a:pPr>
            <a:r>
              <a:rPr lang="en-US" sz="1250" dirty="0">
                <a:solidFill>
                  <a:srgbClr val="637083"/>
                </a:solidFill>
              </a:rPr>
              <a:t>Grad-CAM and occlusion were used to test whether the model looked at clinically reasonable regions.</a:t>
            </a:r>
            <a:endParaRPr lang="en-US" sz="1250" dirty="0"/>
          </a:p>
        </p:txBody>
      </p:sp>
      <p:sp>
        <p:nvSpPr>
          <p:cNvPr id="6" name="Text 3">
            <a:extLst>
              <a:ext uri="{FF2B5EF4-FFF2-40B4-BE49-F238E27FC236}">
                <a16:creationId xmlns:a16="http://schemas.microsoft.com/office/drawing/2014/main" id="{FBFAA91C-E39D-ED22-A695-92A74C02F0DE}"/>
              </a:ext>
            </a:extLst>
          </p:cNvPr>
          <p:cNvSpPr/>
          <p:nvPr/>
        </p:nvSpPr>
        <p:spPr>
          <a:xfrm>
            <a:off x="640080" y="3867912"/>
            <a:ext cx="5212080" cy="164592"/>
          </a:xfrm>
          <a:prstGeom prst="rect">
            <a:avLst/>
          </a:prstGeom>
          <a:noFill/>
          <a:ln/>
        </p:spPr>
        <p:txBody>
          <a:bodyPr wrap="square" lIns="0" tIns="0" rIns="0" bIns="0" rtlCol="0" anchor="ctr">
            <a:normAutofit/>
          </a:bodyPr>
          <a:lstStyle/>
          <a:p>
            <a:pPr marL="0" indent="0" algn="ctr">
              <a:buNone/>
            </a:pPr>
            <a:r>
              <a:rPr lang="en-US" sz="750" dirty="0">
                <a:solidFill>
                  <a:srgbClr val="637083"/>
                </a:solidFill>
              </a:rPr>
              <a:t>Occlusion sensitivity examples</a:t>
            </a:r>
            <a:endParaRPr lang="en-US" sz="750" dirty="0"/>
          </a:p>
        </p:txBody>
      </p:sp>
      <p:sp>
        <p:nvSpPr>
          <p:cNvPr id="8" name="Text 4">
            <a:extLst>
              <a:ext uri="{FF2B5EF4-FFF2-40B4-BE49-F238E27FC236}">
                <a16:creationId xmlns:a16="http://schemas.microsoft.com/office/drawing/2014/main" id="{CD61AC67-D11E-FED8-647B-250EB6574D67}"/>
              </a:ext>
            </a:extLst>
          </p:cNvPr>
          <p:cNvSpPr/>
          <p:nvPr/>
        </p:nvSpPr>
        <p:spPr>
          <a:xfrm>
            <a:off x="6080760" y="3867912"/>
            <a:ext cx="5440680" cy="164592"/>
          </a:xfrm>
          <a:prstGeom prst="rect">
            <a:avLst/>
          </a:prstGeom>
          <a:noFill/>
          <a:ln/>
        </p:spPr>
        <p:txBody>
          <a:bodyPr wrap="square" lIns="0" tIns="0" rIns="0" bIns="0" rtlCol="0" anchor="ctr">
            <a:normAutofit/>
          </a:bodyPr>
          <a:lstStyle/>
          <a:p>
            <a:pPr marL="0" indent="0" algn="ctr">
              <a:buNone/>
            </a:pPr>
            <a:r>
              <a:rPr lang="en-US" sz="750" dirty="0">
                <a:solidFill>
                  <a:srgbClr val="637083"/>
                </a:solidFill>
              </a:rPr>
              <a:t>Grad-CAM / Grad-CAM++ comparison</a:t>
            </a:r>
            <a:endParaRPr lang="en-US" sz="750" dirty="0"/>
          </a:p>
        </p:txBody>
      </p:sp>
      <p:sp>
        <p:nvSpPr>
          <p:cNvPr id="10" name="Text 5">
            <a:extLst>
              <a:ext uri="{FF2B5EF4-FFF2-40B4-BE49-F238E27FC236}">
                <a16:creationId xmlns:a16="http://schemas.microsoft.com/office/drawing/2014/main" id="{A1281B0E-A186-9EAC-2009-34570CC84B3B}"/>
              </a:ext>
            </a:extLst>
          </p:cNvPr>
          <p:cNvSpPr/>
          <p:nvPr/>
        </p:nvSpPr>
        <p:spPr>
          <a:xfrm>
            <a:off x="1631357" y="5431548"/>
            <a:ext cx="3886200" cy="164592"/>
          </a:xfrm>
          <a:prstGeom prst="rect">
            <a:avLst/>
          </a:prstGeom>
          <a:noFill/>
          <a:ln/>
        </p:spPr>
        <p:txBody>
          <a:bodyPr wrap="square" lIns="0" tIns="0" rIns="0" bIns="0" rtlCol="0" anchor="ctr">
            <a:normAutofit/>
          </a:bodyPr>
          <a:lstStyle/>
          <a:p>
            <a:pPr marL="0" indent="0" algn="ctr">
              <a:buNone/>
            </a:pPr>
            <a:r>
              <a:rPr lang="en-US" sz="1000" dirty="0">
                <a:solidFill>
                  <a:srgbClr val="637083"/>
                </a:solidFill>
              </a:rPr>
              <a:t>Grad-CAM on test dataset</a:t>
            </a:r>
            <a:endParaRPr lang="en-US" sz="1000" dirty="0"/>
          </a:p>
        </p:txBody>
      </p:sp>
      <p:sp>
        <p:nvSpPr>
          <p:cNvPr id="17" name="Shape 12">
            <a:extLst>
              <a:ext uri="{FF2B5EF4-FFF2-40B4-BE49-F238E27FC236}">
                <a16:creationId xmlns:a16="http://schemas.microsoft.com/office/drawing/2014/main" id="{8F653B61-72E4-820B-0D35-2EA0D429554D}"/>
              </a:ext>
            </a:extLst>
          </p:cNvPr>
          <p:cNvSpPr/>
          <p:nvPr/>
        </p:nvSpPr>
        <p:spPr>
          <a:xfrm>
            <a:off x="502920" y="6446520"/>
            <a:ext cx="11201400" cy="0"/>
          </a:xfrm>
          <a:prstGeom prst="line">
            <a:avLst/>
          </a:prstGeom>
          <a:noFill/>
          <a:ln w="12700">
            <a:solidFill>
              <a:srgbClr val="E7EBEF"/>
            </a:solidFill>
            <a:prstDash val="solid"/>
          </a:ln>
        </p:spPr>
        <p:txBody>
          <a:bodyPr/>
          <a:lstStyle/>
          <a:p>
            <a:endParaRPr lang="en-US"/>
          </a:p>
        </p:txBody>
      </p:sp>
      <p:sp>
        <p:nvSpPr>
          <p:cNvPr id="18" name="Text 13">
            <a:extLst>
              <a:ext uri="{FF2B5EF4-FFF2-40B4-BE49-F238E27FC236}">
                <a16:creationId xmlns:a16="http://schemas.microsoft.com/office/drawing/2014/main" id="{2ECE8361-08CD-8C9E-EE77-CF955A3396BD}"/>
              </a:ext>
            </a:extLst>
          </p:cNvPr>
          <p:cNvSpPr/>
          <p:nvPr/>
        </p:nvSpPr>
        <p:spPr>
          <a:xfrm>
            <a:off x="502920" y="6510528"/>
            <a:ext cx="4937760" cy="201168"/>
          </a:xfrm>
          <a:prstGeom prst="rect">
            <a:avLst/>
          </a:prstGeom>
          <a:noFill/>
          <a:ln/>
        </p:spPr>
        <p:txBody>
          <a:bodyPr wrap="square" lIns="0" tIns="0" rIns="0" bIns="0" rtlCol="0" anchor="ctr"/>
          <a:lstStyle/>
          <a:p>
            <a:pPr marL="0" indent="0">
              <a:buNone/>
            </a:pPr>
            <a:r>
              <a:rPr lang="en-US" sz="750" dirty="0">
                <a:solidFill>
                  <a:srgbClr val="637083"/>
                </a:solidFill>
                <a:latin typeface="Aptos" pitchFamily="34" charset="0"/>
                <a:ea typeface="Aptos" pitchFamily="34" charset="-122"/>
                <a:cs typeface="Aptos" pitchFamily="34" charset="-120"/>
              </a:rPr>
              <a:t>Section 3 of 5 | Results</a:t>
            </a:r>
            <a:endParaRPr lang="en-US" sz="750" dirty="0"/>
          </a:p>
        </p:txBody>
      </p:sp>
      <p:sp>
        <p:nvSpPr>
          <p:cNvPr id="19" name="Text 14">
            <a:extLst>
              <a:ext uri="{FF2B5EF4-FFF2-40B4-BE49-F238E27FC236}">
                <a16:creationId xmlns:a16="http://schemas.microsoft.com/office/drawing/2014/main" id="{27AA8EBF-CD28-FFDA-3DED-34FCB46F47F1}"/>
              </a:ext>
            </a:extLst>
          </p:cNvPr>
          <p:cNvSpPr/>
          <p:nvPr/>
        </p:nvSpPr>
        <p:spPr>
          <a:xfrm>
            <a:off x="8503920" y="6510528"/>
            <a:ext cx="3200400" cy="201168"/>
          </a:xfrm>
          <a:prstGeom prst="rect">
            <a:avLst/>
          </a:prstGeom>
          <a:noFill/>
          <a:ln/>
        </p:spPr>
        <p:txBody>
          <a:bodyPr wrap="square" lIns="0" tIns="0" rIns="0" bIns="0" rtlCol="0" anchor="ctr"/>
          <a:lstStyle/>
          <a:p>
            <a:pPr marL="0" indent="0" algn="r">
              <a:buNone/>
            </a:pPr>
            <a:r>
              <a:rPr lang="en-US" sz="750" dirty="0">
                <a:solidFill>
                  <a:srgbClr val="637083"/>
                </a:solidFill>
                <a:latin typeface="Aptos" pitchFamily="34" charset="0"/>
                <a:ea typeface="Aptos" pitchFamily="34" charset="-122"/>
                <a:cs typeface="Aptos" pitchFamily="34" charset="-120"/>
              </a:rPr>
              <a:t>Brain tumor MRI classifier | Review board presentation</a:t>
            </a:r>
            <a:endParaRPr lang="en-US" sz="750" dirty="0"/>
          </a:p>
        </p:txBody>
      </p:sp>
      <p:pic>
        <p:nvPicPr>
          <p:cNvPr id="14" name="Picture 13">
            <a:extLst>
              <a:ext uri="{FF2B5EF4-FFF2-40B4-BE49-F238E27FC236}">
                <a16:creationId xmlns:a16="http://schemas.microsoft.com/office/drawing/2014/main" id="{21634926-4C4C-93B6-3A65-ED478B395BF2}"/>
              </a:ext>
            </a:extLst>
          </p:cNvPr>
          <p:cNvPicPr>
            <a:picLocks noChangeAspect="1"/>
          </p:cNvPicPr>
          <p:nvPr/>
        </p:nvPicPr>
        <p:blipFill>
          <a:blip r:embed="rId3"/>
          <a:srcRect t="3661" b="3661"/>
          <a:stretch/>
        </p:blipFill>
        <p:spPr>
          <a:xfrm>
            <a:off x="816694" y="1627831"/>
            <a:ext cx="5515526" cy="3683797"/>
          </a:xfrm>
          <a:prstGeom prst="rect">
            <a:avLst/>
          </a:prstGeom>
        </p:spPr>
      </p:pic>
      <p:pic>
        <p:nvPicPr>
          <p:cNvPr id="16" name="Picture 15">
            <a:extLst>
              <a:ext uri="{FF2B5EF4-FFF2-40B4-BE49-F238E27FC236}">
                <a16:creationId xmlns:a16="http://schemas.microsoft.com/office/drawing/2014/main" id="{4E80340F-FE60-5D77-5AFE-1B64391D4C81}"/>
              </a:ext>
            </a:extLst>
          </p:cNvPr>
          <p:cNvPicPr>
            <a:picLocks noChangeAspect="1"/>
          </p:cNvPicPr>
          <p:nvPr/>
        </p:nvPicPr>
        <p:blipFill>
          <a:blip r:embed="rId4"/>
          <a:srcRect t="3146" b="3146"/>
          <a:stretch/>
        </p:blipFill>
        <p:spPr>
          <a:xfrm>
            <a:off x="6560820" y="1657685"/>
            <a:ext cx="5120640" cy="4173565"/>
          </a:xfrm>
          <a:prstGeom prst="rect">
            <a:avLst/>
          </a:prstGeom>
        </p:spPr>
      </p:pic>
      <p:sp>
        <p:nvSpPr>
          <p:cNvPr id="5" name="Text 5">
            <a:extLst>
              <a:ext uri="{FF2B5EF4-FFF2-40B4-BE49-F238E27FC236}">
                <a16:creationId xmlns:a16="http://schemas.microsoft.com/office/drawing/2014/main" id="{B150777F-818D-4E23-F601-DF90C1764677}"/>
              </a:ext>
            </a:extLst>
          </p:cNvPr>
          <p:cNvSpPr/>
          <p:nvPr/>
        </p:nvSpPr>
        <p:spPr>
          <a:xfrm>
            <a:off x="7132320" y="5921764"/>
            <a:ext cx="3886200" cy="164592"/>
          </a:xfrm>
          <a:prstGeom prst="rect">
            <a:avLst/>
          </a:prstGeom>
          <a:noFill/>
          <a:ln/>
        </p:spPr>
        <p:txBody>
          <a:bodyPr wrap="square" lIns="0" tIns="0" rIns="0" bIns="0" rtlCol="0" anchor="ctr">
            <a:normAutofit/>
          </a:bodyPr>
          <a:lstStyle/>
          <a:p>
            <a:pPr marL="0" indent="0" algn="ctr">
              <a:buNone/>
            </a:pPr>
            <a:r>
              <a:rPr lang="en-US" sz="1000" dirty="0">
                <a:solidFill>
                  <a:srgbClr val="637083"/>
                </a:solidFill>
              </a:rPr>
              <a:t>Occlusion on test dataset</a:t>
            </a:r>
            <a:endParaRPr lang="en-US" sz="1000" dirty="0"/>
          </a:p>
        </p:txBody>
      </p:sp>
    </p:spTree>
    <p:extLst>
      <p:ext uri="{BB962C8B-B14F-4D97-AF65-F5344CB8AC3E}">
        <p14:creationId xmlns:p14="http://schemas.microsoft.com/office/powerpoint/2010/main" val="19841272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D982A-EE76-0F10-4EB8-2CF2477EEC9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ED5A460-D009-F9F4-4BF1-88F89BED2D03}"/>
              </a:ext>
            </a:extLst>
          </p:cNvPr>
          <p:cNvSpPr/>
          <p:nvPr/>
        </p:nvSpPr>
        <p:spPr>
          <a:xfrm>
            <a:off x="502920" y="301752"/>
            <a:ext cx="2926080" cy="237744"/>
          </a:xfrm>
          <a:prstGeom prst="rect">
            <a:avLst/>
          </a:prstGeom>
          <a:noFill/>
          <a:ln/>
        </p:spPr>
        <p:txBody>
          <a:bodyPr wrap="square" lIns="0" tIns="0" rIns="0" bIns="0" rtlCol="0" anchor="ctr">
            <a:normAutofit/>
          </a:bodyPr>
          <a:lstStyle/>
          <a:p>
            <a:pPr marL="0" indent="0">
              <a:buNone/>
            </a:pPr>
            <a:r>
              <a:rPr lang="en-US" sz="1000" b="1" dirty="0">
                <a:solidFill>
                  <a:srgbClr val="2F6F9F"/>
                </a:solidFill>
              </a:rPr>
              <a:t>RESULTS</a:t>
            </a:r>
            <a:endParaRPr lang="en-US" sz="1000" dirty="0"/>
          </a:p>
        </p:txBody>
      </p:sp>
      <p:sp>
        <p:nvSpPr>
          <p:cNvPr id="3" name="Text 1">
            <a:extLst>
              <a:ext uri="{FF2B5EF4-FFF2-40B4-BE49-F238E27FC236}">
                <a16:creationId xmlns:a16="http://schemas.microsoft.com/office/drawing/2014/main" id="{44FD578F-876F-6F3B-C42B-E00372643826}"/>
              </a:ext>
            </a:extLst>
          </p:cNvPr>
          <p:cNvSpPr/>
          <p:nvPr/>
        </p:nvSpPr>
        <p:spPr>
          <a:xfrm>
            <a:off x="502920" y="585216"/>
            <a:ext cx="6629400" cy="457200"/>
          </a:xfrm>
          <a:prstGeom prst="rect">
            <a:avLst/>
          </a:prstGeom>
          <a:noFill/>
          <a:ln/>
        </p:spPr>
        <p:txBody>
          <a:bodyPr wrap="square" lIns="0" tIns="0" rIns="0" bIns="0" rtlCol="0" anchor="ctr">
            <a:normAutofit/>
          </a:bodyPr>
          <a:lstStyle/>
          <a:p>
            <a:pPr marL="0" indent="0">
              <a:buNone/>
            </a:pPr>
            <a:r>
              <a:rPr lang="en-US" sz="2500" b="1" dirty="0">
                <a:solidFill>
                  <a:srgbClr val="132238"/>
                </a:solidFill>
              </a:rPr>
              <a:t>Interpretability</a:t>
            </a:r>
            <a:endParaRPr lang="en-US" sz="2500" dirty="0"/>
          </a:p>
        </p:txBody>
      </p:sp>
      <p:sp>
        <p:nvSpPr>
          <p:cNvPr id="4" name="Text 2">
            <a:extLst>
              <a:ext uri="{FF2B5EF4-FFF2-40B4-BE49-F238E27FC236}">
                <a16:creationId xmlns:a16="http://schemas.microsoft.com/office/drawing/2014/main" id="{2A7AE94D-107B-0503-CD07-C9DD1C2CDFCE}"/>
              </a:ext>
            </a:extLst>
          </p:cNvPr>
          <p:cNvSpPr/>
          <p:nvPr/>
        </p:nvSpPr>
        <p:spPr>
          <a:xfrm>
            <a:off x="521208" y="1060703"/>
            <a:ext cx="7742114" cy="411469"/>
          </a:xfrm>
          <a:prstGeom prst="rect">
            <a:avLst/>
          </a:prstGeom>
          <a:noFill/>
          <a:ln/>
        </p:spPr>
        <p:txBody>
          <a:bodyPr wrap="square" lIns="0" tIns="0" rIns="0" bIns="0" rtlCol="0" anchor="ctr">
            <a:normAutofit/>
          </a:bodyPr>
          <a:lstStyle/>
          <a:p>
            <a:pPr marL="0" indent="0">
              <a:buNone/>
            </a:pPr>
            <a:r>
              <a:rPr lang="en-US" sz="1250" dirty="0">
                <a:solidFill>
                  <a:srgbClr val="637083"/>
                </a:solidFill>
              </a:rPr>
              <a:t>Grad-CAM and occlusion were used to test whether the model looked at clinically reasonable regions.</a:t>
            </a:r>
            <a:endParaRPr lang="en-US" sz="1250" dirty="0"/>
          </a:p>
        </p:txBody>
      </p:sp>
      <p:sp>
        <p:nvSpPr>
          <p:cNvPr id="10" name="Text 5">
            <a:extLst>
              <a:ext uri="{FF2B5EF4-FFF2-40B4-BE49-F238E27FC236}">
                <a16:creationId xmlns:a16="http://schemas.microsoft.com/office/drawing/2014/main" id="{30EC90ED-A911-EF51-F53D-D6C4AD22B07E}"/>
              </a:ext>
            </a:extLst>
          </p:cNvPr>
          <p:cNvSpPr/>
          <p:nvPr/>
        </p:nvSpPr>
        <p:spPr>
          <a:xfrm>
            <a:off x="5943112" y="5133253"/>
            <a:ext cx="3886200" cy="164592"/>
          </a:xfrm>
          <a:prstGeom prst="rect">
            <a:avLst/>
          </a:prstGeom>
          <a:noFill/>
          <a:ln/>
        </p:spPr>
        <p:txBody>
          <a:bodyPr wrap="square" lIns="0" tIns="0" rIns="0" bIns="0" rtlCol="0" anchor="ctr">
            <a:normAutofit/>
          </a:bodyPr>
          <a:lstStyle/>
          <a:p>
            <a:pPr marL="0" indent="0" algn="ctr">
              <a:buNone/>
            </a:pPr>
            <a:r>
              <a:rPr lang="en-US" sz="1000" dirty="0">
                <a:solidFill>
                  <a:srgbClr val="637083"/>
                </a:solidFill>
              </a:rPr>
              <a:t>Correct vs misclassified examples</a:t>
            </a:r>
            <a:endParaRPr lang="en-US" sz="1000" dirty="0"/>
          </a:p>
        </p:txBody>
      </p:sp>
      <p:sp>
        <p:nvSpPr>
          <p:cNvPr id="17" name="Shape 12">
            <a:extLst>
              <a:ext uri="{FF2B5EF4-FFF2-40B4-BE49-F238E27FC236}">
                <a16:creationId xmlns:a16="http://schemas.microsoft.com/office/drawing/2014/main" id="{1D678637-B7D9-E106-4DB3-3D45C256229A}"/>
              </a:ext>
            </a:extLst>
          </p:cNvPr>
          <p:cNvSpPr/>
          <p:nvPr/>
        </p:nvSpPr>
        <p:spPr>
          <a:xfrm>
            <a:off x="502920" y="6446520"/>
            <a:ext cx="11201400" cy="0"/>
          </a:xfrm>
          <a:prstGeom prst="line">
            <a:avLst/>
          </a:prstGeom>
          <a:noFill/>
          <a:ln w="12700">
            <a:solidFill>
              <a:srgbClr val="E7EBEF"/>
            </a:solidFill>
            <a:prstDash val="solid"/>
          </a:ln>
        </p:spPr>
        <p:txBody>
          <a:bodyPr/>
          <a:lstStyle/>
          <a:p>
            <a:endParaRPr lang="en-US"/>
          </a:p>
        </p:txBody>
      </p:sp>
      <p:sp>
        <p:nvSpPr>
          <p:cNvPr id="18" name="Text 13">
            <a:extLst>
              <a:ext uri="{FF2B5EF4-FFF2-40B4-BE49-F238E27FC236}">
                <a16:creationId xmlns:a16="http://schemas.microsoft.com/office/drawing/2014/main" id="{532AA961-5D14-EAFB-6AC9-7B420A884558}"/>
              </a:ext>
            </a:extLst>
          </p:cNvPr>
          <p:cNvSpPr/>
          <p:nvPr/>
        </p:nvSpPr>
        <p:spPr>
          <a:xfrm>
            <a:off x="502920" y="6510528"/>
            <a:ext cx="4937760" cy="201168"/>
          </a:xfrm>
          <a:prstGeom prst="rect">
            <a:avLst/>
          </a:prstGeom>
          <a:noFill/>
          <a:ln/>
        </p:spPr>
        <p:txBody>
          <a:bodyPr wrap="square" lIns="0" tIns="0" rIns="0" bIns="0" rtlCol="0" anchor="ctr"/>
          <a:lstStyle/>
          <a:p>
            <a:pPr marL="0" indent="0">
              <a:buNone/>
            </a:pPr>
            <a:r>
              <a:rPr lang="en-US" sz="750" dirty="0">
                <a:solidFill>
                  <a:srgbClr val="637083"/>
                </a:solidFill>
                <a:latin typeface="Aptos" pitchFamily="34" charset="0"/>
                <a:ea typeface="Aptos" pitchFamily="34" charset="-122"/>
                <a:cs typeface="Aptos" pitchFamily="34" charset="-120"/>
              </a:rPr>
              <a:t>Section 3 of 5 | Results</a:t>
            </a:r>
            <a:endParaRPr lang="en-US" sz="750" dirty="0"/>
          </a:p>
        </p:txBody>
      </p:sp>
      <p:sp>
        <p:nvSpPr>
          <p:cNvPr id="19" name="Text 14">
            <a:extLst>
              <a:ext uri="{FF2B5EF4-FFF2-40B4-BE49-F238E27FC236}">
                <a16:creationId xmlns:a16="http://schemas.microsoft.com/office/drawing/2014/main" id="{F4D3DD82-EF1F-0AB9-A24C-51EF088B5255}"/>
              </a:ext>
            </a:extLst>
          </p:cNvPr>
          <p:cNvSpPr/>
          <p:nvPr/>
        </p:nvSpPr>
        <p:spPr>
          <a:xfrm>
            <a:off x="8503920" y="6510528"/>
            <a:ext cx="3200400" cy="201168"/>
          </a:xfrm>
          <a:prstGeom prst="rect">
            <a:avLst/>
          </a:prstGeom>
          <a:noFill/>
          <a:ln/>
        </p:spPr>
        <p:txBody>
          <a:bodyPr wrap="square" lIns="0" tIns="0" rIns="0" bIns="0" rtlCol="0" anchor="ctr"/>
          <a:lstStyle/>
          <a:p>
            <a:pPr marL="0" indent="0" algn="r">
              <a:buNone/>
            </a:pPr>
            <a:r>
              <a:rPr lang="en-US" sz="750" dirty="0">
                <a:solidFill>
                  <a:srgbClr val="637083"/>
                </a:solidFill>
                <a:latin typeface="Aptos" pitchFamily="34" charset="0"/>
                <a:ea typeface="Aptos" pitchFamily="34" charset="-122"/>
                <a:cs typeface="Aptos" pitchFamily="34" charset="-120"/>
              </a:rPr>
              <a:t>Brain tumor MRI classifier | Review board presentation</a:t>
            </a:r>
            <a:endParaRPr lang="en-US" sz="750" dirty="0"/>
          </a:p>
        </p:txBody>
      </p:sp>
      <p:pic>
        <p:nvPicPr>
          <p:cNvPr id="12" name="Picture 11">
            <a:extLst>
              <a:ext uri="{FF2B5EF4-FFF2-40B4-BE49-F238E27FC236}">
                <a16:creationId xmlns:a16="http://schemas.microsoft.com/office/drawing/2014/main" id="{C77108D2-969E-4108-D642-1BFD7C9F4401}"/>
              </a:ext>
            </a:extLst>
          </p:cNvPr>
          <p:cNvPicPr>
            <a:picLocks noChangeAspect="1"/>
          </p:cNvPicPr>
          <p:nvPr/>
        </p:nvPicPr>
        <p:blipFill>
          <a:blip r:embed="rId3"/>
          <a:srcRect l="25208" r="25208"/>
          <a:stretch/>
        </p:blipFill>
        <p:spPr>
          <a:xfrm>
            <a:off x="602765" y="1656847"/>
            <a:ext cx="3310543" cy="3326639"/>
          </a:xfrm>
          <a:prstGeom prst="rect">
            <a:avLst/>
          </a:prstGeom>
        </p:spPr>
      </p:pic>
      <p:pic>
        <p:nvPicPr>
          <p:cNvPr id="22" name="Picture 21">
            <a:extLst>
              <a:ext uri="{FF2B5EF4-FFF2-40B4-BE49-F238E27FC236}">
                <a16:creationId xmlns:a16="http://schemas.microsoft.com/office/drawing/2014/main" id="{403E671F-E35E-9582-DA9A-1961F9C8FA32}"/>
              </a:ext>
            </a:extLst>
          </p:cNvPr>
          <p:cNvPicPr>
            <a:picLocks noChangeAspect="1"/>
          </p:cNvPicPr>
          <p:nvPr/>
        </p:nvPicPr>
        <p:blipFill>
          <a:blip r:embed="rId4"/>
          <a:srcRect/>
          <a:stretch/>
        </p:blipFill>
        <p:spPr>
          <a:xfrm>
            <a:off x="4526279" y="1560155"/>
            <a:ext cx="6719866" cy="3423328"/>
          </a:xfrm>
          <a:prstGeom prst="rect">
            <a:avLst/>
          </a:prstGeom>
        </p:spPr>
      </p:pic>
      <p:sp>
        <p:nvSpPr>
          <p:cNvPr id="23" name="Text 5">
            <a:extLst>
              <a:ext uri="{FF2B5EF4-FFF2-40B4-BE49-F238E27FC236}">
                <a16:creationId xmlns:a16="http://schemas.microsoft.com/office/drawing/2014/main" id="{10D75785-AC4D-0422-46F3-DC50BA2B0C20}"/>
              </a:ext>
            </a:extLst>
          </p:cNvPr>
          <p:cNvSpPr/>
          <p:nvPr/>
        </p:nvSpPr>
        <p:spPr>
          <a:xfrm>
            <a:off x="314936" y="5133253"/>
            <a:ext cx="3886200" cy="164592"/>
          </a:xfrm>
          <a:prstGeom prst="rect">
            <a:avLst/>
          </a:prstGeom>
          <a:noFill/>
          <a:ln/>
        </p:spPr>
        <p:txBody>
          <a:bodyPr wrap="square" lIns="0" tIns="0" rIns="0" bIns="0" rtlCol="0" anchor="ctr">
            <a:normAutofit/>
          </a:bodyPr>
          <a:lstStyle/>
          <a:p>
            <a:pPr marL="0" indent="0" algn="ctr">
              <a:buNone/>
            </a:pPr>
            <a:r>
              <a:rPr lang="en-US" sz="1000" dirty="0">
                <a:solidFill>
                  <a:srgbClr val="637083"/>
                </a:solidFill>
              </a:rPr>
              <a:t>Filters</a:t>
            </a:r>
            <a:endParaRPr lang="en-US" sz="1000" dirty="0"/>
          </a:p>
        </p:txBody>
      </p:sp>
    </p:spTree>
    <p:extLst>
      <p:ext uri="{BB962C8B-B14F-4D97-AF65-F5344CB8AC3E}">
        <p14:creationId xmlns:p14="http://schemas.microsoft.com/office/powerpoint/2010/main" val="32120639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2330B-45CB-0BAD-B3C3-53630B9C3A9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0C72F8D-5696-262E-0087-3457C685992E}"/>
              </a:ext>
            </a:extLst>
          </p:cNvPr>
          <p:cNvSpPr/>
          <p:nvPr/>
        </p:nvSpPr>
        <p:spPr>
          <a:xfrm>
            <a:off x="502920" y="301752"/>
            <a:ext cx="2926080" cy="237744"/>
          </a:xfrm>
          <a:prstGeom prst="rect">
            <a:avLst/>
          </a:prstGeom>
          <a:noFill/>
          <a:ln/>
        </p:spPr>
        <p:txBody>
          <a:bodyPr wrap="square" lIns="0" tIns="0" rIns="0" bIns="0" rtlCol="0" anchor="ctr">
            <a:normAutofit/>
          </a:bodyPr>
          <a:lstStyle/>
          <a:p>
            <a:pPr marL="0" indent="0">
              <a:buNone/>
            </a:pPr>
            <a:r>
              <a:rPr lang="en-US" sz="1000" b="1" dirty="0">
                <a:solidFill>
                  <a:srgbClr val="2F6F9F"/>
                </a:solidFill>
              </a:rPr>
              <a:t>RESULTS</a:t>
            </a:r>
            <a:endParaRPr lang="en-US" sz="1000" dirty="0"/>
          </a:p>
        </p:txBody>
      </p:sp>
      <p:sp>
        <p:nvSpPr>
          <p:cNvPr id="3" name="Text 1">
            <a:extLst>
              <a:ext uri="{FF2B5EF4-FFF2-40B4-BE49-F238E27FC236}">
                <a16:creationId xmlns:a16="http://schemas.microsoft.com/office/drawing/2014/main" id="{9523B6EB-1EBB-0D6C-275B-66E7C299A3D5}"/>
              </a:ext>
            </a:extLst>
          </p:cNvPr>
          <p:cNvSpPr/>
          <p:nvPr/>
        </p:nvSpPr>
        <p:spPr>
          <a:xfrm>
            <a:off x="502920" y="585216"/>
            <a:ext cx="9930234" cy="429763"/>
          </a:xfrm>
          <a:prstGeom prst="rect">
            <a:avLst/>
          </a:prstGeom>
          <a:noFill/>
          <a:ln/>
        </p:spPr>
        <p:txBody>
          <a:bodyPr wrap="square" lIns="0" tIns="0" rIns="0" bIns="0" rtlCol="0" anchor="ctr">
            <a:noAutofit/>
          </a:bodyPr>
          <a:lstStyle/>
          <a:p>
            <a:pPr marL="0" indent="0">
              <a:buNone/>
            </a:pPr>
            <a:r>
              <a:rPr lang="en-US" sz="2100" b="1" dirty="0">
                <a:solidFill>
                  <a:srgbClr val="132238"/>
                </a:solidFill>
              </a:rPr>
              <a:t>Test Performance – Additional Test Data </a:t>
            </a:r>
            <a:r>
              <a:rPr lang="en-US" sz="2100" dirty="0">
                <a:solidFill>
                  <a:srgbClr val="132238"/>
                </a:solidFill>
              </a:rPr>
              <a:t>(Glioma and Meningioma only)</a:t>
            </a:r>
            <a:endParaRPr lang="en-US" sz="2100" dirty="0"/>
          </a:p>
        </p:txBody>
      </p:sp>
      <p:sp>
        <p:nvSpPr>
          <p:cNvPr id="4" name="Text 2">
            <a:extLst>
              <a:ext uri="{FF2B5EF4-FFF2-40B4-BE49-F238E27FC236}">
                <a16:creationId xmlns:a16="http://schemas.microsoft.com/office/drawing/2014/main" id="{10887A4D-92B0-00EE-D4B0-BB7E874DA91E}"/>
              </a:ext>
            </a:extLst>
          </p:cNvPr>
          <p:cNvSpPr/>
          <p:nvPr/>
        </p:nvSpPr>
        <p:spPr>
          <a:xfrm>
            <a:off x="521208" y="1060704"/>
            <a:ext cx="6537960" cy="347472"/>
          </a:xfrm>
          <a:prstGeom prst="rect">
            <a:avLst/>
          </a:prstGeom>
          <a:noFill/>
          <a:ln/>
        </p:spPr>
        <p:txBody>
          <a:bodyPr wrap="square" lIns="0" tIns="0" rIns="0" bIns="0" rtlCol="0" anchor="ctr">
            <a:normAutofit/>
          </a:bodyPr>
          <a:lstStyle/>
          <a:p>
            <a:pPr marL="0" indent="0">
              <a:buNone/>
            </a:pPr>
            <a:r>
              <a:rPr lang="en-US" sz="1250" dirty="0">
                <a:solidFill>
                  <a:srgbClr val="637083"/>
                </a:solidFill>
              </a:rPr>
              <a:t>The model performed well on the internal test set, but errors cluster around meningioma cases.</a:t>
            </a:r>
            <a:endParaRPr lang="en-US" sz="1250" dirty="0"/>
          </a:p>
        </p:txBody>
      </p:sp>
      <p:sp>
        <p:nvSpPr>
          <p:cNvPr id="22" name="Text 17">
            <a:extLst>
              <a:ext uri="{FF2B5EF4-FFF2-40B4-BE49-F238E27FC236}">
                <a16:creationId xmlns:a16="http://schemas.microsoft.com/office/drawing/2014/main" id="{CB5F0D8B-A718-34F8-E1C7-4D74ED94D521}"/>
              </a:ext>
            </a:extLst>
          </p:cNvPr>
          <p:cNvSpPr/>
          <p:nvPr/>
        </p:nvSpPr>
        <p:spPr>
          <a:xfrm>
            <a:off x="7967347" y="2171705"/>
            <a:ext cx="2743200" cy="164592"/>
          </a:xfrm>
          <a:prstGeom prst="rect">
            <a:avLst/>
          </a:prstGeom>
          <a:noFill/>
          <a:ln/>
        </p:spPr>
        <p:txBody>
          <a:bodyPr wrap="square" lIns="0" tIns="0" rIns="0" bIns="0" rtlCol="0" anchor="ctr">
            <a:normAutofit/>
          </a:bodyPr>
          <a:lstStyle/>
          <a:p>
            <a:pPr marL="0" indent="0" algn="ctr">
              <a:buNone/>
            </a:pPr>
            <a:r>
              <a:rPr lang="en-US" sz="1000" dirty="0">
                <a:solidFill>
                  <a:srgbClr val="637083"/>
                </a:solidFill>
              </a:rPr>
              <a:t>Calibration curve</a:t>
            </a:r>
            <a:endParaRPr lang="en-US" sz="1000" dirty="0"/>
          </a:p>
        </p:txBody>
      </p:sp>
      <p:sp>
        <p:nvSpPr>
          <p:cNvPr id="26" name="Shape 21">
            <a:extLst>
              <a:ext uri="{FF2B5EF4-FFF2-40B4-BE49-F238E27FC236}">
                <a16:creationId xmlns:a16="http://schemas.microsoft.com/office/drawing/2014/main" id="{1F9CEBE8-CD7E-DA63-0332-000EE703DCE3}"/>
              </a:ext>
            </a:extLst>
          </p:cNvPr>
          <p:cNvSpPr/>
          <p:nvPr/>
        </p:nvSpPr>
        <p:spPr>
          <a:xfrm>
            <a:off x="502920" y="6446520"/>
            <a:ext cx="11201400" cy="0"/>
          </a:xfrm>
          <a:prstGeom prst="line">
            <a:avLst/>
          </a:prstGeom>
          <a:noFill/>
          <a:ln w="12700">
            <a:solidFill>
              <a:srgbClr val="E7EBEF"/>
            </a:solidFill>
            <a:prstDash val="solid"/>
          </a:ln>
        </p:spPr>
        <p:txBody>
          <a:bodyPr/>
          <a:lstStyle/>
          <a:p>
            <a:endParaRPr lang="en-US"/>
          </a:p>
        </p:txBody>
      </p:sp>
      <p:sp>
        <p:nvSpPr>
          <p:cNvPr id="27" name="Text 22">
            <a:extLst>
              <a:ext uri="{FF2B5EF4-FFF2-40B4-BE49-F238E27FC236}">
                <a16:creationId xmlns:a16="http://schemas.microsoft.com/office/drawing/2014/main" id="{06495E4E-6AB0-07AE-722E-159EB7F9208C}"/>
              </a:ext>
            </a:extLst>
          </p:cNvPr>
          <p:cNvSpPr/>
          <p:nvPr/>
        </p:nvSpPr>
        <p:spPr>
          <a:xfrm>
            <a:off x="502920" y="6510528"/>
            <a:ext cx="4937760" cy="201168"/>
          </a:xfrm>
          <a:prstGeom prst="rect">
            <a:avLst/>
          </a:prstGeom>
          <a:noFill/>
          <a:ln/>
        </p:spPr>
        <p:txBody>
          <a:bodyPr wrap="square" lIns="0" tIns="0" rIns="0" bIns="0" rtlCol="0" anchor="ctr"/>
          <a:lstStyle/>
          <a:p>
            <a:pPr marL="0" indent="0">
              <a:buNone/>
            </a:pPr>
            <a:r>
              <a:rPr lang="en-US" sz="750" dirty="0">
                <a:solidFill>
                  <a:srgbClr val="637083"/>
                </a:solidFill>
                <a:latin typeface="Aptos" pitchFamily="34" charset="0"/>
                <a:ea typeface="Aptos" pitchFamily="34" charset="-122"/>
                <a:cs typeface="Aptos" pitchFamily="34" charset="-120"/>
              </a:rPr>
              <a:t>Section 3 of 5 | Results</a:t>
            </a:r>
            <a:endParaRPr lang="en-US" sz="750" dirty="0"/>
          </a:p>
        </p:txBody>
      </p:sp>
      <p:sp>
        <p:nvSpPr>
          <p:cNvPr id="28" name="Text 23">
            <a:extLst>
              <a:ext uri="{FF2B5EF4-FFF2-40B4-BE49-F238E27FC236}">
                <a16:creationId xmlns:a16="http://schemas.microsoft.com/office/drawing/2014/main" id="{866CE92F-F0B1-358D-0BDE-74E07B25D9DE}"/>
              </a:ext>
            </a:extLst>
          </p:cNvPr>
          <p:cNvSpPr/>
          <p:nvPr/>
        </p:nvSpPr>
        <p:spPr>
          <a:xfrm>
            <a:off x="8503920" y="6510528"/>
            <a:ext cx="3200400" cy="201168"/>
          </a:xfrm>
          <a:prstGeom prst="rect">
            <a:avLst/>
          </a:prstGeom>
          <a:noFill/>
          <a:ln/>
        </p:spPr>
        <p:txBody>
          <a:bodyPr wrap="square" lIns="0" tIns="0" rIns="0" bIns="0" rtlCol="0" anchor="ctr"/>
          <a:lstStyle/>
          <a:p>
            <a:pPr marL="0" indent="0" algn="r">
              <a:buNone/>
            </a:pPr>
            <a:r>
              <a:rPr lang="en-US" sz="750" dirty="0">
                <a:solidFill>
                  <a:srgbClr val="637083"/>
                </a:solidFill>
                <a:latin typeface="Aptos" pitchFamily="34" charset="0"/>
                <a:ea typeface="Aptos" pitchFamily="34" charset="-122"/>
                <a:cs typeface="Aptos" pitchFamily="34" charset="-120"/>
              </a:rPr>
              <a:t>Brain tumor MRI classifier | Review board presentation</a:t>
            </a:r>
            <a:endParaRPr lang="en-US" sz="750" dirty="0"/>
          </a:p>
        </p:txBody>
      </p:sp>
      <p:sp>
        <p:nvSpPr>
          <p:cNvPr id="5" name="Shape 7">
            <a:extLst>
              <a:ext uri="{FF2B5EF4-FFF2-40B4-BE49-F238E27FC236}">
                <a16:creationId xmlns:a16="http://schemas.microsoft.com/office/drawing/2014/main" id="{EB3ABB8E-7238-DCF5-C306-2AF70E22BB11}"/>
              </a:ext>
            </a:extLst>
          </p:cNvPr>
          <p:cNvSpPr/>
          <p:nvPr/>
        </p:nvSpPr>
        <p:spPr>
          <a:xfrm>
            <a:off x="2026799" y="1453901"/>
            <a:ext cx="1294384" cy="1005840"/>
          </a:xfrm>
          <a:prstGeom prst="roundRect">
            <a:avLst>
              <a:gd name="adj" fmla="val 7273"/>
            </a:avLst>
          </a:prstGeom>
          <a:solidFill>
            <a:srgbClr val="FFFFFF"/>
          </a:solidFill>
          <a:ln w="10160">
            <a:solidFill>
              <a:srgbClr val="D7DEE7"/>
            </a:solidFill>
            <a:prstDash val="solid"/>
          </a:ln>
        </p:spPr>
        <p:txBody>
          <a:bodyPr/>
          <a:lstStyle/>
          <a:p>
            <a:endParaRPr lang="en-US"/>
          </a:p>
        </p:txBody>
      </p:sp>
      <p:sp>
        <p:nvSpPr>
          <p:cNvPr id="6" name="Shape 8">
            <a:extLst>
              <a:ext uri="{FF2B5EF4-FFF2-40B4-BE49-F238E27FC236}">
                <a16:creationId xmlns:a16="http://schemas.microsoft.com/office/drawing/2014/main" id="{3DC041FA-77D0-AD52-CF44-E22CA7A71280}"/>
              </a:ext>
            </a:extLst>
          </p:cNvPr>
          <p:cNvSpPr/>
          <p:nvPr/>
        </p:nvSpPr>
        <p:spPr>
          <a:xfrm>
            <a:off x="2026799" y="1453901"/>
            <a:ext cx="73152" cy="1005840"/>
          </a:xfrm>
          <a:prstGeom prst="rect">
            <a:avLst/>
          </a:prstGeom>
          <a:solidFill>
            <a:srgbClr val="2F6F9F"/>
          </a:solidFill>
          <a:ln w="12700">
            <a:solidFill>
              <a:srgbClr val="2F6F9F"/>
            </a:solidFill>
            <a:prstDash val="solid"/>
          </a:ln>
        </p:spPr>
        <p:txBody>
          <a:bodyPr/>
          <a:lstStyle/>
          <a:p>
            <a:endParaRPr lang="en-US"/>
          </a:p>
        </p:txBody>
      </p:sp>
      <p:sp>
        <p:nvSpPr>
          <p:cNvPr id="7" name="Text 9">
            <a:extLst>
              <a:ext uri="{FF2B5EF4-FFF2-40B4-BE49-F238E27FC236}">
                <a16:creationId xmlns:a16="http://schemas.microsoft.com/office/drawing/2014/main" id="{96219BDB-9C25-952C-533E-6A63514EE92C}"/>
              </a:ext>
            </a:extLst>
          </p:cNvPr>
          <p:cNvSpPr/>
          <p:nvPr/>
        </p:nvSpPr>
        <p:spPr>
          <a:xfrm>
            <a:off x="2209679" y="1600205"/>
            <a:ext cx="1554480" cy="320040"/>
          </a:xfrm>
          <a:prstGeom prst="rect">
            <a:avLst/>
          </a:prstGeom>
          <a:noFill/>
          <a:ln/>
        </p:spPr>
        <p:txBody>
          <a:bodyPr wrap="square" lIns="0" tIns="0" rIns="0" bIns="0" rtlCol="0" anchor="ctr">
            <a:normAutofit/>
          </a:bodyPr>
          <a:lstStyle/>
          <a:p>
            <a:pPr marL="0" indent="0">
              <a:buNone/>
            </a:pPr>
            <a:r>
              <a:rPr lang="en-US" sz="2100" b="1" dirty="0">
                <a:solidFill>
                  <a:srgbClr val="132238"/>
                </a:solidFill>
              </a:rPr>
              <a:t>0.977</a:t>
            </a:r>
            <a:endParaRPr lang="en-US" sz="2100" dirty="0"/>
          </a:p>
        </p:txBody>
      </p:sp>
      <p:sp>
        <p:nvSpPr>
          <p:cNvPr id="8" name="Text 10">
            <a:extLst>
              <a:ext uri="{FF2B5EF4-FFF2-40B4-BE49-F238E27FC236}">
                <a16:creationId xmlns:a16="http://schemas.microsoft.com/office/drawing/2014/main" id="{2C8FAF11-07B4-4390-E04B-7DA7472FE8EE}"/>
              </a:ext>
            </a:extLst>
          </p:cNvPr>
          <p:cNvSpPr/>
          <p:nvPr/>
        </p:nvSpPr>
        <p:spPr>
          <a:xfrm>
            <a:off x="2209679" y="1965965"/>
            <a:ext cx="1554480" cy="411480"/>
          </a:xfrm>
          <a:prstGeom prst="rect">
            <a:avLst/>
          </a:prstGeom>
          <a:noFill/>
          <a:ln/>
        </p:spPr>
        <p:txBody>
          <a:bodyPr wrap="square" lIns="0" tIns="0" rIns="0" bIns="0" rtlCol="0" anchor="ctr">
            <a:normAutofit/>
          </a:bodyPr>
          <a:lstStyle/>
          <a:p>
            <a:pPr marL="0" indent="0">
              <a:buNone/>
            </a:pPr>
            <a:r>
              <a:rPr lang="en-US" sz="950" dirty="0">
                <a:solidFill>
                  <a:srgbClr val="637083"/>
                </a:solidFill>
              </a:rPr>
              <a:t>ROC-AUC</a:t>
            </a:r>
            <a:endParaRPr lang="en-US" sz="950" dirty="0"/>
          </a:p>
          <a:p>
            <a:pPr marL="0" indent="0">
              <a:buNone/>
            </a:pPr>
            <a:r>
              <a:rPr lang="en-US" sz="950" dirty="0">
                <a:solidFill>
                  <a:srgbClr val="637083"/>
                </a:solidFill>
              </a:rPr>
              <a:t>all classes ≈ 1.00</a:t>
            </a:r>
            <a:endParaRPr lang="en-US" sz="950" dirty="0"/>
          </a:p>
        </p:txBody>
      </p:sp>
      <p:sp>
        <p:nvSpPr>
          <p:cNvPr id="17" name="Shape 11">
            <a:extLst>
              <a:ext uri="{FF2B5EF4-FFF2-40B4-BE49-F238E27FC236}">
                <a16:creationId xmlns:a16="http://schemas.microsoft.com/office/drawing/2014/main" id="{0B1F0E7A-7B65-8FEE-8451-6D7912DFC785}"/>
              </a:ext>
            </a:extLst>
          </p:cNvPr>
          <p:cNvSpPr/>
          <p:nvPr/>
        </p:nvSpPr>
        <p:spPr>
          <a:xfrm>
            <a:off x="3519645" y="1453901"/>
            <a:ext cx="1161288" cy="1005840"/>
          </a:xfrm>
          <a:prstGeom prst="roundRect">
            <a:avLst>
              <a:gd name="adj" fmla="val 7273"/>
            </a:avLst>
          </a:prstGeom>
          <a:solidFill>
            <a:srgbClr val="FFFFFF"/>
          </a:solidFill>
          <a:ln w="10160">
            <a:solidFill>
              <a:srgbClr val="D7DEE7"/>
            </a:solidFill>
            <a:prstDash val="solid"/>
          </a:ln>
        </p:spPr>
        <p:txBody>
          <a:bodyPr/>
          <a:lstStyle/>
          <a:p>
            <a:endParaRPr lang="en-US"/>
          </a:p>
        </p:txBody>
      </p:sp>
      <p:sp>
        <p:nvSpPr>
          <p:cNvPr id="21" name="Shape 12">
            <a:extLst>
              <a:ext uri="{FF2B5EF4-FFF2-40B4-BE49-F238E27FC236}">
                <a16:creationId xmlns:a16="http://schemas.microsoft.com/office/drawing/2014/main" id="{0D91A2CA-1ABB-079B-C964-AB033141E6F2}"/>
              </a:ext>
            </a:extLst>
          </p:cNvPr>
          <p:cNvSpPr/>
          <p:nvPr/>
        </p:nvSpPr>
        <p:spPr>
          <a:xfrm>
            <a:off x="3519645" y="1453901"/>
            <a:ext cx="73152" cy="1005840"/>
          </a:xfrm>
          <a:prstGeom prst="rect">
            <a:avLst/>
          </a:prstGeom>
          <a:solidFill>
            <a:srgbClr val="F4A261"/>
          </a:solidFill>
          <a:ln w="12700">
            <a:solidFill>
              <a:srgbClr val="F4A261"/>
            </a:solidFill>
            <a:prstDash val="solid"/>
          </a:ln>
        </p:spPr>
        <p:txBody>
          <a:bodyPr/>
          <a:lstStyle/>
          <a:p>
            <a:endParaRPr lang="en-US"/>
          </a:p>
        </p:txBody>
      </p:sp>
      <p:sp>
        <p:nvSpPr>
          <p:cNvPr id="29" name="Text 13">
            <a:extLst>
              <a:ext uri="{FF2B5EF4-FFF2-40B4-BE49-F238E27FC236}">
                <a16:creationId xmlns:a16="http://schemas.microsoft.com/office/drawing/2014/main" id="{F3318104-AB97-46B0-99A1-730CB56E7E55}"/>
              </a:ext>
            </a:extLst>
          </p:cNvPr>
          <p:cNvSpPr/>
          <p:nvPr/>
        </p:nvSpPr>
        <p:spPr>
          <a:xfrm>
            <a:off x="3666898" y="1600205"/>
            <a:ext cx="1554480" cy="320040"/>
          </a:xfrm>
          <a:prstGeom prst="rect">
            <a:avLst/>
          </a:prstGeom>
          <a:noFill/>
          <a:ln/>
        </p:spPr>
        <p:txBody>
          <a:bodyPr wrap="square" lIns="0" tIns="0" rIns="0" bIns="0" rtlCol="0" anchor="ctr">
            <a:normAutofit/>
          </a:bodyPr>
          <a:lstStyle/>
          <a:p>
            <a:pPr marL="0" indent="0">
              <a:buNone/>
            </a:pPr>
            <a:r>
              <a:rPr lang="en-US" sz="2100" b="1" dirty="0">
                <a:solidFill>
                  <a:srgbClr val="132238"/>
                </a:solidFill>
              </a:rPr>
              <a:t>0.073</a:t>
            </a:r>
            <a:endParaRPr lang="en-US" sz="2100" dirty="0"/>
          </a:p>
        </p:txBody>
      </p:sp>
      <p:sp>
        <p:nvSpPr>
          <p:cNvPr id="31" name="Text 14">
            <a:extLst>
              <a:ext uri="{FF2B5EF4-FFF2-40B4-BE49-F238E27FC236}">
                <a16:creationId xmlns:a16="http://schemas.microsoft.com/office/drawing/2014/main" id="{85FC2E7F-8131-0826-5DCB-50903C436ED3}"/>
              </a:ext>
            </a:extLst>
          </p:cNvPr>
          <p:cNvSpPr/>
          <p:nvPr/>
        </p:nvSpPr>
        <p:spPr>
          <a:xfrm>
            <a:off x="3666898" y="1965965"/>
            <a:ext cx="1554480" cy="411480"/>
          </a:xfrm>
          <a:prstGeom prst="rect">
            <a:avLst/>
          </a:prstGeom>
          <a:noFill/>
          <a:ln/>
        </p:spPr>
        <p:txBody>
          <a:bodyPr wrap="square" lIns="0" tIns="0" rIns="0" bIns="0" rtlCol="0" anchor="ctr">
            <a:normAutofit/>
          </a:bodyPr>
          <a:lstStyle/>
          <a:p>
            <a:pPr marL="0" indent="0">
              <a:buNone/>
            </a:pPr>
            <a:r>
              <a:rPr lang="en-US" sz="950" dirty="0">
                <a:solidFill>
                  <a:srgbClr val="637083"/>
                </a:solidFill>
              </a:rPr>
              <a:t>Brier loss</a:t>
            </a:r>
            <a:endParaRPr lang="en-US" sz="950" dirty="0"/>
          </a:p>
          <a:p>
            <a:pPr marL="0" indent="0">
              <a:buNone/>
            </a:pPr>
            <a:r>
              <a:rPr lang="en-US" sz="950" dirty="0">
                <a:solidFill>
                  <a:srgbClr val="637083"/>
                </a:solidFill>
              </a:rPr>
              <a:t>lower is better</a:t>
            </a:r>
            <a:endParaRPr lang="en-US" sz="950" dirty="0"/>
          </a:p>
        </p:txBody>
      </p:sp>
      <p:sp>
        <p:nvSpPr>
          <p:cNvPr id="33" name="Shape 7">
            <a:extLst>
              <a:ext uri="{FF2B5EF4-FFF2-40B4-BE49-F238E27FC236}">
                <a16:creationId xmlns:a16="http://schemas.microsoft.com/office/drawing/2014/main" id="{BD03F2C3-F74F-9EF7-CA05-87953422ADF5}"/>
              </a:ext>
            </a:extLst>
          </p:cNvPr>
          <p:cNvSpPr/>
          <p:nvPr/>
        </p:nvSpPr>
        <p:spPr>
          <a:xfrm>
            <a:off x="554611" y="1435603"/>
            <a:ext cx="1294384" cy="1005840"/>
          </a:xfrm>
          <a:prstGeom prst="roundRect">
            <a:avLst>
              <a:gd name="adj" fmla="val 7273"/>
            </a:avLst>
          </a:prstGeom>
          <a:solidFill>
            <a:srgbClr val="FFFFFF"/>
          </a:solidFill>
          <a:ln w="10160">
            <a:solidFill>
              <a:srgbClr val="D7DEE7"/>
            </a:solidFill>
            <a:prstDash val="solid"/>
          </a:ln>
        </p:spPr>
        <p:txBody>
          <a:bodyPr/>
          <a:lstStyle/>
          <a:p>
            <a:endParaRPr lang="en-US"/>
          </a:p>
        </p:txBody>
      </p:sp>
      <p:sp>
        <p:nvSpPr>
          <p:cNvPr id="34" name="Shape 8">
            <a:extLst>
              <a:ext uri="{FF2B5EF4-FFF2-40B4-BE49-F238E27FC236}">
                <a16:creationId xmlns:a16="http://schemas.microsoft.com/office/drawing/2014/main" id="{D361F113-9925-3038-BE67-254A37601568}"/>
              </a:ext>
            </a:extLst>
          </p:cNvPr>
          <p:cNvSpPr/>
          <p:nvPr/>
        </p:nvSpPr>
        <p:spPr>
          <a:xfrm>
            <a:off x="554611" y="1435603"/>
            <a:ext cx="73152" cy="1005840"/>
          </a:xfrm>
          <a:prstGeom prst="rect">
            <a:avLst/>
          </a:prstGeom>
          <a:solidFill>
            <a:srgbClr val="C00000"/>
          </a:solidFill>
          <a:ln w="12700">
            <a:solidFill>
              <a:srgbClr val="C00000"/>
            </a:solidFill>
            <a:prstDash val="solid"/>
          </a:ln>
        </p:spPr>
        <p:txBody>
          <a:bodyPr/>
          <a:lstStyle/>
          <a:p>
            <a:endParaRPr lang="en-US"/>
          </a:p>
        </p:txBody>
      </p:sp>
      <p:sp>
        <p:nvSpPr>
          <p:cNvPr id="35" name="Text 9">
            <a:extLst>
              <a:ext uri="{FF2B5EF4-FFF2-40B4-BE49-F238E27FC236}">
                <a16:creationId xmlns:a16="http://schemas.microsoft.com/office/drawing/2014/main" id="{72A4666D-A6E7-D2D0-CE61-346CAE4ED186}"/>
              </a:ext>
            </a:extLst>
          </p:cNvPr>
          <p:cNvSpPr/>
          <p:nvPr/>
        </p:nvSpPr>
        <p:spPr>
          <a:xfrm>
            <a:off x="737491" y="1581907"/>
            <a:ext cx="1554480" cy="320040"/>
          </a:xfrm>
          <a:prstGeom prst="rect">
            <a:avLst/>
          </a:prstGeom>
          <a:noFill/>
          <a:ln/>
        </p:spPr>
        <p:txBody>
          <a:bodyPr wrap="square" lIns="0" tIns="0" rIns="0" bIns="0" rtlCol="0" anchor="ctr">
            <a:normAutofit/>
          </a:bodyPr>
          <a:lstStyle/>
          <a:p>
            <a:pPr marL="0" indent="0">
              <a:buNone/>
            </a:pPr>
            <a:r>
              <a:rPr lang="en-US" sz="2100" b="1" dirty="0">
                <a:solidFill>
                  <a:srgbClr val="132238"/>
                </a:solidFill>
              </a:rPr>
              <a:t>0.86</a:t>
            </a:r>
            <a:endParaRPr lang="en-US" sz="2100" dirty="0"/>
          </a:p>
        </p:txBody>
      </p:sp>
      <p:sp>
        <p:nvSpPr>
          <p:cNvPr id="36" name="Text 10">
            <a:extLst>
              <a:ext uri="{FF2B5EF4-FFF2-40B4-BE49-F238E27FC236}">
                <a16:creationId xmlns:a16="http://schemas.microsoft.com/office/drawing/2014/main" id="{B9F26C8F-7592-EE7D-C5FF-0E9A88292C6F}"/>
              </a:ext>
            </a:extLst>
          </p:cNvPr>
          <p:cNvSpPr/>
          <p:nvPr/>
        </p:nvSpPr>
        <p:spPr>
          <a:xfrm>
            <a:off x="737491" y="1947667"/>
            <a:ext cx="1554480" cy="411480"/>
          </a:xfrm>
          <a:prstGeom prst="rect">
            <a:avLst/>
          </a:prstGeom>
          <a:noFill/>
          <a:ln/>
        </p:spPr>
        <p:txBody>
          <a:bodyPr wrap="square" lIns="0" tIns="0" rIns="0" bIns="0" rtlCol="0" anchor="ctr">
            <a:normAutofit/>
          </a:bodyPr>
          <a:lstStyle/>
          <a:p>
            <a:pPr marL="0" indent="0">
              <a:buNone/>
            </a:pPr>
            <a:r>
              <a:rPr lang="en-US" sz="950" dirty="0">
                <a:solidFill>
                  <a:srgbClr val="637083"/>
                </a:solidFill>
              </a:rPr>
              <a:t>Macro Accuracy</a:t>
            </a:r>
            <a:endParaRPr lang="en-US" sz="950" dirty="0"/>
          </a:p>
        </p:txBody>
      </p:sp>
      <p:pic>
        <p:nvPicPr>
          <p:cNvPr id="38" name="Picture 37">
            <a:extLst>
              <a:ext uri="{FF2B5EF4-FFF2-40B4-BE49-F238E27FC236}">
                <a16:creationId xmlns:a16="http://schemas.microsoft.com/office/drawing/2014/main" id="{DB9BBCB7-E08B-169E-CF9F-F7701F1906BF}"/>
              </a:ext>
            </a:extLst>
          </p:cNvPr>
          <p:cNvPicPr>
            <a:picLocks noChangeAspect="1"/>
          </p:cNvPicPr>
          <p:nvPr/>
        </p:nvPicPr>
        <p:blipFill>
          <a:blip r:embed="rId3"/>
          <a:srcRect l="1" r="49530"/>
          <a:stretch>
            <a:fillRect/>
          </a:stretch>
        </p:blipFill>
        <p:spPr>
          <a:xfrm>
            <a:off x="153120" y="2724778"/>
            <a:ext cx="3662180" cy="2749389"/>
          </a:xfrm>
          <a:prstGeom prst="rect">
            <a:avLst/>
          </a:prstGeom>
        </p:spPr>
      </p:pic>
      <p:pic>
        <p:nvPicPr>
          <p:cNvPr id="42" name="Picture 41">
            <a:extLst>
              <a:ext uri="{FF2B5EF4-FFF2-40B4-BE49-F238E27FC236}">
                <a16:creationId xmlns:a16="http://schemas.microsoft.com/office/drawing/2014/main" id="{C0A5EFAD-F593-FDAD-4CDC-105EAEA8A181}"/>
              </a:ext>
            </a:extLst>
          </p:cNvPr>
          <p:cNvPicPr>
            <a:picLocks noChangeAspect="1"/>
          </p:cNvPicPr>
          <p:nvPr/>
        </p:nvPicPr>
        <p:blipFill>
          <a:blip r:embed="rId4"/>
          <a:stretch>
            <a:fillRect/>
          </a:stretch>
        </p:blipFill>
        <p:spPr>
          <a:xfrm>
            <a:off x="7595526" y="1526911"/>
            <a:ext cx="4350139" cy="4191953"/>
          </a:xfrm>
          <a:prstGeom prst="rect">
            <a:avLst/>
          </a:prstGeom>
        </p:spPr>
      </p:pic>
      <p:pic>
        <p:nvPicPr>
          <p:cNvPr id="43" name="Picture 42">
            <a:extLst>
              <a:ext uri="{FF2B5EF4-FFF2-40B4-BE49-F238E27FC236}">
                <a16:creationId xmlns:a16="http://schemas.microsoft.com/office/drawing/2014/main" id="{5BBD822F-1A39-F0B3-02ED-5C9B02194D1C}"/>
              </a:ext>
            </a:extLst>
          </p:cNvPr>
          <p:cNvPicPr>
            <a:picLocks noChangeAspect="1"/>
          </p:cNvPicPr>
          <p:nvPr/>
        </p:nvPicPr>
        <p:blipFill>
          <a:blip r:embed="rId3"/>
          <a:srcRect l="50179"/>
          <a:stretch>
            <a:fillRect/>
          </a:stretch>
        </p:blipFill>
        <p:spPr>
          <a:xfrm>
            <a:off x="3832930" y="2707635"/>
            <a:ext cx="3615082" cy="2749389"/>
          </a:xfrm>
          <a:prstGeom prst="rect">
            <a:avLst/>
          </a:prstGeom>
        </p:spPr>
      </p:pic>
      <p:sp>
        <p:nvSpPr>
          <p:cNvPr id="44" name="Text 16">
            <a:extLst>
              <a:ext uri="{FF2B5EF4-FFF2-40B4-BE49-F238E27FC236}">
                <a16:creationId xmlns:a16="http://schemas.microsoft.com/office/drawing/2014/main" id="{344327FF-BE0C-F8F1-33C2-B9EBB5DF94FC}"/>
              </a:ext>
            </a:extLst>
          </p:cNvPr>
          <p:cNvSpPr/>
          <p:nvPr/>
        </p:nvSpPr>
        <p:spPr>
          <a:xfrm>
            <a:off x="1201803" y="5467640"/>
            <a:ext cx="5623560" cy="164592"/>
          </a:xfrm>
          <a:prstGeom prst="rect">
            <a:avLst/>
          </a:prstGeom>
          <a:noFill/>
          <a:ln/>
        </p:spPr>
        <p:txBody>
          <a:bodyPr wrap="square" lIns="0" tIns="0" rIns="0" bIns="0" rtlCol="0" anchor="ctr">
            <a:normAutofit/>
          </a:bodyPr>
          <a:lstStyle/>
          <a:p>
            <a:pPr marL="0" indent="0" algn="ctr">
              <a:buNone/>
            </a:pPr>
            <a:r>
              <a:rPr lang="en-US" sz="1000" dirty="0">
                <a:solidFill>
                  <a:srgbClr val="637083"/>
                </a:solidFill>
              </a:rPr>
              <a:t>ROC and precision-recall curves</a:t>
            </a:r>
            <a:endParaRPr lang="en-US" sz="1000" dirty="0"/>
          </a:p>
        </p:txBody>
      </p:sp>
      <p:sp>
        <p:nvSpPr>
          <p:cNvPr id="45" name="Text 17">
            <a:extLst>
              <a:ext uri="{FF2B5EF4-FFF2-40B4-BE49-F238E27FC236}">
                <a16:creationId xmlns:a16="http://schemas.microsoft.com/office/drawing/2014/main" id="{8DEACAC7-3953-DCDD-F43C-A66CF9112153}"/>
              </a:ext>
            </a:extLst>
          </p:cNvPr>
          <p:cNvSpPr/>
          <p:nvPr/>
        </p:nvSpPr>
        <p:spPr>
          <a:xfrm>
            <a:off x="8541025" y="5782871"/>
            <a:ext cx="2743200" cy="164592"/>
          </a:xfrm>
          <a:prstGeom prst="rect">
            <a:avLst/>
          </a:prstGeom>
          <a:noFill/>
          <a:ln/>
        </p:spPr>
        <p:txBody>
          <a:bodyPr wrap="square" lIns="0" tIns="0" rIns="0" bIns="0" rtlCol="0" anchor="ctr">
            <a:normAutofit/>
          </a:bodyPr>
          <a:lstStyle/>
          <a:p>
            <a:pPr marL="0" indent="0" algn="ctr">
              <a:buNone/>
            </a:pPr>
            <a:r>
              <a:rPr lang="en-US" sz="1000" dirty="0">
                <a:solidFill>
                  <a:srgbClr val="637083"/>
                </a:solidFill>
              </a:rPr>
              <a:t>Calibration curve</a:t>
            </a:r>
            <a:endParaRPr lang="en-US" sz="1000" dirty="0"/>
          </a:p>
        </p:txBody>
      </p:sp>
    </p:spTree>
    <p:extLst>
      <p:ext uri="{BB962C8B-B14F-4D97-AF65-F5344CB8AC3E}">
        <p14:creationId xmlns:p14="http://schemas.microsoft.com/office/powerpoint/2010/main" val="37722253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49D8F-A2F1-3513-B539-AD3E9B5BA11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E3FE335-C517-B8C9-7CDF-22503DD1C0D5}"/>
              </a:ext>
            </a:extLst>
          </p:cNvPr>
          <p:cNvSpPr/>
          <p:nvPr/>
        </p:nvSpPr>
        <p:spPr>
          <a:xfrm>
            <a:off x="502920" y="301752"/>
            <a:ext cx="2926080" cy="237744"/>
          </a:xfrm>
          <a:prstGeom prst="rect">
            <a:avLst/>
          </a:prstGeom>
          <a:noFill/>
          <a:ln/>
        </p:spPr>
        <p:txBody>
          <a:bodyPr wrap="square" lIns="0" tIns="0" rIns="0" bIns="0" rtlCol="0" anchor="ctr">
            <a:normAutofit/>
          </a:bodyPr>
          <a:lstStyle/>
          <a:p>
            <a:pPr marL="0" indent="0">
              <a:buNone/>
            </a:pPr>
            <a:r>
              <a:rPr lang="en-US" sz="1000" b="1" dirty="0">
                <a:solidFill>
                  <a:srgbClr val="2F6F9F"/>
                </a:solidFill>
              </a:rPr>
              <a:t>RESULTS</a:t>
            </a:r>
            <a:endParaRPr lang="en-US" sz="1000" dirty="0"/>
          </a:p>
        </p:txBody>
      </p:sp>
      <p:sp>
        <p:nvSpPr>
          <p:cNvPr id="3" name="Text 1">
            <a:extLst>
              <a:ext uri="{FF2B5EF4-FFF2-40B4-BE49-F238E27FC236}">
                <a16:creationId xmlns:a16="http://schemas.microsoft.com/office/drawing/2014/main" id="{6602C857-057F-068B-4E8A-7A21E3D6E248}"/>
              </a:ext>
            </a:extLst>
          </p:cNvPr>
          <p:cNvSpPr/>
          <p:nvPr/>
        </p:nvSpPr>
        <p:spPr>
          <a:xfrm>
            <a:off x="502920" y="585216"/>
            <a:ext cx="6629400" cy="457200"/>
          </a:xfrm>
          <a:prstGeom prst="rect">
            <a:avLst/>
          </a:prstGeom>
          <a:noFill/>
          <a:ln/>
        </p:spPr>
        <p:txBody>
          <a:bodyPr wrap="square" lIns="0" tIns="0" rIns="0" bIns="0" rtlCol="0" anchor="ctr">
            <a:normAutofit/>
          </a:bodyPr>
          <a:lstStyle/>
          <a:p>
            <a:pPr marL="0" indent="0">
              <a:buNone/>
            </a:pPr>
            <a:r>
              <a:rPr lang="en-US" sz="2500" b="1" dirty="0">
                <a:solidFill>
                  <a:srgbClr val="132238"/>
                </a:solidFill>
              </a:rPr>
              <a:t>Interpretability</a:t>
            </a:r>
            <a:endParaRPr lang="en-US" sz="2500" dirty="0"/>
          </a:p>
        </p:txBody>
      </p:sp>
      <p:sp>
        <p:nvSpPr>
          <p:cNvPr id="4" name="Text 2">
            <a:extLst>
              <a:ext uri="{FF2B5EF4-FFF2-40B4-BE49-F238E27FC236}">
                <a16:creationId xmlns:a16="http://schemas.microsoft.com/office/drawing/2014/main" id="{B1D7A106-6FD6-1EE6-145B-FE9374A381A7}"/>
              </a:ext>
            </a:extLst>
          </p:cNvPr>
          <p:cNvSpPr/>
          <p:nvPr/>
        </p:nvSpPr>
        <p:spPr>
          <a:xfrm>
            <a:off x="521208" y="1060703"/>
            <a:ext cx="7742114" cy="411469"/>
          </a:xfrm>
          <a:prstGeom prst="rect">
            <a:avLst/>
          </a:prstGeom>
          <a:noFill/>
          <a:ln/>
        </p:spPr>
        <p:txBody>
          <a:bodyPr wrap="square" lIns="0" tIns="0" rIns="0" bIns="0" rtlCol="0" anchor="ctr">
            <a:normAutofit/>
          </a:bodyPr>
          <a:lstStyle/>
          <a:p>
            <a:pPr marL="0" indent="0">
              <a:buNone/>
            </a:pPr>
            <a:r>
              <a:rPr lang="en-US" sz="1250" dirty="0">
                <a:solidFill>
                  <a:srgbClr val="637083"/>
                </a:solidFill>
              </a:rPr>
              <a:t>Grad-CAM and occlusion were used to test whether the model looked at clinically reasonable regions.</a:t>
            </a:r>
            <a:endParaRPr lang="en-US" sz="1250" dirty="0"/>
          </a:p>
        </p:txBody>
      </p:sp>
      <p:sp>
        <p:nvSpPr>
          <p:cNvPr id="6" name="Text 3">
            <a:extLst>
              <a:ext uri="{FF2B5EF4-FFF2-40B4-BE49-F238E27FC236}">
                <a16:creationId xmlns:a16="http://schemas.microsoft.com/office/drawing/2014/main" id="{BD3BF73A-2A8F-3F96-D10E-3EE167F80B75}"/>
              </a:ext>
            </a:extLst>
          </p:cNvPr>
          <p:cNvSpPr/>
          <p:nvPr/>
        </p:nvSpPr>
        <p:spPr>
          <a:xfrm>
            <a:off x="640080" y="3867912"/>
            <a:ext cx="5212080" cy="164592"/>
          </a:xfrm>
          <a:prstGeom prst="rect">
            <a:avLst/>
          </a:prstGeom>
          <a:noFill/>
          <a:ln/>
        </p:spPr>
        <p:txBody>
          <a:bodyPr wrap="square" lIns="0" tIns="0" rIns="0" bIns="0" rtlCol="0" anchor="ctr">
            <a:normAutofit/>
          </a:bodyPr>
          <a:lstStyle/>
          <a:p>
            <a:pPr marL="0" indent="0" algn="ctr">
              <a:buNone/>
            </a:pPr>
            <a:r>
              <a:rPr lang="en-US" sz="750" dirty="0">
                <a:solidFill>
                  <a:srgbClr val="637083"/>
                </a:solidFill>
              </a:rPr>
              <a:t>Occlusion sensitivity examples</a:t>
            </a:r>
            <a:endParaRPr lang="en-US" sz="750" dirty="0"/>
          </a:p>
        </p:txBody>
      </p:sp>
      <p:sp>
        <p:nvSpPr>
          <p:cNvPr id="8" name="Text 4">
            <a:extLst>
              <a:ext uri="{FF2B5EF4-FFF2-40B4-BE49-F238E27FC236}">
                <a16:creationId xmlns:a16="http://schemas.microsoft.com/office/drawing/2014/main" id="{8AD719AF-2092-5663-E100-1FDB879EA5CF}"/>
              </a:ext>
            </a:extLst>
          </p:cNvPr>
          <p:cNvSpPr/>
          <p:nvPr/>
        </p:nvSpPr>
        <p:spPr>
          <a:xfrm>
            <a:off x="6080760" y="3867912"/>
            <a:ext cx="5440680" cy="164592"/>
          </a:xfrm>
          <a:prstGeom prst="rect">
            <a:avLst/>
          </a:prstGeom>
          <a:noFill/>
          <a:ln/>
        </p:spPr>
        <p:txBody>
          <a:bodyPr wrap="square" lIns="0" tIns="0" rIns="0" bIns="0" rtlCol="0" anchor="ctr">
            <a:normAutofit/>
          </a:bodyPr>
          <a:lstStyle/>
          <a:p>
            <a:pPr marL="0" indent="0" algn="ctr">
              <a:buNone/>
            </a:pPr>
            <a:r>
              <a:rPr lang="en-US" sz="750" dirty="0">
                <a:solidFill>
                  <a:srgbClr val="637083"/>
                </a:solidFill>
              </a:rPr>
              <a:t>Grad-CAM / Grad-CAM++ comparison</a:t>
            </a:r>
            <a:endParaRPr lang="en-US" sz="750" dirty="0"/>
          </a:p>
        </p:txBody>
      </p:sp>
      <p:sp>
        <p:nvSpPr>
          <p:cNvPr id="10" name="Text 5">
            <a:extLst>
              <a:ext uri="{FF2B5EF4-FFF2-40B4-BE49-F238E27FC236}">
                <a16:creationId xmlns:a16="http://schemas.microsoft.com/office/drawing/2014/main" id="{F26FB478-FFF0-FB96-C4F5-1EED53E47B13}"/>
              </a:ext>
            </a:extLst>
          </p:cNvPr>
          <p:cNvSpPr/>
          <p:nvPr/>
        </p:nvSpPr>
        <p:spPr>
          <a:xfrm>
            <a:off x="1631357" y="5431548"/>
            <a:ext cx="3886200" cy="164592"/>
          </a:xfrm>
          <a:prstGeom prst="rect">
            <a:avLst/>
          </a:prstGeom>
          <a:noFill/>
          <a:ln/>
        </p:spPr>
        <p:txBody>
          <a:bodyPr wrap="square" lIns="0" tIns="0" rIns="0" bIns="0" rtlCol="0" anchor="ctr">
            <a:normAutofit/>
          </a:bodyPr>
          <a:lstStyle/>
          <a:p>
            <a:pPr marL="0" indent="0" algn="ctr">
              <a:buNone/>
            </a:pPr>
            <a:r>
              <a:rPr lang="en-US" sz="1000" dirty="0">
                <a:solidFill>
                  <a:srgbClr val="637083"/>
                </a:solidFill>
              </a:rPr>
              <a:t>Grad-CAM on test dataset</a:t>
            </a:r>
            <a:endParaRPr lang="en-US" sz="1000" dirty="0"/>
          </a:p>
        </p:txBody>
      </p:sp>
      <p:sp>
        <p:nvSpPr>
          <p:cNvPr id="17" name="Shape 12">
            <a:extLst>
              <a:ext uri="{FF2B5EF4-FFF2-40B4-BE49-F238E27FC236}">
                <a16:creationId xmlns:a16="http://schemas.microsoft.com/office/drawing/2014/main" id="{55E9739D-4FCB-93A1-8EB4-3BA2198F70F1}"/>
              </a:ext>
            </a:extLst>
          </p:cNvPr>
          <p:cNvSpPr/>
          <p:nvPr/>
        </p:nvSpPr>
        <p:spPr>
          <a:xfrm>
            <a:off x="502920" y="6446520"/>
            <a:ext cx="11201400" cy="0"/>
          </a:xfrm>
          <a:prstGeom prst="line">
            <a:avLst/>
          </a:prstGeom>
          <a:noFill/>
          <a:ln w="12700">
            <a:solidFill>
              <a:srgbClr val="E7EBEF"/>
            </a:solidFill>
            <a:prstDash val="solid"/>
          </a:ln>
        </p:spPr>
        <p:txBody>
          <a:bodyPr/>
          <a:lstStyle/>
          <a:p>
            <a:endParaRPr lang="en-US"/>
          </a:p>
        </p:txBody>
      </p:sp>
      <p:sp>
        <p:nvSpPr>
          <p:cNvPr id="18" name="Text 13">
            <a:extLst>
              <a:ext uri="{FF2B5EF4-FFF2-40B4-BE49-F238E27FC236}">
                <a16:creationId xmlns:a16="http://schemas.microsoft.com/office/drawing/2014/main" id="{03EF41F6-96A7-0470-9B36-E55BC9372A0D}"/>
              </a:ext>
            </a:extLst>
          </p:cNvPr>
          <p:cNvSpPr/>
          <p:nvPr/>
        </p:nvSpPr>
        <p:spPr>
          <a:xfrm>
            <a:off x="502920" y="6510528"/>
            <a:ext cx="4937760" cy="201168"/>
          </a:xfrm>
          <a:prstGeom prst="rect">
            <a:avLst/>
          </a:prstGeom>
          <a:noFill/>
          <a:ln/>
        </p:spPr>
        <p:txBody>
          <a:bodyPr wrap="square" lIns="0" tIns="0" rIns="0" bIns="0" rtlCol="0" anchor="ctr"/>
          <a:lstStyle/>
          <a:p>
            <a:pPr marL="0" indent="0">
              <a:buNone/>
            </a:pPr>
            <a:r>
              <a:rPr lang="en-US" sz="750" dirty="0">
                <a:solidFill>
                  <a:srgbClr val="637083"/>
                </a:solidFill>
                <a:latin typeface="Aptos" pitchFamily="34" charset="0"/>
                <a:ea typeface="Aptos" pitchFamily="34" charset="-122"/>
                <a:cs typeface="Aptos" pitchFamily="34" charset="-120"/>
              </a:rPr>
              <a:t>Section 3 of 5 | Results</a:t>
            </a:r>
            <a:endParaRPr lang="en-US" sz="750" dirty="0"/>
          </a:p>
        </p:txBody>
      </p:sp>
      <p:sp>
        <p:nvSpPr>
          <p:cNvPr id="19" name="Text 14">
            <a:extLst>
              <a:ext uri="{FF2B5EF4-FFF2-40B4-BE49-F238E27FC236}">
                <a16:creationId xmlns:a16="http://schemas.microsoft.com/office/drawing/2014/main" id="{64CC5BF3-07A5-1D2D-D8ED-3C0194817891}"/>
              </a:ext>
            </a:extLst>
          </p:cNvPr>
          <p:cNvSpPr/>
          <p:nvPr/>
        </p:nvSpPr>
        <p:spPr>
          <a:xfrm>
            <a:off x="8503920" y="6510528"/>
            <a:ext cx="3200400" cy="201168"/>
          </a:xfrm>
          <a:prstGeom prst="rect">
            <a:avLst/>
          </a:prstGeom>
          <a:noFill/>
          <a:ln/>
        </p:spPr>
        <p:txBody>
          <a:bodyPr wrap="square" lIns="0" tIns="0" rIns="0" bIns="0" rtlCol="0" anchor="ctr"/>
          <a:lstStyle/>
          <a:p>
            <a:pPr marL="0" indent="0" algn="r">
              <a:buNone/>
            </a:pPr>
            <a:r>
              <a:rPr lang="en-US" sz="750" dirty="0">
                <a:solidFill>
                  <a:srgbClr val="637083"/>
                </a:solidFill>
                <a:latin typeface="Aptos" pitchFamily="34" charset="0"/>
                <a:ea typeface="Aptos" pitchFamily="34" charset="-122"/>
                <a:cs typeface="Aptos" pitchFamily="34" charset="-120"/>
              </a:rPr>
              <a:t>Brain tumor MRI classifier | Review board presentation</a:t>
            </a:r>
            <a:endParaRPr lang="en-US" sz="750" dirty="0"/>
          </a:p>
        </p:txBody>
      </p:sp>
      <p:pic>
        <p:nvPicPr>
          <p:cNvPr id="14" name="Picture 13">
            <a:extLst>
              <a:ext uri="{FF2B5EF4-FFF2-40B4-BE49-F238E27FC236}">
                <a16:creationId xmlns:a16="http://schemas.microsoft.com/office/drawing/2014/main" id="{88773E6E-6EEA-B064-99C2-4E35CDCC55CD}"/>
              </a:ext>
            </a:extLst>
          </p:cNvPr>
          <p:cNvPicPr>
            <a:picLocks noChangeAspect="1"/>
          </p:cNvPicPr>
          <p:nvPr/>
        </p:nvPicPr>
        <p:blipFill>
          <a:blip r:embed="rId3"/>
          <a:srcRect t="3661" b="3661"/>
          <a:stretch/>
        </p:blipFill>
        <p:spPr>
          <a:xfrm>
            <a:off x="816694" y="1747751"/>
            <a:ext cx="5515526" cy="3683797"/>
          </a:xfrm>
          <a:prstGeom prst="rect">
            <a:avLst/>
          </a:prstGeom>
        </p:spPr>
      </p:pic>
      <p:pic>
        <p:nvPicPr>
          <p:cNvPr id="16" name="Picture 15">
            <a:extLst>
              <a:ext uri="{FF2B5EF4-FFF2-40B4-BE49-F238E27FC236}">
                <a16:creationId xmlns:a16="http://schemas.microsoft.com/office/drawing/2014/main" id="{31997A13-97B1-2934-FC24-6156C87B5785}"/>
              </a:ext>
            </a:extLst>
          </p:cNvPr>
          <p:cNvPicPr>
            <a:picLocks noChangeAspect="1"/>
          </p:cNvPicPr>
          <p:nvPr/>
        </p:nvPicPr>
        <p:blipFill>
          <a:blip r:embed="rId4"/>
          <a:srcRect t="3146" b="3146"/>
          <a:stretch/>
        </p:blipFill>
        <p:spPr>
          <a:xfrm>
            <a:off x="6560820" y="1657685"/>
            <a:ext cx="5120640" cy="4173565"/>
          </a:xfrm>
          <a:prstGeom prst="rect">
            <a:avLst/>
          </a:prstGeom>
        </p:spPr>
      </p:pic>
      <p:sp>
        <p:nvSpPr>
          <p:cNvPr id="5" name="Text 5">
            <a:extLst>
              <a:ext uri="{FF2B5EF4-FFF2-40B4-BE49-F238E27FC236}">
                <a16:creationId xmlns:a16="http://schemas.microsoft.com/office/drawing/2014/main" id="{FE818890-B08A-D8E6-FC8F-1E60DF8930A8}"/>
              </a:ext>
            </a:extLst>
          </p:cNvPr>
          <p:cNvSpPr/>
          <p:nvPr/>
        </p:nvSpPr>
        <p:spPr>
          <a:xfrm>
            <a:off x="7132320" y="5921764"/>
            <a:ext cx="3886200" cy="164592"/>
          </a:xfrm>
          <a:prstGeom prst="rect">
            <a:avLst/>
          </a:prstGeom>
          <a:noFill/>
          <a:ln/>
        </p:spPr>
        <p:txBody>
          <a:bodyPr wrap="square" lIns="0" tIns="0" rIns="0" bIns="0" rtlCol="0" anchor="ctr">
            <a:normAutofit/>
          </a:bodyPr>
          <a:lstStyle/>
          <a:p>
            <a:pPr marL="0" indent="0" algn="ctr">
              <a:buNone/>
            </a:pPr>
            <a:r>
              <a:rPr lang="en-US" sz="1000" dirty="0">
                <a:solidFill>
                  <a:srgbClr val="637083"/>
                </a:solidFill>
              </a:rPr>
              <a:t>Occlusion on test dataset</a:t>
            </a:r>
            <a:endParaRPr lang="en-US" sz="1000" dirty="0"/>
          </a:p>
        </p:txBody>
      </p:sp>
    </p:spTree>
    <p:extLst>
      <p:ext uri="{BB962C8B-B14F-4D97-AF65-F5344CB8AC3E}">
        <p14:creationId xmlns:p14="http://schemas.microsoft.com/office/powerpoint/2010/main" val="8389056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95574-721F-B354-510E-C3C3F944953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B424834-912A-C818-7ED3-964FB9E5C9FC}"/>
              </a:ext>
            </a:extLst>
          </p:cNvPr>
          <p:cNvSpPr/>
          <p:nvPr/>
        </p:nvSpPr>
        <p:spPr>
          <a:xfrm>
            <a:off x="502920" y="301752"/>
            <a:ext cx="2926080" cy="237744"/>
          </a:xfrm>
          <a:prstGeom prst="rect">
            <a:avLst/>
          </a:prstGeom>
          <a:noFill/>
          <a:ln/>
        </p:spPr>
        <p:txBody>
          <a:bodyPr wrap="square" lIns="0" tIns="0" rIns="0" bIns="0" rtlCol="0" anchor="ctr">
            <a:normAutofit/>
          </a:bodyPr>
          <a:lstStyle/>
          <a:p>
            <a:pPr marL="0" indent="0">
              <a:buNone/>
            </a:pPr>
            <a:r>
              <a:rPr lang="en-US" sz="1000" b="1" dirty="0">
                <a:solidFill>
                  <a:srgbClr val="2F6F9F"/>
                </a:solidFill>
              </a:rPr>
              <a:t>RESULTS</a:t>
            </a:r>
            <a:endParaRPr lang="en-US" sz="1000" dirty="0"/>
          </a:p>
        </p:txBody>
      </p:sp>
      <p:sp>
        <p:nvSpPr>
          <p:cNvPr id="3" name="Text 1">
            <a:extLst>
              <a:ext uri="{FF2B5EF4-FFF2-40B4-BE49-F238E27FC236}">
                <a16:creationId xmlns:a16="http://schemas.microsoft.com/office/drawing/2014/main" id="{E3E7C141-950D-0264-A83F-6FF7D33D731E}"/>
              </a:ext>
            </a:extLst>
          </p:cNvPr>
          <p:cNvSpPr/>
          <p:nvPr/>
        </p:nvSpPr>
        <p:spPr>
          <a:xfrm>
            <a:off x="502920" y="585216"/>
            <a:ext cx="6629400" cy="457200"/>
          </a:xfrm>
          <a:prstGeom prst="rect">
            <a:avLst/>
          </a:prstGeom>
          <a:noFill/>
          <a:ln/>
        </p:spPr>
        <p:txBody>
          <a:bodyPr wrap="square" lIns="0" tIns="0" rIns="0" bIns="0" rtlCol="0" anchor="ctr">
            <a:normAutofit/>
          </a:bodyPr>
          <a:lstStyle/>
          <a:p>
            <a:pPr marL="0" indent="0">
              <a:buNone/>
            </a:pPr>
            <a:r>
              <a:rPr lang="en-US" sz="2500" b="1" dirty="0">
                <a:solidFill>
                  <a:srgbClr val="132238"/>
                </a:solidFill>
              </a:rPr>
              <a:t>Interpretability</a:t>
            </a:r>
            <a:endParaRPr lang="en-US" sz="2500" dirty="0"/>
          </a:p>
        </p:txBody>
      </p:sp>
      <p:sp>
        <p:nvSpPr>
          <p:cNvPr id="4" name="Text 2">
            <a:extLst>
              <a:ext uri="{FF2B5EF4-FFF2-40B4-BE49-F238E27FC236}">
                <a16:creationId xmlns:a16="http://schemas.microsoft.com/office/drawing/2014/main" id="{471D4945-A03B-D1D5-BC6C-CFEA64E9362E}"/>
              </a:ext>
            </a:extLst>
          </p:cNvPr>
          <p:cNvSpPr/>
          <p:nvPr/>
        </p:nvSpPr>
        <p:spPr>
          <a:xfrm>
            <a:off x="521208" y="1060703"/>
            <a:ext cx="7742114" cy="411469"/>
          </a:xfrm>
          <a:prstGeom prst="rect">
            <a:avLst/>
          </a:prstGeom>
          <a:noFill/>
          <a:ln/>
        </p:spPr>
        <p:txBody>
          <a:bodyPr wrap="square" lIns="0" tIns="0" rIns="0" bIns="0" rtlCol="0" anchor="ctr">
            <a:normAutofit/>
          </a:bodyPr>
          <a:lstStyle/>
          <a:p>
            <a:pPr marL="0" indent="0">
              <a:buNone/>
            </a:pPr>
            <a:r>
              <a:rPr lang="en-US" sz="1250" dirty="0">
                <a:solidFill>
                  <a:srgbClr val="637083"/>
                </a:solidFill>
              </a:rPr>
              <a:t>Grad-CAM and occlusion were used to test whether the model looked at clinically reasonable regions.</a:t>
            </a:r>
            <a:endParaRPr lang="en-US" sz="1250" dirty="0"/>
          </a:p>
        </p:txBody>
      </p:sp>
      <p:sp>
        <p:nvSpPr>
          <p:cNvPr id="10" name="Text 5">
            <a:extLst>
              <a:ext uri="{FF2B5EF4-FFF2-40B4-BE49-F238E27FC236}">
                <a16:creationId xmlns:a16="http://schemas.microsoft.com/office/drawing/2014/main" id="{EDB5917C-8995-9B00-4CB9-EA3F57F16EB0}"/>
              </a:ext>
            </a:extLst>
          </p:cNvPr>
          <p:cNvSpPr/>
          <p:nvPr/>
        </p:nvSpPr>
        <p:spPr>
          <a:xfrm>
            <a:off x="5943112" y="5133253"/>
            <a:ext cx="3886200" cy="164592"/>
          </a:xfrm>
          <a:prstGeom prst="rect">
            <a:avLst/>
          </a:prstGeom>
          <a:noFill/>
          <a:ln/>
        </p:spPr>
        <p:txBody>
          <a:bodyPr wrap="square" lIns="0" tIns="0" rIns="0" bIns="0" rtlCol="0" anchor="ctr">
            <a:normAutofit/>
          </a:bodyPr>
          <a:lstStyle/>
          <a:p>
            <a:pPr marL="0" indent="0" algn="ctr">
              <a:buNone/>
            </a:pPr>
            <a:r>
              <a:rPr lang="en-US" sz="1000" dirty="0">
                <a:solidFill>
                  <a:srgbClr val="637083"/>
                </a:solidFill>
              </a:rPr>
              <a:t>Correct vs misclassified examples</a:t>
            </a:r>
            <a:endParaRPr lang="en-US" sz="1000" dirty="0"/>
          </a:p>
        </p:txBody>
      </p:sp>
      <p:sp>
        <p:nvSpPr>
          <p:cNvPr id="17" name="Shape 12">
            <a:extLst>
              <a:ext uri="{FF2B5EF4-FFF2-40B4-BE49-F238E27FC236}">
                <a16:creationId xmlns:a16="http://schemas.microsoft.com/office/drawing/2014/main" id="{DF543142-57D6-FDAE-2177-10087F474013}"/>
              </a:ext>
            </a:extLst>
          </p:cNvPr>
          <p:cNvSpPr/>
          <p:nvPr/>
        </p:nvSpPr>
        <p:spPr>
          <a:xfrm>
            <a:off x="502920" y="6446520"/>
            <a:ext cx="11201400" cy="0"/>
          </a:xfrm>
          <a:prstGeom prst="line">
            <a:avLst/>
          </a:prstGeom>
          <a:noFill/>
          <a:ln w="12700">
            <a:solidFill>
              <a:srgbClr val="E7EBEF"/>
            </a:solidFill>
            <a:prstDash val="solid"/>
          </a:ln>
        </p:spPr>
        <p:txBody>
          <a:bodyPr/>
          <a:lstStyle/>
          <a:p>
            <a:endParaRPr lang="en-US"/>
          </a:p>
        </p:txBody>
      </p:sp>
      <p:sp>
        <p:nvSpPr>
          <p:cNvPr id="18" name="Text 13">
            <a:extLst>
              <a:ext uri="{FF2B5EF4-FFF2-40B4-BE49-F238E27FC236}">
                <a16:creationId xmlns:a16="http://schemas.microsoft.com/office/drawing/2014/main" id="{A9AF912E-56F0-811F-8A5B-6C21A35E48BD}"/>
              </a:ext>
            </a:extLst>
          </p:cNvPr>
          <p:cNvSpPr/>
          <p:nvPr/>
        </p:nvSpPr>
        <p:spPr>
          <a:xfrm>
            <a:off x="502920" y="6510528"/>
            <a:ext cx="4937760" cy="201168"/>
          </a:xfrm>
          <a:prstGeom prst="rect">
            <a:avLst/>
          </a:prstGeom>
          <a:noFill/>
          <a:ln/>
        </p:spPr>
        <p:txBody>
          <a:bodyPr wrap="square" lIns="0" tIns="0" rIns="0" bIns="0" rtlCol="0" anchor="ctr"/>
          <a:lstStyle/>
          <a:p>
            <a:pPr marL="0" indent="0">
              <a:buNone/>
            </a:pPr>
            <a:r>
              <a:rPr lang="en-US" sz="750" dirty="0">
                <a:solidFill>
                  <a:srgbClr val="637083"/>
                </a:solidFill>
                <a:latin typeface="Aptos" pitchFamily="34" charset="0"/>
                <a:ea typeface="Aptos" pitchFamily="34" charset="-122"/>
                <a:cs typeface="Aptos" pitchFamily="34" charset="-120"/>
              </a:rPr>
              <a:t>Section 3 of 5 | Results</a:t>
            </a:r>
            <a:endParaRPr lang="en-US" sz="750" dirty="0"/>
          </a:p>
        </p:txBody>
      </p:sp>
      <p:sp>
        <p:nvSpPr>
          <p:cNvPr id="19" name="Text 14">
            <a:extLst>
              <a:ext uri="{FF2B5EF4-FFF2-40B4-BE49-F238E27FC236}">
                <a16:creationId xmlns:a16="http://schemas.microsoft.com/office/drawing/2014/main" id="{31E2E750-CC9B-EB97-1FB1-21814684D80B}"/>
              </a:ext>
            </a:extLst>
          </p:cNvPr>
          <p:cNvSpPr/>
          <p:nvPr/>
        </p:nvSpPr>
        <p:spPr>
          <a:xfrm>
            <a:off x="8503920" y="6510528"/>
            <a:ext cx="3200400" cy="201168"/>
          </a:xfrm>
          <a:prstGeom prst="rect">
            <a:avLst/>
          </a:prstGeom>
          <a:noFill/>
          <a:ln/>
        </p:spPr>
        <p:txBody>
          <a:bodyPr wrap="square" lIns="0" tIns="0" rIns="0" bIns="0" rtlCol="0" anchor="ctr"/>
          <a:lstStyle/>
          <a:p>
            <a:pPr marL="0" indent="0" algn="r">
              <a:buNone/>
            </a:pPr>
            <a:r>
              <a:rPr lang="en-US" sz="750" dirty="0">
                <a:solidFill>
                  <a:srgbClr val="637083"/>
                </a:solidFill>
                <a:latin typeface="Aptos" pitchFamily="34" charset="0"/>
                <a:ea typeface="Aptos" pitchFamily="34" charset="-122"/>
                <a:cs typeface="Aptos" pitchFamily="34" charset="-120"/>
              </a:rPr>
              <a:t>Brain tumor MRI classifier | Review board presentation</a:t>
            </a:r>
            <a:endParaRPr lang="en-US" sz="750" dirty="0"/>
          </a:p>
        </p:txBody>
      </p:sp>
      <p:pic>
        <p:nvPicPr>
          <p:cNvPr id="12" name="Picture 11">
            <a:extLst>
              <a:ext uri="{FF2B5EF4-FFF2-40B4-BE49-F238E27FC236}">
                <a16:creationId xmlns:a16="http://schemas.microsoft.com/office/drawing/2014/main" id="{1875ABDF-E06A-4B80-BF5F-BB6A36504E79}"/>
              </a:ext>
            </a:extLst>
          </p:cNvPr>
          <p:cNvPicPr>
            <a:picLocks noChangeAspect="1"/>
          </p:cNvPicPr>
          <p:nvPr/>
        </p:nvPicPr>
        <p:blipFill>
          <a:blip r:embed="rId3"/>
          <a:srcRect l="25208" r="25208"/>
          <a:stretch/>
        </p:blipFill>
        <p:spPr>
          <a:xfrm>
            <a:off x="602765" y="1656847"/>
            <a:ext cx="3310543" cy="3326639"/>
          </a:xfrm>
          <a:prstGeom prst="rect">
            <a:avLst/>
          </a:prstGeom>
        </p:spPr>
      </p:pic>
      <p:pic>
        <p:nvPicPr>
          <p:cNvPr id="22" name="Picture 21">
            <a:extLst>
              <a:ext uri="{FF2B5EF4-FFF2-40B4-BE49-F238E27FC236}">
                <a16:creationId xmlns:a16="http://schemas.microsoft.com/office/drawing/2014/main" id="{0EAD5FEA-44BA-E06B-ACD0-4AC79B4017AD}"/>
              </a:ext>
            </a:extLst>
          </p:cNvPr>
          <p:cNvPicPr>
            <a:picLocks noChangeAspect="1"/>
          </p:cNvPicPr>
          <p:nvPr/>
        </p:nvPicPr>
        <p:blipFill>
          <a:blip r:embed="rId4"/>
          <a:srcRect/>
          <a:stretch/>
        </p:blipFill>
        <p:spPr>
          <a:xfrm>
            <a:off x="4526279" y="1560155"/>
            <a:ext cx="6719866" cy="3423327"/>
          </a:xfrm>
          <a:prstGeom prst="rect">
            <a:avLst/>
          </a:prstGeom>
        </p:spPr>
      </p:pic>
      <p:sp>
        <p:nvSpPr>
          <p:cNvPr id="23" name="Text 5">
            <a:extLst>
              <a:ext uri="{FF2B5EF4-FFF2-40B4-BE49-F238E27FC236}">
                <a16:creationId xmlns:a16="http://schemas.microsoft.com/office/drawing/2014/main" id="{6A220128-B043-F582-92EA-E1CB8445A08B}"/>
              </a:ext>
            </a:extLst>
          </p:cNvPr>
          <p:cNvSpPr/>
          <p:nvPr/>
        </p:nvSpPr>
        <p:spPr>
          <a:xfrm>
            <a:off x="314936" y="5133253"/>
            <a:ext cx="3886200" cy="164592"/>
          </a:xfrm>
          <a:prstGeom prst="rect">
            <a:avLst/>
          </a:prstGeom>
          <a:noFill/>
          <a:ln/>
        </p:spPr>
        <p:txBody>
          <a:bodyPr wrap="square" lIns="0" tIns="0" rIns="0" bIns="0" rtlCol="0" anchor="ctr">
            <a:normAutofit/>
          </a:bodyPr>
          <a:lstStyle/>
          <a:p>
            <a:pPr marL="0" indent="0" algn="ctr">
              <a:buNone/>
            </a:pPr>
            <a:r>
              <a:rPr lang="en-US" sz="1000" dirty="0">
                <a:solidFill>
                  <a:srgbClr val="637083"/>
                </a:solidFill>
              </a:rPr>
              <a:t>Filters</a:t>
            </a:r>
            <a:endParaRPr lang="en-US" sz="1000" dirty="0"/>
          </a:p>
        </p:txBody>
      </p:sp>
    </p:spTree>
    <p:extLst>
      <p:ext uri="{BB962C8B-B14F-4D97-AF65-F5344CB8AC3E}">
        <p14:creationId xmlns:p14="http://schemas.microsoft.com/office/powerpoint/2010/main" val="35474257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502920" y="301752"/>
            <a:ext cx="2926080" cy="237744"/>
          </a:xfrm>
          <a:prstGeom prst="rect">
            <a:avLst/>
          </a:prstGeom>
          <a:noFill/>
          <a:ln/>
        </p:spPr>
        <p:txBody>
          <a:bodyPr wrap="square" lIns="0" tIns="0" rIns="0" bIns="0" rtlCol="0" anchor="ctr">
            <a:normAutofit/>
          </a:bodyPr>
          <a:lstStyle/>
          <a:p>
            <a:pPr marL="0" indent="0">
              <a:buNone/>
            </a:pPr>
            <a:r>
              <a:rPr lang="en-US" sz="1000" b="1" dirty="0">
                <a:solidFill>
                  <a:srgbClr val="2F6F9F"/>
                </a:solidFill>
              </a:rPr>
              <a:t>FIELD GUIDE HIGHLIGHTS</a:t>
            </a:r>
            <a:endParaRPr lang="en-US" sz="1000" dirty="0"/>
          </a:p>
        </p:txBody>
      </p:sp>
      <p:sp>
        <p:nvSpPr>
          <p:cNvPr id="3" name="Text 1"/>
          <p:cNvSpPr/>
          <p:nvPr/>
        </p:nvSpPr>
        <p:spPr>
          <a:xfrm>
            <a:off x="502920" y="585216"/>
            <a:ext cx="6629400" cy="457200"/>
          </a:xfrm>
          <a:prstGeom prst="rect">
            <a:avLst/>
          </a:prstGeom>
          <a:noFill/>
          <a:ln/>
        </p:spPr>
        <p:txBody>
          <a:bodyPr wrap="square" lIns="0" tIns="0" rIns="0" bIns="0" rtlCol="0" anchor="ctr">
            <a:normAutofit/>
          </a:bodyPr>
          <a:lstStyle/>
          <a:p>
            <a:pPr marL="0" indent="0">
              <a:buNone/>
            </a:pPr>
            <a:r>
              <a:rPr lang="en-US" sz="2100" b="1" dirty="0">
                <a:solidFill>
                  <a:srgbClr val="132238"/>
                </a:solidFill>
              </a:rPr>
              <a:t>The Governance</a:t>
            </a:r>
            <a:endParaRPr lang="en-US" sz="2100" dirty="0"/>
          </a:p>
        </p:txBody>
      </p:sp>
      <p:sp>
        <p:nvSpPr>
          <p:cNvPr id="4" name="Text 2"/>
          <p:cNvSpPr/>
          <p:nvPr/>
        </p:nvSpPr>
        <p:spPr>
          <a:xfrm>
            <a:off x="521208" y="1060704"/>
            <a:ext cx="6537960" cy="347472"/>
          </a:xfrm>
          <a:prstGeom prst="rect">
            <a:avLst/>
          </a:prstGeom>
          <a:noFill/>
          <a:ln/>
        </p:spPr>
        <p:txBody>
          <a:bodyPr wrap="square" lIns="0" tIns="0" rIns="0" bIns="0" rtlCol="0" anchor="ctr">
            <a:normAutofit/>
          </a:bodyPr>
          <a:lstStyle/>
          <a:p>
            <a:pPr marL="0" indent="0">
              <a:buNone/>
            </a:pPr>
            <a:endParaRPr lang="en-US" sz="1250" dirty="0"/>
          </a:p>
        </p:txBody>
      </p:sp>
      <p:sp>
        <p:nvSpPr>
          <p:cNvPr id="5" name="Shape 3"/>
          <p:cNvSpPr/>
          <p:nvPr/>
        </p:nvSpPr>
        <p:spPr>
          <a:xfrm>
            <a:off x="1234440" y="2240280"/>
            <a:ext cx="9418320" cy="0"/>
          </a:xfrm>
          <a:prstGeom prst="line">
            <a:avLst/>
          </a:prstGeom>
          <a:noFill/>
          <a:ln w="25400">
            <a:solidFill>
              <a:srgbClr val="C8D4DF"/>
            </a:solidFill>
            <a:prstDash val="solid"/>
          </a:ln>
        </p:spPr>
        <p:txBody>
          <a:bodyPr/>
          <a:lstStyle/>
          <a:p>
            <a:endParaRPr lang="en-US"/>
          </a:p>
        </p:txBody>
      </p:sp>
      <p:sp>
        <p:nvSpPr>
          <p:cNvPr id="6" name="Shape 4"/>
          <p:cNvSpPr/>
          <p:nvPr/>
        </p:nvSpPr>
        <p:spPr>
          <a:xfrm>
            <a:off x="1408176" y="1673352"/>
            <a:ext cx="585216" cy="585216"/>
          </a:xfrm>
          <a:prstGeom prst="ellipse">
            <a:avLst/>
          </a:prstGeom>
          <a:solidFill>
            <a:srgbClr val="2F6F9F"/>
          </a:solidFill>
          <a:ln w="12700">
            <a:solidFill>
              <a:srgbClr val="2F6F9F"/>
            </a:solidFill>
            <a:prstDash val="solid"/>
          </a:ln>
        </p:spPr>
        <p:txBody>
          <a:bodyPr/>
          <a:lstStyle/>
          <a:p>
            <a:endParaRPr lang="en-US"/>
          </a:p>
        </p:txBody>
      </p:sp>
      <p:sp>
        <p:nvSpPr>
          <p:cNvPr id="7" name="Text 5"/>
          <p:cNvSpPr/>
          <p:nvPr/>
        </p:nvSpPr>
        <p:spPr>
          <a:xfrm>
            <a:off x="1408176" y="1801368"/>
            <a:ext cx="585216" cy="164592"/>
          </a:xfrm>
          <a:prstGeom prst="rect">
            <a:avLst/>
          </a:prstGeom>
          <a:no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8" name="Shape 6"/>
          <p:cNvSpPr/>
          <p:nvPr/>
        </p:nvSpPr>
        <p:spPr>
          <a:xfrm>
            <a:off x="658368" y="2487168"/>
            <a:ext cx="2423160" cy="2148840"/>
          </a:xfrm>
          <a:prstGeom prst="roundRect">
            <a:avLst>
              <a:gd name="adj" fmla="val 3404"/>
            </a:avLst>
          </a:prstGeom>
          <a:solidFill>
            <a:srgbClr val="FFFFFF"/>
          </a:solidFill>
          <a:ln w="12700">
            <a:solidFill>
              <a:srgbClr val="D7DEE7"/>
            </a:solidFill>
            <a:prstDash val="solid"/>
          </a:ln>
        </p:spPr>
        <p:txBody>
          <a:bodyPr/>
          <a:lstStyle/>
          <a:p>
            <a:endParaRPr lang="en-US"/>
          </a:p>
        </p:txBody>
      </p:sp>
      <p:sp>
        <p:nvSpPr>
          <p:cNvPr id="9" name="Text 7"/>
          <p:cNvSpPr/>
          <p:nvPr/>
        </p:nvSpPr>
        <p:spPr>
          <a:xfrm>
            <a:off x="841248" y="2697480"/>
            <a:ext cx="2057400" cy="292608"/>
          </a:xfrm>
          <a:prstGeom prst="rect">
            <a:avLst/>
          </a:prstGeom>
          <a:noFill/>
          <a:ln/>
        </p:spPr>
        <p:txBody>
          <a:bodyPr wrap="square" lIns="0" tIns="0" rIns="0" bIns="0" rtlCol="0" anchor="ctr">
            <a:normAutofit/>
          </a:bodyPr>
          <a:lstStyle/>
          <a:p>
            <a:pPr marL="0" indent="0">
              <a:buNone/>
            </a:pPr>
            <a:r>
              <a:rPr lang="en-US" sz="1400" b="1" dirty="0">
                <a:solidFill>
                  <a:srgbClr val="132238"/>
                </a:solidFill>
              </a:rPr>
              <a:t>Acceptance testing</a:t>
            </a:r>
            <a:endParaRPr lang="en-US" sz="1400" dirty="0"/>
          </a:p>
        </p:txBody>
      </p:sp>
      <p:sp>
        <p:nvSpPr>
          <p:cNvPr id="10" name="Text 8"/>
          <p:cNvSpPr/>
          <p:nvPr/>
        </p:nvSpPr>
        <p:spPr>
          <a:xfrm>
            <a:off x="841248" y="3108960"/>
            <a:ext cx="2057400" cy="1024128"/>
          </a:xfrm>
          <a:prstGeom prst="rect">
            <a:avLst/>
          </a:prstGeom>
          <a:noFill/>
          <a:ln/>
        </p:spPr>
        <p:txBody>
          <a:bodyPr wrap="square" lIns="254" tIns="254" rIns="254" bIns="254" rtlCol="0" anchor="t">
            <a:normAutofit/>
          </a:bodyPr>
          <a:lstStyle/>
          <a:p>
            <a:pPr marL="0" indent="0">
              <a:buNone/>
            </a:pPr>
            <a:r>
              <a:rPr lang="en-US" sz="1200" dirty="0">
                <a:solidFill>
                  <a:srgbClr val="263238"/>
                </a:solidFill>
              </a:rPr>
              <a:t>Local validation before use</a:t>
            </a:r>
            <a:endParaRPr lang="en-US" sz="1200" dirty="0"/>
          </a:p>
          <a:p>
            <a:pPr marL="0" indent="0">
              <a:buNone/>
            </a:pPr>
            <a:r>
              <a:rPr lang="en-US" sz="1200" dirty="0">
                <a:solidFill>
                  <a:srgbClr val="263238"/>
                </a:solidFill>
              </a:rPr>
              <a:t>Target: no unexpected performance drop</a:t>
            </a:r>
            <a:endParaRPr lang="en-US" sz="1200" dirty="0"/>
          </a:p>
        </p:txBody>
      </p:sp>
      <p:sp>
        <p:nvSpPr>
          <p:cNvPr id="11" name="Shape 9"/>
          <p:cNvSpPr/>
          <p:nvPr/>
        </p:nvSpPr>
        <p:spPr>
          <a:xfrm>
            <a:off x="4197096" y="1673352"/>
            <a:ext cx="585216" cy="585216"/>
          </a:xfrm>
          <a:prstGeom prst="ellipse">
            <a:avLst/>
          </a:prstGeom>
          <a:solidFill>
            <a:srgbClr val="2F6F9F"/>
          </a:solidFill>
          <a:ln w="12700">
            <a:solidFill>
              <a:srgbClr val="2F6F9F"/>
            </a:solidFill>
            <a:prstDash val="solid"/>
          </a:ln>
        </p:spPr>
        <p:txBody>
          <a:bodyPr/>
          <a:lstStyle/>
          <a:p>
            <a:endParaRPr lang="en-US"/>
          </a:p>
        </p:txBody>
      </p:sp>
      <p:sp>
        <p:nvSpPr>
          <p:cNvPr id="12" name="Text 10"/>
          <p:cNvSpPr/>
          <p:nvPr/>
        </p:nvSpPr>
        <p:spPr>
          <a:xfrm>
            <a:off x="4197096" y="1801368"/>
            <a:ext cx="585216" cy="164592"/>
          </a:xfrm>
          <a:prstGeom prst="rect">
            <a:avLst/>
          </a:prstGeom>
          <a:no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13" name="Shape 11"/>
          <p:cNvSpPr/>
          <p:nvPr/>
        </p:nvSpPr>
        <p:spPr>
          <a:xfrm>
            <a:off x="3447288" y="2487168"/>
            <a:ext cx="2423160" cy="2148840"/>
          </a:xfrm>
          <a:prstGeom prst="roundRect">
            <a:avLst>
              <a:gd name="adj" fmla="val 3404"/>
            </a:avLst>
          </a:prstGeom>
          <a:solidFill>
            <a:srgbClr val="FFFFFF"/>
          </a:solidFill>
          <a:ln w="12700">
            <a:solidFill>
              <a:srgbClr val="D7DEE7"/>
            </a:solidFill>
            <a:prstDash val="solid"/>
          </a:ln>
        </p:spPr>
        <p:txBody>
          <a:bodyPr/>
          <a:lstStyle/>
          <a:p>
            <a:endParaRPr lang="en-US"/>
          </a:p>
        </p:txBody>
      </p:sp>
      <p:sp>
        <p:nvSpPr>
          <p:cNvPr id="14" name="Text 12"/>
          <p:cNvSpPr/>
          <p:nvPr/>
        </p:nvSpPr>
        <p:spPr>
          <a:xfrm>
            <a:off x="3630168" y="2697480"/>
            <a:ext cx="2057400" cy="292608"/>
          </a:xfrm>
          <a:prstGeom prst="rect">
            <a:avLst/>
          </a:prstGeom>
          <a:noFill/>
          <a:ln/>
        </p:spPr>
        <p:txBody>
          <a:bodyPr wrap="square" lIns="0" tIns="0" rIns="0" bIns="0" rtlCol="0" anchor="ctr">
            <a:normAutofit/>
          </a:bodyPr>
          <a:lstStyle/>
          <a:p>
            <a:pPr marL="0" indent="0">
              <a:buNone/>
            </a:pPr>
            <a:r>
              <a:rPr lang="en-US" sz="1400" b="1" dirty="0">
                <a:solidFill>
                  <a:srgbClr val="132238"/>
                </a:solidFill>
              </a:rPr>
              <a:t>Routine monitoring</a:t>
            </a:r>
            <a:endParaRPr lang="en-US" sz="1400" dirty="0"/>
          </a:p>
        </p:txBody>
      </p:sp>
      <p:sp>
        <p:nvSpPr>
          <p:cNvPr id="15" name="Text 13"/>
          <p:cNvSpPr/>
          <p:nvPr/>
        </p:nvSpPr>
        <p:spPr>
          <a:xfrm>
            <a:off x="3630168" y="3108960"/>
            <a:ext cx="2057400" cy="1024128"/>
          </a:xfrm>
          <a:prstGeom prst="rect">
            <a:avLst/>
          </a:prstGeom>
          <a:noFill/>
          <a:ln/>
        </p:spPr>
        <p:txBody>
          <a:bodyPr wrap="square" lIns="254" tIns="254" rIns="254" bIns="254" rtlCol="0" anchor="t">
            <a:normAutofit/>
          </a:bodyPr>
          <a:lstStyle/>
          <a:p>
            <a:pPr marL="0" indent="0">
              <a:buNone/>
            </a:pPr>
            <a:r>
              <a:rPr lang="en-US" sz="1200" dirty="0">
                <a:solidFill>
                  <a:srgbClr val="263238"/>
                </a:solidFill>
              </a:rPr>
              <a:t>Track accuracy, confidence, class mix, and failure patterns</a:t>
            </a:r>
            <a:endParaRPr lang="en-US" sz="1200" dirty="0"/>
          </a:p>
          <a:p>
            <a:pPr marL="0" indent="0">
              <a:buNone/>
            </a:pPr>
            <a:r>
              <a:rPr lang="en-US" sz="1200" dirty="0">
                <a:solidFill>
                  <a:srgbClr val="263238"/>
                </a:solidFill>
              </a:rPr>
              <a:t>Cadence: weekly early, monthly after stable</a:t>
            </a:r>
            <a:endParaRPr lang="en-US" sz="1200" dirty="0"/>
          </a:p>
        </p:txBody>
      </p:sp>
      <p:sp>
        <p:nvSpPr>
          <p:cNvPr id="16" name="Shape 14"/>
          <p:cNvSpPr/>
          <p:nvPr/>
        </p:nvSpPr>
        <p:spPr>
          <a:xfrm>
            <a:off x="6986016" y="1673352"/>
            <a:ext cx="585216" cy="585216"/>
          </a:xfrm>
          <a:prstGeom prst="ellipse">
            <a:avLst/>
          </a:prstGeom>
          <a:solidFill>
            <a:srgbClr val="2F6F9F"/>
          </a:solidFill>
          <a:ln w="12700">
            <a:solidFill>
              <a:srgbClr val="2F6F9F"/>
            </a:solidFill>
            <a:prstDash val="solid"/>
          </a:ln>
        </p:spPr>
        <p:txBody>
          <a:bodyPr/>
          <a:lstStyle/>
          <a:p>
            <a:endParaRPr lang="en-US"/>
          </a:p>
        </p:txBody>
      </p:sp>
      <p:sp>
        <p:nvSpPr>
          <p:cNvPr id="17" name="Text 15"/>
          <p:cNvSpPr/>
          <p:nvPr/>
        </p:nvSpPr>
        <p:spPr>
          <a:xfrm>
            <a:off x="6986016" y="1801368"/>
            <a:ext cx="585216" cy="164592"/>
          </a:xfrm>
          <a:prstGeom prst="rect">
            <a:avLst/>
          </a:prstGeom>
          <a:no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18" name="Shape 16"/>
          <p:cNvSpPr/>
          <p:nvPr/>
        </p:nvSpPr>
        <p:spPr>
          <a:xfrm>
            <a:off x="6236208" y="2487168"/>
            <a:ext cx="2423160" cy="2148840"/>
          </a:xfrm>
          <a:prstGeom prst="roundRect">
            <a:avLst>
              <a:gd name="adj" fmla="val 3404"/>
            </a:avLst>
          </a:prstGeom>
          <a:solidFill>
            <a:srgbClr val="FFFFFF"/>
          </a:solidFill>
          <a:ln w="12700">
            <a:solidFill>
              <a:srgbClr val="D7DEE7"/>
            </a:solidFill>
            <a:prstDash val="solid"/>
          </a:ln>
        </p:spPr>
        <p:txBody>
          <a:bodyPr/>
          <a:lstStyle/>
          <a:p>
            <a:endParaRPr lang="en-US"/>
          </a:p>
        </p:txBody>
      </p:sp>
      <p:sp>
        <p:nvSpPr>
          <p:cNvPr id="19" name="Text 17"/>
          <p:cNvSpPr/>
          <p:nvPr/>
        </p:nvSpPr>
        <p:spPr>
          <a:xfrm>
            <a:off x="6419088" y="2697480"/>
            <a:ext cx="2057400" cy="292608"/>
          </a:xfrm>
          <a:prstGeom prst="rect">
            <a:avLst/>
          </a:prstGeom>
          <a:noFill/>
          <a:ln/>
        </p:spPr>
        <p:txBody>
          <a:bodyPr wrap="square" lIns="0" tIns="0" rIns="0" bIns="0" rtlCol="0" anchor="ctr">
            <a:normAutofit/>
          </a:bodyPr>
          <a:lstStyle/>
          <a:p>
            <a:pPr marL="0" indent="0">
              <a:buNone/>
            </a:pPr>
            <a:r>
              <a:rPr lang="en-US" sz="1400" b="1" dirty="0">
                <a:solidFill>
                  <a:srgbClr val="132238"/>
                </a:solidFill>
              </a:rPr>
              <a:t>Escalation</a:t>
            </a:r>
            <a:endParaRPr lang="en-US" sz="1400" dirty="0"/>
          </a:p>
        </p:txBody>
      </p:sp>
      <p:sp>
        <p:nvSpPr>
          <p:cNvPr id="20" name="Text 18"/>
          <p:cNvSpPr/>
          <p:nvPr/>
        </p:nvSpPr>
        <p:spPr>
          <a:xfrm>
            <a:off x="6419088" y="3108960"/>
            <a:ext cx="2057400" cy="1024128"/>
          </a:xfrm>
          <a:prstGeom prst="rect">
            <a:avLst/>
          </a:prstGeom>
          <a:noFill/>
          <a:ln/>
        </p:spPr>
        <p:txBody>
          <a:bodyPr wrap="square" lIns="254" tIns="254" rIns="254" bIns="254" rtlCol="0" anchor="t">
            <a:normAutofit/>
          </a:bodyPr>
          <a:lstStyle/>
          <a:p>
            <a:pPr marL="0" indent="0">
              <a:buNone/>
            </a:pPr>
            <a:r>
              <a:rPr lang="en-US" sz="1200" dirty="0">
                <a:solidFill>
                  <a:srgbClr val="263238"/>
                </a:solidFill>
              </a:rPr>
              <a:t>Pause if accuracy drops &gt;5%, confidence shifts, or heatmaps behave unexpectedly</a:t>
            </a:r>
            <a:endParaRPr lang="en-US" sz="1200" dirty="0"/>
          </a:p>
        </p:txBody>
      </p:sp>
      <p:sp>
        <p:nvSpPr>
          <p:cNvPr id="21" name="Shape 19"/>
          <p:cNvSpPr/>
          <p:nvPr/>
        </p:nvSpPr>
        <p:spPr>
          <a:xfrm>
            <a:off x="9774936" y="1673352"/>
            <a:ext cx="585216" cy="585216"/>
          </a:xfrm>
          <a:prstGeom prst="ellipse">
            <a:avLst/>
          </a:prstGeom>
          <a:solidFill>
            <a:srgbClr val="2F6F9F"/>
          </a:solidFill>
          <a:ln w="12700">
            <a:solidFill>
              <a:srgbClr val="2F6F9F"/>
            </a:solidFill>
            <a:prstDash val="solid"/>
          </a:ln>
        </p:spPr>
        <p:txBody>
          <a:bodyPr/>
          <a:lstStyle/>
          <a:p>
            <a:endParaRPr lang="en-US"/>
          </a:p>
        </p:txBody>
      </p:sp>
      <p:sp>
        <p:nvSpPr>
          <p:cNvPr id="22" name="Text 20"/>
          <p:cNvSpPr/>
          <p:nvPr/>
        </p:nvSpPr>
        <p:spPr>
          <a:xfrm>
            <a:off x="9774936" y="1801368"/>
            <a:ext cx="585216" cy="164592"/>
          </a:xfrm>
          <a:prstGeom prst="rect">
            <a:avLst/>
          </a:prstGeom>
          <a:noFill/>
          <a:ln/>
        </p:spPr>
        <p:txBody>
          <a:bodyPr wrap="square" lIns="0" tIns="0" rIns="0" bIns="0" rtlCol="0" anchor="ctr"/>
          <a:lstStyle/>
          <a:p>
            <a:pPr marL="0" indent="0" algn="ctr">
              <a:buNone/>
            </a:pPr>
            <a:r>
              <a:rPr lang="en-US" sz="1200" b="1" dirty="0">
                <a:solidFill>
                  <a:srgbClr val="FFFFFF"/>
                </a:solidFill>
              </a:rPr>
              <a:t>4</a:t>
            </a:r>
            <a:endParaRPr lang="en-US" sz="1200" dirty="0"/>
          </a:p>
        </p:txBody>
      </p:sp>
      <p:sp>
        <p:nvSpPr>
          <p:cNvPr id="23" name="Shape 21"/>
          <p:cNvSpPr/>
          <p:nvPr/>
        </p:nvSpPr>
        <p:spPr>
          <a:xfrm>
            <a:off x="9025128" y="2487168"/>
            <a:ext cx="2423160" cy="2148840"/>
          </a:xfrm>
          <a:prstGeom prst="roundRect">
            <a:avLst>
              <a:gd name="adj" fmla="val 3404"/>
            </a:avLst>
          </a:prstGeom>
          <a:solidFill>
            <a:srgbClr val="FFFFFF"/>
          </a:solidFill>
          <a:ln w="12700">
            <a:solidFill>
              <a:srgbClr val="D7DEE7"/>
            </a:solidFill>
            <a:prstDash val="solid"/>
          </a:ln>
        </p:spPr>
        <p:txBody>
          <a:bodyPr/>
          <a:lstStyle/>
          <a:p>
            <a:endParaRPr lang="en-US"/>
          </a:p>
        </p:txBody>
      </p:sp>
      <p:sp>
        <p:nvSpPr>
          <p:cNvPr id="24" name="Text 22"/>
          <p:cNvSpPr/>
          <p:nvPr/>
        </p:nvSpPr>
        <p:spPr>
          <a:xfrm>
            <a:off x="9208008" y="2697480"/>
            <a:ext cx="2057400" cy="292608"/>
          </a:xfrm>
          <a:prstGeom prst="rect">
            <a:avLst/>
          </a:prstGeom>
          <a:noFill/>
          <a:ln/>
        </p:spPr>
        <p:txBody>
          <a:bodyPr wrap="square" lIns="0" tIns="0" rIns="0" bIns="0" rtlCol="0" anchor="ctr">
            <a:normAutofit/>
          </a:bodyPr>
          <a:lstStyle/>
          <a:p>
            <a:pPr marL="0" indent="0">
              <a:buNone/>
            </a:pPr>
            <a:r>
              <a:rPr lang="en-US" sz="1400" b="1" dirty="0">
                <a:solidFill>
                  <a:srgbClr val="132238"/>
                </a:solidFill>
              </a:rPr>
              <a:t>Human review</a:t>
            </a:r>
            <a:endParaRPr lang="en-US" sz="1400" dirty="0"/>
          </a:p>
        </p:txBody>
      </p:sp>
      <p:sp>
        <p:nvSpPr>
          <p:cNvPr id="25" name="Text 23"/>
          <p:cNvSpPr/>
          <p:nvPr/>
        </p:nvSpPr>
        <p:spPr>
          <a:xfrm>
            <a:off x="9208008" y="3108960"/>
            <a:ext cx="2057400" cy="1024128"/>
          </a:xfrm>
          <a:prstGeom prst="rect">
            <a:avLst/>
          </a:prstGeom>
          <a:noFill/>
          <a:ln/>
        </p:spPr>
        <p:txBody>
          <a:bodyPr wrap="square" lIns="254" tIns="254" rIns="254" bIns="254" rtlCol="0" anchor="t">
            <a:normAutofit/>
          </a:bodyPr>
          <a:lstStyle/>
          <a:p>
            <a:pPr marL="0" indent="0">
              <a:buNone/>
            </a:pPr>
            <a:r>
              <a:rPr lang="en-US" sz="1200" dirty="0">
                <a:solidFill>
                  <a:srgbClr val="263238"/>
                </a:solidFill>
              </a:rPr>
              <a:t>Clinician confirms, overrides, and documents final decision</a:t>
            </a:r>
            <a:endParaRPr lang="en-US" sz="1200" dirty="0"/>
          </a:p>
        </p:txBody>
      </p:sp>
      <p:sp>
        <p:nvSpPr>
          <p:cNvPr id="27" name="Shape 25"/>
          <p:cNvSpPr/>
          <p:nvPr/>
        </p:nvSpPr>
        <p:spPr>
          <a:xfrm>
            <a:off x="502920" y="6446520"/>
            <a:ext cx="11201400" cy="0"/>
          </a:xfrm>
          <a:prstGeom prst="line">
            <a:avLst/>
          </a:prstGeom>
          <a:noFill/>
          <a:ln w="12700">
            <a:solidFill>
              <a:srgbClr val="E7EBEF"/>
            </a:solidFill>
            <a:prstDash val="solid"/>
          </a:ln>
        </p:spPr>
        <p:txBody>
          <a:bodyPr/>
          <a:lstStyle/>
          <a:p>
            <a:endParaRPr lang="en-US"/>
          </a:p>
        </p:txBody>
      </p:sp>
      <p:sp>
        <p:nvSpPr>
          <p:cNvPr id="28" name="Text 26"/>
          <p:cNvSpPr/>
          <p:nvPr/>
        </p:nvSpPr>
        <p:spPr>
          <a:xfrm>
            <a:off x="502920" y="6510528"/>
            <a:ext cx="4937760" cy="201168"/>
          </a:xfrm>
          <a:prstGeom prst="rect">
            <a:avLst/>
          </a:prstGeom>
          <a:noFill/>
          <a:ln/>
        </p:spPr>
        <p:txBody>
          <a:bodyPr wrap="square" lIns="0" tIns="0" rIns="0" bIns="0" rtlCol="0" anchor="ctr"/>
          <a:lstStyle/>
          <a:p>
            <a:pPr marL="0" indent="0">
              <a:buNone/>
            </a:pPr>
            <a:r>
              <a:rPr lang="en-US" sz="750" dirty="0">
                <a:solidFill>
                  <a:srgbClr val="637083"/>
                </a:solidFill>
                <a:latin typeface="Aptos" pitchFamily="34" charset="0"/>
                <a:ea typeface="Aptos" pitchFamily="34" charset="-122"/>
                <a:cs typeface="Aptos" pitchFamily="34" charset="-120"/>
              </a:rPr>
              <a:t>Section 4 of 5 | Field Guide Highlights</a:t>
            </a:r>
            <a:endParaRPr lang="en-US" sz="750" dirty="0"/>
          </a:p>
        </p:txBody>
      </p:sp>
      <p:sp>
        <p:nvSpPr>
          <p:cNvPr id="29" name="Text 27"/>
          <p:cNvSpPr/>
          <p:nvPr/>
        </p:nvSpPr>
        <p:spPr>
          <a:xfrm>
            <a:off x="8503920" y="6510528"/>
            <a:ext cx="3200400" cy="201168"/>
          </a:xfrm>
          <a:prstGeom prst="rect">
            <a:avLst/>
          </a:prstGeom>
          <a:noFill/>
          <a:ln/>
        </p:spPr>
        <p:txBody>
          <a:bodyPr wrap="square" lIns="0" tIns="0" rIns="0" bIns="0" rtlCol="0" anchor="ctr"/>
          <a:lstStyle/>
          <a:p>
            <a:pPr marL="0" indent="0" algn="r">
              <a:buNone/>
            </a:pPr>
            <a:r>
              <a:rPr lang="en-US" sz="750" dirty="0">
                <a:solidFill>
                  <a:srgbClr val="637083"/>
                </a:solidFill>
                <a:latin typeface="Aptos" pitchFamily="34" charset="0"/>
                <a:ea typeface="Aptos" pitchFamily="34" charset="-122"/>
                <a:cs typeface="Aptos" pitchFamily="34" charset="-120"/>
              </a:rPr>
              <a:t>Brain tumor MRI classifier | Review board presentation</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502920" y="301752"/>
            <a:ext cx="2926080" cy="237744"/>
          </a:xfrm>
          <a:prstGeom prst="rect">
            <a:avLst/>
          </a:prstGeom>
          <a:noFill/>
          <a:ln/>
        </p:spPr>
        <p:txBody>
          <a:bodyPr wrap="square" lIns="0" tIns="0" rIns="0" bIns="0" rtlCol="0" anchor="ctr">
            <a:normAutofit/>
          </a:bodyPr>
          <a:lstStyle/>
          <a:p>
            <a:pPr marL="0" indent="0">
              <a:buNone/>
            </a:pPr>
            <a:r>
              <a:rPr lang="en-US" sz="1000" b="1" dirty="0">
                <a:solidFill>
                  <a:srgbClr val="2F6F9F"/>
                </a:solidFill>
              </a:rPr>
              <a:t>FIELD GUIDE HIGHLIGHTS</a:t>
            </a:r>
            <a:endParaRPr lang="en-US" sz="1000" dirty="0"/>
          </a:p>
        </p:txBody>
      </p:sp>
      <p:sp>
        <p:nvSpPr>
          <p:cNvPr id="3" name="Text 1"/>
          <p:cNvSpPr/>
          <p:nvPr/>
        </p:nvSpPr>
        <p:spPr>
          <a:xfrm>
            <a:off x="502920" y="585216"/>
            <a:ext cx="6629400" cy="457200"/>
          </a:xfrm>
          <a:prstGeom prst="rect">
            <a:avLst/>
          </a:prstGeom>
          <a:noFill/>
          <a:ln/>
        </p:spPr>
        <p:txBody>
          <a:bodyPr wrap="square" lIns="0" tIns="0" rIns="0" bIns="0" rtlCol="0" anchor="ctr">
            <a:normAutofit/>
          </a:bodyPr>
          <a:lstStyle/>
          <a:p>
            <a:pPr marL="0" indent="0">
              <a:buNone/>
            </a:pPr>
            <a:r>
              <a:rPr lang="en-US" sz="2100" b="1" dirty="0">
                <a:solidFill>
                  <a:srgbClr val="132238"/>
                </a:solidFill>
              </a:rPr>
              <a:t>Limitations define safe boundaries for use</a:t>
            </a:r>
            <a:endParaRPr lang="en-US" sz="2100" dirty="0"/>
          </a:p>
        </p:txBody>
      </p:sp>
      <p:sp>
        <p:nvSpPr>
          <p:cNvPr id="4" name="Text 2"/>
          <p:cNvSpPr/>
          <p:nvPr/>
        </p:nvSpPr>
        <p:spPr>
          <a:xfrm>
            <a:off x="521208" y="1060704"/>
            <a:ext cx="6537960" cy="347472"/>
          </a:xfrm>
          <a:prstGeom prst="rect">
            <a:avLst/>
          </a:prstGeom>
          <a:noFill/>
          <a:ln/>
        </p:spPr>
        <p:txBody>
          <a:bodyPr wrap="square" lIns="0" tIns="0" rIns="0" bIns="0" rtlCol="0" anchor="ctr">
            <a:normAutofit/>
          </a:bodyPr>
          <a:lstStyle/>
          <a:p>
            <a:pPr marL="0" indent="0">
              <a:buNone/>
            </a:pPr>
            <a:r>
              <a:rPr lang="en-US" sz="1250" dirty="0">
                <a:solidFill>
                  <a:srgbClr val="637083"/>
                </a:solidFill>
              </a:rPr>
              <a:t>The model should be used only within its validated scope.</a:t>
            </a:r>
            <a:endParaRPr lang="en-US" sz="1250" dirty="0"/>
          </a:p>
        </p:txBody>
      </p:sp>
      <p:sp>
        <p:nvSpPr>
          <p:cNvPr id="5" name="Shape 3"/>
          <p:cNvSpPr/>
          <p:nvPr/>
        </p:nvSpPr>
        <p:spPr>
          <a:xfrm>
            <a:off x="777240" y="1600200"/>
            <a:ext cx="3291840" cy="4297680"/>
          </a:xfrm>
          <a:prstGeom prst="roundRect">
            <a:avLst>
              <a:gd name="adj" fmla="val 2222"/>
            </a:avLst>
          </a:prstGeom>
          <a:solidFill>
            <a:srgbClr val="FFFFFF"/>
          </a:solidFill>
          <a:ln w="12700">
            <a:solidFill>
              <a:srgbClr val="D7DEE7"/>
            </a:solidFill>
            <a:prstDash val="solid"/>
          </a:ln>
        </p:spPr>
        <p:txBody>
          <a:bodyPr/>
          <a:lstStyle/>
          <a:p>
            <a:endParaRPr lang="en-US"/>
          </a:p>
        </p:txBody>
      </p:sp>
      <p:sp>
        <p:nvSpPr>
          <p:cNvPr id="6" name="Text 4"/>
          <p:cNvSpPr/>
          <p:nvPr/>
        </p:nvSpPr>
        <p:spPr>
          <a:xfrm>
            <a:off x="1024128" y="1892808"/>
            <a:ext cx="2560320" cy="292608"/>
          </a:xfrm>
          <a:prstGeom prst="rect">
            <a:avLst/>
          </a:prstGeom>
          <a:noFill/>
          <a:ln/>
        </p:spPr>
        <p:txBody>
          <a:bodyPr wrap="square" lIns="0" tIns="0" rIns="0" bIns="0" rtlCol="0" anchor="ctr"/>
          <a:lstStyle/>
          <a:p>
            <a:pPr marL="0" indent="0">
              <a:buNone/>
            </a:pPr>
            <a:r>
              <a:rPr lang="en-US" sz="1500" b="1" dirty="0">
                <a:solidFill>
                  <a:srgbClr val="132238"/>
                </a:solidFill>
              </a:rPr>
              <a:t>Known limitations</a:t>
            </a:r>
            <a:endParaRPr lang="en-US" sz="1500" dirty="0"/>
          </a:p>
        </p:txBody>
      </p:sp>
      <p:sp>
        <p:nvSpPr>
          <p:cNvPr id="7" name="Text 5"/>
          <p:cNvSpPr/>
          <p:nvPr/>
        </p:nvSpPr>
        <p:spPr>
          <a:xfrm>
            <a:off x="1024128" y="2103120"/>
            <a:ext cx="2651760" cy="2377440"/>
          </a:xfrm>
          <a:prstGeom prst="rect">
            <a:avLst/>
          </a:prstGeom>
          <a:noFill/>
          <a:ln/>
        </p:spPr>
        <p:txBody>
          <a:bodyPr wrap="square" lIns="254" tIns="254" rIns="254" bIns="254" rtlCol="0" anchor="t">
            <a:normAutofit/>
          </a:bodyPr>
          <a:lstStyle/>
          <a:p>
            <a:pPr marL="152400" indent="-152400">
              <a:buSzPct val="100000"/>
              <a:buChar char="•"/>
            </a:pPr>
            <a:r>
              <a:rPr lang="en-US" sz="1200" dirty="0">
                <a:solidFill>
                  <a:srgbClr val="263238"/>
                </a:solidFill>
              </a:rPr>
              <a:t>Single 2D slice input only.</a:t>
            </a:r>
            <a:endParaRPr lang="en-US" sz="1200" dirty="0"/>
          </a:p>
          <a:p>
            <a:pPr marL="152400" indent="-152400">
              <a:buSzPct val="100000"/>
              <a:buChar char="•"/>
            </a:pPr>
            <a:r>
              <a:rPr lang="en-US" sz="1200" dirty="0">
                <a:solidFill>
                  <a:srgbClr val="263238"/>
                </a:solidFill>
              </a:rPr>
              <a:t>No clinical history or multi-sequence MRI information.</a:t>
            </a:r>
            <a:endParaRPr lang="en-US" sz="1200" dirty="0"/>
          </a:p>
          <a:p>
            <a:pPr marL="152400" indent="-152400">
              <a:buSzPct val="100000"/>
              <a:buChar char="•"/>
            </a:pPr>
            <a:r>
              <a:rPr lang="en-US" sz="1200" dirty="0">
                <a:solidFill>
                  <a:srgbClr val="263238"/>
                </a:solidFill>
              </a:rPr>
              <a:t>Internal test performance only; external validation required.</a:t>
            </a:r>
            <a:endParaRPr lang="en-US" sz="1200" dirty="0"/>
          </a:p>
          <a:p>
            <a:pPr marL="152400" indent="-152400">
              <a:buSzPct val="100000"/>
              <a:buChar char="•"/>
            </a:pPr>
            <a:r>
              <a:rPr lang="en-US" sz="1200" dirty="0">
                <a:solidFill>
                  <a:srgbClr val="263238"/>
                </a:solidFill>
              </a:rPr>
              <a:t>No segmentation masks available for quantitative heatmap validation.</a:t>
            </a:r>
            <a:endParaRPr lang="en-US" sz="1200" dirty="0"/>
          </a:p>
        </p:txBody>
      </p:sp>
      <p:sp>
        <p:nvSpPr>
          <p:cNvPr id="8" name="Shape 6"/>
          <p:cNvSpPr/>
          <p:nvPr/>
        </p:nvSpPr>
        <p:spPr>
          <a:xfrm>
            <a:off x="4480560" y="1600200"/>
            <a:ext cx="3291840" cy="4297680"/>
          </a:xfrm>
          <a:prstGeom prst="roundRect">
            <a:avLst>
              <a:gd name="adj" fmla="val 2222"/>
            </a:avLst>
          </a:prstGeom>
          <a:solidFill>
            <a:srgbClr val="FFFFFF"/>
          </a:solidFill>
          <a:ln w="12700">
            <a:solidFill>
              <a:srgbClr val="D7DEE7"/>
            </a:solidFill>
            <a:prstDash val="solid"/>
          </a:ln>
        </p:spPr>
        <p:txBody>
          <a:bodyPr/>
          <a:lstStyle/>
          <a:p>
            <a:endParaRPr lang="en-US"/>
          </a:p>
        </p:txBody>
      </p:sp>
      <p:sp>
        <p:nvSpPr>
          <p:cNvPr id="9" name="Text 7"/>
          <p:cNvSpPr/>
          <p:nvPr/>
        </p:nvSpPr>
        <p:spPr>
          <a:xfrm>
            <a:off x="4727448" y="1892808"/>
            <a:ext cx="2743200" cy="292608"/>
          </a:xfrm>
          <a:prstGeom prst="rect">
            <a:avLst/>
          </a:prstGeom>
          <a:noFill/>
          <a:ln/>
        </p:spPr>
        <p:txBody>
          <a:bodyPr wrap="square" lIns="0" tIns="0" rIns="0" bIns="0" rtlCol="0" anchor="ctr">
            <a:normAutofit/>
          </a:bodyPr>
          <a:lstStyle/>
          <a:p>
            <a:pPr marL="0" indent="0">
              <a:buNone/>
            </a:pPr>
            <a:r>
              <a:rPr lang="en-US" sz="1420" b="1" dirty="0">
                <a:solidFill>
                  <a:srgbClr val="132238"/>
                </a:solidFill>
              </a:rPr>
              <a:t>Where performance may degrade</a:t>
            </a:r>
            <a:endParaRPr lang="en-US" sz="1420" dirty="0"/>
          </a:p>
        </p:txBody>
      </p:sp>
      <p:sp>
        <p:nvSpPr>
          <p:cNvPr id="10" name="Text 8"/>
          <p:cNvSpPr/>
          <p:nvPr/>
        </p:nvSpPr>
        <p:spPr>
          <a:xfrm>
            <a:off x="4727448" y="2103120"/>
            <a:ext cx="2651760" cy="2377440"/>
          </a:xfrm>
          <a:prstGeom prst="rect">
            <a:avLst/>
          </a:prstGeom>
          <a:noFill/>
          <a:ln/>
        </p:spPr>
        <p:txBody>
          <a:bodyPr wrap="square" lIns="254" tIns="254" rIns="254" bIns="254" rtlCol="0" anchor="t">
            <a:normAutofit/>
          </a:bodyPr>
          <a:lstStyle/>
          <a:p>
            <a:pPr marL="152400" indent="-152400">
              <a:buSzPct val="100000"/>
              <a:buChar char="•"/>
            </a:pPr>
            <a:r>
              <a:rPr lang="en-US" sz="1200" dirty="0">
                <a:solidFill>
                  <a:srgbClr val="263238"/>
                </a:solidFill>
              </a:rPr>
              <a:t>Different scanner vendors or protocols.</a:t>
            </a:r>
            <a:endParaRPr lang="en-US" sz="1200" dirty="0"/>
          </a:p>
          <a:p>
            <a:pPr marL="152400" indent="-152400">
              <a:buSzPct val="100000"/>
              <a:buChar char="•"/>
            </a:pPr>
            <a:r>
              <a:rPr lang="en-US" sz="1200" dirty="0">
                <a:solidFill>
                  <a:srgbClr val="263238"/>
                </a:solidFill>
              </a:rPr>
              <a:t>Low-quality, cropped, or rotated images.</a:t>
            </a:r>
            <a:endParaRPr lang="en-US" sz="1200" dirty="0"/>
          </a:p>
          <a:p>
            <a:pPr marL="152400" indent="-152400">
              <a:buSzPct val="100000"/>
              <a:buChar char="•"/>
            </a:pPr>
            <a:r>
              <a:rPr lang="en-US" sz="1200" dirty="0">
                <a:solidFill>
                  <a:srgbClr val="263238"/>
                </a:solidFill>
              </a:rPr>
              <a:t>Uncommon tumor subtypes or postsurgical changes.</a:t>
            </a:r>
            <a:endParaRPr lang="en-US" sz="1200" dirty="0"/>
          </a:p>
          <a:p>
            <a:pPr marL="152400" indent="-152400">
              <a:buSzPct val="100000"/>
              <a:buChar char="•"/>
            </a:pPr>
            <a:r>
              <a:rPr lang="en-US" sz="1200" dirty="0">
                <a:solidFill>
                  <a:srgbClr val="263238"/>
                </a:solidFill>
              </a:rPr>
              <a:t>Patient populations not represented in training data.</a:t>
            </a:r>
            <a:endParaRPr lang="en-US" sz="1200" dirty="0"/>
          </a:p>
        </p:txBody>
      </p:sp>
      <p:sp>
        <p:nvSpPr>
          <p:cNvPr id="11" name="Shape 9"/>
          <p:cNvSpPr/>
          <p:nvPr/>
        </p:nvSpPr>
        <p:spPr>
          <a:xfrm>
            <a:off x="8183880" y="1600200"/>
            <a:ext cx="3291840" cy="4297680"/>
          </a:xfrm>
          <a:prstGeom prst="roundRect">
            <a:avLst>
              <a:gd name="adj" fmla="val 2222"/>
            </a:avLst>
          </a:prstGeom>
          <a:solidFill>
            <a:srgbClr val="FFF6F6"/>
          </a:solidFill>
          <a:ln w="12700">
            <a:solidFill>
              <a:srgbClr val="E7BEC5"/>
            </a:solidFill>
            <a:prstDash val="solid"/>
          </a:ln>
        </p:spPr>
        <p:txBody>
          <a:bodyPr/>
          <a:lstStyle/>
          <a:p>
            <a:endParaRPr lang="en-US"/>
          </a:p>
        </p:txBody>
      </p:sp>
      <p:sp>
        <p:nvSpPr>
          <p:cNvPr id="12" name="Text 10"/>
          <p:cNvSpPr/>
          <p:nvPr/>
        </p:nvSpPr>
        <p:spPr>
          <a:xfrm>
            <a:off x="8430768" y="1892808"/>
            <a:ext cx="2606040" cy="292608"/>
          </a:xfrm>
          <a:prstGeom prst="rect">
            <a:avLst/>
          </a:prstGeom>
          <a:noFill/>
          <a:ln/>
        </p:spPr>
        <p:txBody>
          <a:bodyPr wrap="square" lIns="0" tIns="0" rIns="0" bIns="0" rtlCol="0" anchor="ctr"/>
          <a:lstStyle/>
          <a:p>
            <a:pPr marL="0" indent="0">
              <a:buNone/>
            </a:pPr>
            <a:r>
              <a:rPr lang="en-US" sz="1500" b="1" dirty="0">
                <a:solidFill>
                  <a:srgbClr val="D1495B"/>
                </a:solidFill>
              </a:rPr>
              <a:t>Should NOT be used for</a:t>
            </a:r>
            <a:endParaRPr lang="en-US" sz="1500" dirty="0"/>
          </a:p>
        </p:txBody>
      </p:sp>
      <p:sp>
        <p:nvSpPr>
          <p:cNvPr id="13" name="Text 11"/>
          <p:cNvSpPr/>
          <p:nvPr/>
        </p:nvSpPr>
        <p:spPr>
          <a:xfrm>
            <a:off x="8430768" y="2103120"/>
            <a:ext cx="2651760" cy="2377440"/>
          </a:xfrm>
          <a:prstGeom prst="rect">
            <a:avLst/>
          </a:prstGeom>
          <a:noFill/>
          <a:ln/>
        </p:spPr>
        <p:txBody>
          <a:bodyPr wrap="square" lIns="254" tIns="254" rIns="254" bIns="254" rtlCol="0" anchor="t">
            <a:normAutofit/>
          </a:bodyPr>
          <a:lstStyle/>
          <a:p>
            <a:pPr marL="152400" indent="-152400">
              <a:buSzPct val="100000"/>
              <a:buChar char="•"/>
            </a:pPr>
            <a:r>
              <a:rPr lang="en-US" sz="1200" dirty="0">
                <a:solidFill>
                  <a:srgbClr val="263238"/>
                </a:solidFill>
              </a:rPr>
              <a:t>Standalone diagnosis.</a:t>
            </a:r>
            <a:endParaRPr lang="en-US" sz="1200" dirty="0"/>
          </a:p>
          <a:p>
            <a:pPr marL="152400" indent="-152400">
              <a:buSzPct val="100000"/>
              <a:buChar char="•"/>
            </a:pPr>
            <a:r>
              <a:rPr lang="en-US" sz="1200" dirty="0">
                <a:solidFill>
                  <a:srgbClr val="263238"/>
                </a:solidFill>
              </a:rPr>
              <a:t>Replacing radiology review or pathology.</a:t>
            </a:r>
            <a:endParaRPr lang="en-US" sz="1200" dirty="0"/>
          </a:p>
          <a:p>
            <a:pPr marL="152400" indent="-152400">
              <a:buSzPct val="100000"/>
              <a:buChar char="•"/>
            </a:pPr>
            <a:r>
              <a:rPr lang="en-US" sz="1200" dirty="0">
                <a:solidFill>
                  <a:srgbClr val="263238"/>
                </a:solidFill>
              </a:rPr>
              <a:t>Treatment planning decisions.</a:t>
            </a:r>
            <a:endParaRPr lang="en-US" sz="1200" dirty="0"/>
          </a:p>
          <a:p>
            <a:pPr marL="152400" indent="-152400">
              <a:buSzPct val="100000"/>
              <a:buChar char="•"/>
            </a:pPr>
            <a:r>
              <a:rPr lang="en-US" sz="1200" dirty="0">
                <a:solidFill>
                  <a:srgbClr val="263238"/>
                </a:solidFill>
              </a:rPr>
              <a:t>Automated triage without human confirmation.</a:t>
            </a:r>
            <a:endParaRPr lang="en-US" sz="1200" dirty="0"/>
          </a:p>
        </p:txBody>
      </p:sp>
      <p:sp>
        <p:nvSpPr>
          <p:cNvPr id="14" name="Shape 12"/>
          <p:cNvSpPr/>
          <p:nvPr/>
        </p:nvSpPr>
        <p:spPr>
          <a:xfrm>
            <a:off x="502920" y="6446520"/>
            <a:ext cx="11201400" cy="0"/>
          </a:xfrm>
          <a:prstGeom prst="line">
            <a:avLst/>
          </a:prstGeom>
          <a:noFill/>
          <a:ln w="12700">
            <a:solidFill>
              <a:srgbClr val="E7EBEF"/>
            </a:solidFill>
            <a:prstDash val="solid"/>
          </a:ln>
        </p:spPr>
        <p:txBody>
          <a:bodyPr/>
          <a:lstStyle/>
          <a:p>
            <a:endParaRPr lang="en-US"/>
          </a:p>
        </p:txBody>
      </p:sp>
      <p:sp>
        <p:nvSpPr>
          <p:cNvPr id="15" name="Text 13"/>
          <p:cNvSpPr/>
          <p:nvPr/>
        </p:nvSpPr>
        <p:spPr>
          <a:xfrm>
            <a:off x="502920" y="6510528"/>
            <a:ext cx="4937760" cy="201168"/>
          </a:xfrm>
          <a:prstGeom prst="rect">
            <a:avLst/>
          </a:prstGeom>
          <a:noFill/>
          <a:ln/>
        </p:spPr>
        <p:txBody>
          <a:bodyPr wrap="square" lIns="0" tIns="0" rIns="0" bIns="0" rtlCol="0" anchor="ctr"/>
          <a:lstStyle/>
          <a:p>
            <a:pPr marL="0" indent="0">
              <a:buNone/>
            </a:pPr>
            <a:r>
              <a:rPr lang="en-US" sz="750" dirty="0">
                <a:solidFill>
                  <a:srgbClr val="637083"/>
                </a:solidFill>
                <a:latin typeface="Aptos" pitchFamily="34" charset="0"/>
                <a:ea typeface="Aptos" pitchFamily="34" charset="-122"/>
                <a:cs typeface="Aptos" pitchFamily="34" charset="-120"/>
              </a:rPr>
              <a:t>Section 4 of 5 | Field Guide Highlights</a:t>
            </a:r>
            <a:endParaRPr lang="en-US" sz="750" dirty="0"/>
          </a:p>
        </p:txBody>
      </p:sp>
      <p:sp>
        <p:nvSpPr>
          <p:cNvPr id="16" name="Text 14"/>
          <p:cNvSpPr/>
          <p:nvPr/>
        </p:nvSpPr>
        <p:spPr>
          <a:xfrm>
            <a:off x="8503920" y="6510528"/>
            <a:ext cx="3200400" cy="201168"/>
          </a:xfrm>
          <a:prstGeom prst="rect">
            <a:avLst/>
          </a:prstGeom>
          <a:noFill/>
          <a:ln/>
        </p:spPr>
        <p:txBody>
          <a:bodyPr wrap="square" lIns="0" tIns="0" rIns="0" bIns="0" rtlCol="0" anchor="ctr"/>
          <a:lstStyle/>
          <a:p>
            <a:pPr marL="0" indent="0" algn="r">
              <a:buNone/>
            </a:pPr>
            <a:r>
              <a:rPr lang="en-US" sz="750" dirty="0">
                <a:solidFill>
                  <a:srgbClr val="637083"/>
                </a:solidFill>
                <a:latin typeface="Aptos" pitchFamily="34" charset="0"/>
                <a:ea typeface="Aptos" pitchFamily="34" charset="-122"/>
                <a:cs typeface="Aptos" pitchFamily="34" charset="-120"/>
              </a:rPr>
              <a:t>Brain tumor MRI classifier | Review board presentation</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502920" y="301752"/>
            <a:ext cx="2926080" cy="237744"/>
          </a:xfrm>
          <a:prstGeom prst="rect">
            <a:avLst/>
          </a:prstGeom>
          <a:noFill/>
          <a:ln/>
        </p:spPr>
        <p:txBody>
          <a:bodyPr wrap="square" lIns="0" tIns="0" rIns="0" bIns="0" rtlCol="0" anchor="ctr">
            <a:normAutofit/>
          </a:bodyPr>
          <a:lstStyle/>
          <a:p>
            <a:pPr marL="0" indent="0">
              <a:buNone/>
            </a:pPr>
            <a:r>
              <a:rPr lang="en-US" sz="1000" b="1" dirty="0">
                <a:solidFill>
                  <a:srgbClr val="2F6F9F"/>
                </a:solidFill>
              </a:rPr>
              <a:t>Conclusion</a:t>
            </a:r>
            <a:endParaRPr lang="en-US" sz="1000" dirty="0"/>
          </a:p>
        </p:txBody>
      </p:sp>
      <p:sp>
        <p:nvSpPr>
          <p:cNvPr id="3" name="Text 1"/>
          <p:cNvSpPr/>
          <p:nvPr/>
        </p:nvSpPr>
        <p:spPr>
          <a:xfrm>
            <a:off x="502920" y="585216"/>
            <a:ext cx="6629400" cy="457200"/>
          </a:xfrm>
          <a:prstGeom prst="rect">
            <a:avLst/>
          </a:prstGeom>
          <a:noFill/>
          <a:ln/>
        </p:spPr>
        <p:txBody>
          <a:bodyPr wrap="square" lIns="0" tIns="0" rIns="0" bIns="0" rtlCol="0" anchor="ctr">
            <a:normAutofit/>
          </a:bodyPr>
          <a:lstStyle/>
          <a:p>
            <a:pPr marL="0" indent="0">
              <a:buNone/>
            </a:pPr>
            <a:r>
              <a:rPr lang="en-US" sz="2500" b="1" dirty="0">
                <a:solidFill>
                  <a:srgbClr val="132238"/>
                </a:solidFill>
              </a:rPr>
              <a:t>Conclusion</a:t>
            </a:r>
            <a:endParaRPr lang="en-US" sz="2500" dirty="0"/>
          </a:p>
        </p:txBody>
      </p:sp>
      <p:sp>
        <p:nvSpPr>
          <p:cNvPr id="4" name="Text 2"/>
          <p:cNvSpPr/>
          <p:nvPr/>
        </p:nvSpPr>
        <p:spPr>
          <a:xfrm>
            <a:off x="521208" y="1060704"/>
            <a:ext cx="6537960" cy="347472"/>
          </a:xfrm>
          <a:prstGeom prst="rect">
            <a:avLst/>
          </a:prstGeom>
          <a:noFill/>
          <a:ln/>
        </p:spPr>
        <p:txBody>
          <a:bodyPr wrap="square" lIns="0" tIns="0" rIns="0" bIns="0" rtlCol="0" anchor="ctr">
            <a:normAutofit/>
          </a:bodyPr>
          <a:lstStyle/>
          <a:p>
            <a:pPr marL="0" indent="0">
              <a:buNone/>
            </a:pPr>
            <a:r>
              <a:rPr lang="en-US" sz="1250" dirty="0">
                <a:solidFill>
                  <a:srgbClr val="637083"/>
                </a:solidFill>
              </a:rPr>
              <a:t>The most useful lessons came from calibration, error review, and interpretability checks.</a:t>
            </a:r>
            <a:endParaRPr lang="en-US" sz="1250" dirty="0"/>
          </a:p>
        </p:txBody>
      </p:sp>
      <p:sp>
        <p:nvSpPr>
          <p:cNvPr id="5" name="Shape 3"/>
          <p:cNvSpPr/>
          <p:nvPr/>
        </p:nvSpPr>
        <p:spPr>
          <a:xfrm>
            <a:off x="685800" y="1783080"/>
            <a:ext cx="5074920" cy="4251960"/>
          </a:xfrm>
          <a:prstGeom prst="roundRect">
            <a:avLst>
              <a:gd name="adj" fmla="val 1720"/>
            </a:avLst>
          </a:prstGeom>
          <a:solidFill>
            <a:srgbClr val="FFFFFF"/>
          </a:solidFill>
          <a:ln w="12700">
            <a:solidFill>
              <a:srgbClr val="D7DEE7"/>
            </a:solidFill>
            <a:prstDash val="solid"/>
          </a:ln>
        </p:spPr>
        <p:txBody>
          <a:bodyPr/>
          <a:lstStyle/>
          <a:p>
            <a:endParaRPr lang="en-US"/>
          </a:p>
        </p:txBody>
      </p:sp>
      <p:sp>
        <p:nvSpPr>
          <p:cNvPr id="6" name="Text 4"/>
          <p:cNvSpPr/>
          <p:nvPr/>
        </p:nvSpPr>
        <p:spPr>
          <a:xfrm>
            <a:off x="960120" y="1783080"/>
            <a:ext cx="2011680" cy="292608"/>
          </a:xfrm>
          <a:prstGeom prst="rect">
            <a:avLst/>
          </a:prstGeom>
          <a:noFill/>
          <a:ln/>
        </p:spPr>
        <p:txBody>
          <a:bodyPr wrap="square" lIns="0" tIns="0" rIns="0" bIns="0" rtlCol="0" anchor="ctr"/>
          <a:lstStyle/>
          <a:p>
            <a:pPr marL="0" indent="0">
              <a:buNone/>
            </a:pPr>
            <a:r>
              <a:rPr lang="en-US" sz="1500" b="1" dirty="0">
                <a:solidFill>
                  <a:srgbClr val="132238"/>
                </a:solidFill>
              </a:rPr>
              <a:t>Lesson learned</a:t>
            </a:r>
            <a:endParaRPr lang="en-US" sz="1500" dirty="0"/>
          </a:p>
        </p:txBody>
      </p:sp>
      <p:sp>
        <p:nvSpPr>
          <p:cNvPr id="7" name="Text 5"/>
          <p:cNvSpPr/>
          <p:nvPr/>
        </p:nvSpPr>
        <p:spPr>
          <a:xfrm>
            <a:off x="960120" y="2231136"/>
            <a:ext cx="4389120" cy="2386584"/>
          </a:xfrm>
          <a:prstGeom prst="rect">
            <a:avLst/>
          </a:prstGeom>
          <a:noFill/>
          <a:ln/>
        </p:spPr>
        <p:txBody>
          <a:bodyPr wrap="square" lIns="254" tIns="254" rIns="254" bIns="254" rtlCol="0" anchor="t">
            <a:normAutofit/>
          </a:bodyPr>
          <a:lstStyle/>
          <a:p>
            <a:pPr marL="152400" indent="-152400">
              <a:buSzPct val="100000"/>
              <a:buChar char="•"/>
            </a:pPr>
            <a:r>
              <a:rPr lang="en-US" sz="1400" dirty="0">
                <a:solidFill>
                  <a:srgbClr val="263238"/>
                </a:solidFill>
              </a:rPr>
              <a:t>Transfer learning is very effective for small-to-moderate medical imaging datasets.</a:t>
            </a:r>
            <a:endParaRPr lang="en-US" sz="1400" dirty="0"/>
          </a:p>
          <a:p>
            <a:pPr marL="152400" indent="-152400">
              <a:buSzPct val="100000"/>
              <a:buChar char="•"/>
            </a:pPr>
            <a:r>
              <a:rPr lang="en-US" sz="1400" dirty="0">
                <a:solidFill>
                  <a:srgbClr val="263238"/>
                </a:solidFill>
              </a:rPr>
              <a:t>Calibration and error examples are needed because high accuracy can hide overconfidence.</a:t>
            </a:r>
            <a:endParaRPr lang="en-US" sz="1400" dirty="0"/>
          </a:p>
          <a:p>
            <a:pPr marL="152400" indent="-152400">
              <a:buSzPct val="100000"/>
              <a:buChar char="•"/>
            </a:pPr>
            <a:r>
              <a:rPr lang="en-US" sz="1400" dirty="0">
                <a:solidFill>
                  <a:srgbClr val="263238"/>
                </a:solidFill>
              </a:rPr>
              <a:t>Grad-CAM is helpful but should not be treated as ground truth.</a:t>
            </a:r>
            <a:endParaRPr lang="en-US" sz="1400" dirty="0"/>
          </a:p>
          <a:p>
            <a:pPr marL="152400" indent="-152400">
              <a:buSzPct val="100000"/>
              <a:buChar char="•"/>
            </a:pPr>
            <a:r>
              <a:rPr lang="en-US" sz="1400" dirty="0">
                <a:solidFill>
                  <a:srgbClr val="263238"/>
                </a:solidFill>
              </a:rPr>
              <a:t>Governance is part of the model, not an afterthought.</a:t>
            </a:r>
            <a:endParaRPr lang="en-US" sz="1400" dirty="0"/>
          </a:p>
        </p:txBody>
      </p:sp>
      <p:sp>
        <p:nvSpPr>
          <p:cNvPr id="8" name="Shape 6"/>
          <p:cNvSpPr/>
          <p:nvPr/>
        </p:nvSpPr>
        <p:spPr>
          <a:xfrm>
            <a:off x="6263640" y="1783080"/>
            <a:ext cx="5074920" cy="4251960"/>
          </a:xfrm>
          <a:prstGeom prst="roundRect">
            <a:avLst>
              <a:gd name="adj" fmla="val 1720"/>
            </a:avLst>
          </a:prstGeom>
          <a:solidFill>
            <a:srgbClr val="FFFFFF"/>
          </a:solidFill>
          <a:ln w="12700">
            <a:solidFill>
              <a:srgbClr val="D7DEE7"/>
            </a:solidFill>
            <a:prstDash val="solid"/>
          </a:ln>
        </p:spPr>
        <p:txBody>
          <a:bodyPr/>
          <a:lstStyle/>
          <a:p>
            <a:endParaRPr lang="en-US"/>
          </a:p>
        </p:txBody>
      </p:sp>
      <p:sp>
        <p:nvSpPr>
          <p:cNvPr id="9" name="Text 7"/>
          <p:cNvSpPr/>
          <p:nvPr/>
        </p:nvSpPr>
        <p:spPr>
          <a:xfrm>
            <a:off x="6537960" y="1783080"/>
            <a:ext cx="2926080" cy="292608"/>
          </a:xfrm>
          <a:prstGeom prst="rect">
            <a:avLst/>
          </a:prstGeom>
          <a:noFill/>
          <a:ln/>
        </p:spPr>
        <p:txBody>
          <a:bodyPr wrap="square" lIns="0" tIns="0" rIns="0" bIns="0" rtlCol="0" anchor="ctr"/>
          <a:lstStyle/>
          <a:p>
            <a:pPr marL="0" indent="0">
              <a:buNone/>
            </a:pPr>
            <a:r>
              <a:rPr lang="en-US" sz="1500" b="1" dirty="0">
                <a:solidFill>
                  <a:srgbClr val="132238"/>
                </a:solidFill>
              </a:rPr>
              <a:t>What should do differently</a:t>
            </a:r>
            <a:endParaRPr lang="en-US" sz="1500" dirty="0"/>
          </a:p>
        </p:txBody>
      </p:sp>
      <p:sp>
        <p:nvSpPr>
          <p:cNvPr id="10" name="Text 8"/>
          <p:cNvSpPr/>
          <p:nvPr/>
        </p:nvSpPr>
        <p:spPr>
          <a:xfrm>
            <a:off x="6537960" y="2231136"/>
            <a:ext cx="4389120" cy="2386584"/>
          </a:xfrm>
          <a:prstGeom prst="rect">
            <a:avLst/>
          </a:prstGeom>
          <a:noFill/>
          <a:ln/>
        </p:spPr>
        <p:txBody>
          <a:bodyPr wrap="square" lIns="254" tIns="254" rIns="254" bIns="254" rtlCol="0" anchor="t">
            <a:normAutofit/>
          </a:bodyPr>
          <a:lstStyle/>
          <a:p>
            <a:pPr marL="152400" indent="-152400">
              <a:buSzPct val="100000"/>
              <a:buChar char="•"/>
            </a:pPr>
            <a:r>
              <a:rPr lang="en-US" sz="1400" dirty="0">
                <a:solidFill>
                  <a:srgbClr val="263238"/>
                </a:solidFill>
              </a:rPr>
              <a:t>Use full 3D MRI volumes or multiple slices instead of a single slice.</a:t>
            </a:r>
            <a:endParaRPr lang="en-US" sz="1400" dirty="0"/>
          </a:p>
          <a:p>
            <a:pPr marL="152400" indent="-152400">
              <a:buSzPct val="100000"/>
              <a:buChar char="•"/>
            </a:pPr>
            <a:r>
              <a:rPr lang="en-US" sz="1400" dirty="0">
                <a:solidFill>
                  <a:srgbClr val="263238"/>
                </a:solidFill>
              </a:rPr>
              <a:t>Add clinical metadata and multi-sequence MRI if available.</a:t>
            </a:r>
            <a:endParaRPr lang="en-US" sz="1400" dirty="0"/>
          </a:p>
          <a:p>
            <a:pPr marL="152400" indent="-152400">
              <a:buSzPct val="100000"/>
              <a:buChar char="•"/>
            </a:pPr>
            <a:r>
              <a:rPr lang="en-US" sz="1400" dirty="0">
                <a:solidFill>
                  <a:srgbClr val="263238"/>
                </a:solidFill>
              </a:rPr>
              <a:t>Collect expert tumor masks for localization validation.</a:t>
            </a:r>
            <a:endParaRPr lang="en-US" sz="1400" dirty="0"/>
          </a:p>
          <a:p>
            <a:pPr marL="152400" indent="-152400">
              <a:buSzPct val="100000"/>
              <a:buChar char="•"/>
            </a:pPr>
            <a:r>
              <a:rPr lang="en-US" sz="1400" dirty="0">
                <a:solidFill>
                  <a:srgbClr val="263238"/>
                </a:solidFill>
              </a:rPr>
              <a:t>Run external validation on data from a different institution before any clinical pilot.</a:t>
            </a:r>
            <a:endParaRPr lang="en-US" sz="1400" dirty="0"/>
          </a:p>
        </p:txBody>
      </p:sp>
      <p:sp>
        <p:nvSpPr>
          <p:cNvPr id="11" name="Text 9"/>
          <p:cNvSpPr/>
          <p:nvPr/>
        </p:nvSpPr>
        <p:spPr>
          <a:xfrm>
            <a:off x="777240" y="5806440"/>
            <a:ext cx="10515600" cy="320040"/>
          </a:xfrm>
          <a:prstGeom prst="rect">
            <a:avLst/>
          </a:prstGeom>
          <a:noFill/>
          <a:ln/>
        </p:spPr>
        <p:txBody>
          <a:bodyPr wrap="square" lIns="0" tIns="0" rIns="0" bIns="0" rtlCol="0" anchor="ctr">
            <a:normAutofit/>
          </a:bodyPr>
          <a:lstStyle/>
          <a:p>
            <a:pPr marL="0" indent="0" algn="ctr">
              <a:buNone/>
            </a:pPr>
            <a:endParaRPr lang="en-US" sz="1500" dirty="0"/>
          </a:p>
        </p:txBody>
      </p:sp>
      <p:sp>
        <p:nvSpPr>
          <p:cNvPr id="12" name="Shape 10"/>
          <p:cNvSpPr/>
          <p:nvPr/>
        </p:nvSpPr>
        <p:spPr>
          <a:xfrm>
            <a:off x="502920" y="6446520"/>
            <a:ext cx="11201400" cy="0"/>
          </a:xfrm>
          <a:prstGeom prst="line">
            <a:avLst/>
          </a:prstGeom>
          <a:noFill/>
          <a:ln w="12700">
            <a:solidFill>
              <a:srgbClr val="E7EBEF"/>
            </a:solidFill>
            <a:prstDash val="solid"/>
          </a:ln>
        </p:spPr>
        <p:txBody>
          <a:bodyPr/>
          <a:lstStyle/>
          <a:p>
            <a:endParaRPr lang="en-US"/>
          </a:p>
        </p:txBody>
      </p:sp>
      <p:sp>
        <p:nvSpPr>
          <p:cNvPr id="13" name="Text 11"/>
          <p:cNvSpPr/>
          <p:nvPr/>
        </p:nvSpPr>
        <p:spPr>
          <a:xfrm>
            <a:off x="502920" y="6510528"/>
            <a:ext cx="4937760" cy="201168"/>
          </a:xfrm>
          <a:prstGeom prst="rect">
            <a:avLst/>
          </a:prstGeom>
          <a:noFill/>
          <a:ln/>
        </p:spPr>
        <p:txBody>
          <a:bodyPr wrap="square" lIns="0" tIns="0" rIns="0" bIns="0" rtlCol="0" anchor="ctr"/>
          <a:lstStyle/>
          <a:p>
            <a:pPr marL="0" indent="0">
              <a:buNone/>
            </a:pPr>
            <a:r>
              <a:rPr lang="en-US" sz="750" dirty="0">
                <a:solidFill>
                  <a:srgbClr val="637083"/>
                </a:solidFill>
                <a:latin typeface="Aptos" pitchFamily="34" charset="0"/>
                <a:ea typeface="Aptos" pitchFamily="34" charset="-122"/>
                <a:cs typeface="Aptos" pitchFamily="34" charset="-120"/>
              </a:rPr>
              <a:t>Section 5 of 5 | Conclusion</a:t>
            </a:r>
            <a:endParaRPr lang="en-US" sz="750" dirty="0"/>
          </a:p>
        </p:txBody>
      </p:sp>
      <p:sp>
        <p:nvSpPr>
          <p:cNvPr id="14" name="Text 12"/>
          <p:cNvSpPr/>
          <p:nvPr/>
        </p:nvSpPr>
        <p:spPr>
          <a:xfrm>
            <a:off x="8503920" y="6510528"/>
            <a:ext cx="3200400" cy="201168"/>
          </a:xfrm>
          <a:prstGeom prst="rect">
            <a:avLst/>
          </a:prstGeom>
          <a:noFill/>
          <a:ln/>
        </p:spPr>
        <p:txBody>
          <a:bodyPr wrap="square" lIns="0" tIns="0" rIns="0" bIns="0" rtlCol="0" anchor="ctr"/>
          <a:lstStyle/>
          <a:p>
            <a:pPr marL="0" indent="0" algn="r">
              <a:buNone/>
            </a:pPr>
            <a:r>
              <a:rPr lang="en-US" sz="750" dirty="0">
                <a:solidFill>
                  <a:srgbClr val="637083"/>
                </a:solidFill>
                <a:latin typeface="Aptos" pitchFamily="34" charset="0"/>
                <a:ea typeface="Aptos" pitchFamily="34" charset="-122"/>
                <a:cs typeface="Aptos" pitchFamily="34" charset="-120"/>
              </a:rPr>
              <a:t>Brain tumor MRI classifier | Review board presentation</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132238"/>
        </a:solidFill>
        <a:effectLst/>
      </p:bgPr>
    </p:bg>
    <p:spTree>
      <p:nvGrpSpPr>
        <p:cNvPr id="1" name=""/>
        <p:cNvGrpSpPr/>
        <p:nvPr/>
      </p:nvGrpSpPr>
      <p:grpSpPr>
        <a:xfrm>
          <a:off x="0" y="0"/>
          <a:ext cx="0" cy="0"/>
          <a:chOff x="0" y="0"/>
          <a:chExt cx="0" cy="0"/>
        </a:xfrm>
      </p:grpSpPr>
      <p:sp>
        <p:nvSpPr>
          <p:cNvPr id="17" name="Text 14"/>
          <p:cNvSpPr/>
          <p:nvPr/>
        </p:nvSpPr>
        <p:spPr>
          <a:xfrm>
            <a:off x="3855720" y="3093284"/>
            <a:ext cx="4480560" cy="384048"/>
          </a:xfrm>
          <a:prstGeom prst="rect">
            <a:avLst/>
          </a:prstGeom>
          <a:noFill/>
          <a:ln/>
        </p:spPr>
        <p:txBody>
          <a:bodyPr wrap="square" lIns="0" tIns="0" rIns="0" bIns="0" rtlCol="0" anchor="ctr"/>
          <a:lstStyle/>
          <a:p>
            <a:pPr marL="0" indent="0" algn="ctr">
              <a:buNone/>
            </a:pPr>
            <a:r>
              <a:rPr lang="en-US" sz="4000" b="1" dirty="0">
                <a:solidFill>
                  <a:srgbClr val="FFFFFF"/>
                </a:solidFill>
              </a:rPr>
              <a:t>Thank you</a:t>
            </a:r>
            <a:endParaRPr lang="en-US" sz="4000" dirty="0"/>
          </a:p>
        </p:txBody>
      </p:sp>
      <p:sp>
        <p:nvSpPr>
          <p:cNvPr id="18" name="Text 15"/>
          <p:cNvSpPr/>
          <p:nvPr/>
        </p:nvSpPr>
        <p:spPr>
          <a:xfrm>
            <a:off x="3855720" y="3645263"/>
            <a:ext cx="4480560" cy="228600"/>
          </a:xfrm>
          <a:prstGeom prst="rect">
            <a:avLst/>
          </a:prstGeom>
          <a:noFill/>
          <a:ln/>
        </p:spPr>
        <p:txBody>
          <a:bodyPr wrap="square" lIns="0" tIns="0" rIns="0" bIns="0" rtlCol="0" anchor="ctr"/>
          <a:lstStyle/>
          <a:p>
            <a:pPr marL="0" indent="0" algn="ctr">
              <a:buNone/>
            </a:pPr>
            <a:r>
              <a:rPr lang="en-US" sz="1600" dirty="0">
                <a:solidFill>
                  <a:srgbClr val="D5E5EF"/>
                </a:solidFill>
              </a:rPr>
              <a:t>Questions and feedback are welcome.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1346</TotalTime>
  <Words>2412</Words>
  <Application>Microsoft Macintosh PowerPoint</Application>
  <PresentationFormat>Widescreen</PresentationFormat>
  <Paragraphs>259</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AI for Medicine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Brain Tumor MRI Classification Model</dc:title>
  <dc:subject>Brain Tumor MRI Classification Model Field Guide Presentation</dc:subject>
  <dc:creator>OpenAI</dc:creator>
  <cp:lastModifiedBy>Anggara, Ledi</cp:lastModifiedBy>
  <cp:revision>28</cp:revision>
  <dcterms:created xsi:type="dcterms:W3CDTF">2026-04-28T15:44:32Z</dcterms:created>
  <dcterms:modified xsi:type="dcterms:W3CDTF">2026-05-06T20:30:49Z</dcterms:modified>
</cp:coreProperties>
</file>